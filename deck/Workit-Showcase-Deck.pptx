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shep\Projects 26\WorkitEarnit\deck\assets\screen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78240" y="640080"/>
            <a:ext cx="3044952" cy="6035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WORKIT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94360" y="178308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4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system</a:t>
            </a:r>
            <a:endParaRPr lang="en-US" sz="5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4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works.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40080" y="39776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walk-through of Workit — South Africa's people-first marketplace for everyday work. From sign-up to paid, every step is built trust-first.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Futhersky Solutions product</a:t>
            </a:r>
            <a:pPr indent="0" marL="0">
              <a:buNone/>
            </a:pPr>
            <a:r>
              <a:rPr lang="en-US" sz="1200" dirty="0">
                <a:solidFill>
                  <a:srgbClr val="9C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workitsa.co.za    ·    Tshepo M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8" name="Shape 5"/>
          <p:cNvSpPr/>
          <p:nvPr/>
        </p:nvSpPr>
        <p:spPr>
          <a:xfrm>
            <a:off x="310896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9" name="Shape 6"/>
          <p:cNvSpPr/>
          <p:nvPr/>
        </p:nvSpPr>
        <p:spPr>
          <a:xfrm>
            <a:off x="621792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10" name="Shape 7"/>
          <p:cNvSpPr/>
          <p:nvPr/>
        </p:nvSpPr>
        <p:spPr>
          <a:xfrm>
            <a:off x="932688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11" name="Shape 8"/>
          <p:cNvSpPr/>
          <p:nvPr/>
        </p:nvSpPr>
        <p:spPr>
          <a:xfrm>
            <a:off x="1243584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12" name="Shape 9"/>
          <p:cNvSpPr/>
          <p:nvPr/>
        </p:nvSpPr>
        <p:spPr>
          <a:xfrm>
            <a:off x="1554480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13" name="Shape 10"/>
          <p:cNvSpPr/>
          <p:nvPr/>
        </p:nvSpPr>
        <p:spPr>
          <a:xfrm>
            <a:off x="1865376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14" name="Shape 11"/>
          <p:cNvSpPr/>
          <p:nvPr/>
        </p:nvSpPr>
        <p:spPr>
          <a:xfrm>
            <a:off x="2176272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15" name="Shape 12"/>
          <p:cNvSpPr/>
          <p:nvPr/>
        </p:nvSpPr>
        <p:spPr>
          <a:xfrm>
            <a:off x="2487168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16" name="Shape 13"/>
          <p:cNvSpPr/>
          <p:nvPr/>
        </p:nvSpPr>
        <p:spPr>
          <a:xfrm>
            <a:off x="2798064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17" name="Shape 14"/>
          <p:cNvSpPr/>
          <p:nvPr/>
        </p:nvSpPr>
        <p:spPr>
          <a:xfrm>
            <a:off x="3108960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18" name="Shape 15"/>
          <p:cNvSpPr/>
          <p:nvPr/>
        </p:nvSpPr>
        <p:spPr>
          <a:xfrm>
            <a:off x="3419856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19" name="Shape 16"/>
          <p:cNvSpPr/>
          <p:nvPr/>
        </p:nvSpPr>
        <p:spPr>
          <a:xfrm>
            <a:off x="3730752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20" name="Shape 17"/>
          <p:cNvSpPr/>
          <p:nvPr/>
        </p:nvSpPr>
        <p:spPr>
          <a:xfrm>
            <a:off x="4041648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21" name="Shape 18"/>
          <p:cNvSpPr/>
          <p:nvPr/>
        </p:nvSpPr>
        <p:spPr>
          <a:xfrm>
            <a:off x="4352544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22" name="Shape 19"/>
          <p:cNvSpPr/>
          <p:nvPr/>
        </p:nvSpPr>
        <p:spPr>
          <a:xfrm>
            <a:off x="4663440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23" name="Shape 20"/>
          <p:cNvSpPr/>
          <p:nvPr/>
        </p:nvSpPr>
        <p:spPr>
          <a:xfrm>
            <a:off x="4974336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24" name="Shape 21"/>
          <p:cNvSpPr/>
          <p:nvPr/>
        </p:nvSpPr>
        <p:spPr>
          <a:xfrm>
            <a:off x="5285232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25" name="Shape 22"/>
          <p:cNvSpPr/>
          <p:nvPr/>
        </p:nvSpPr>
        <p:spPr>
          <a:xfrm>
            <a:off x="5596128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26" name="Shape 23"/>
          <p:cNvSpPr/>
          <p:nvPr/>
        </p:nvSpPr>
        <p:spPr>
          <a:xfrm>
            <a:off x="5907024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27" name="Shape 24"/>
          <p:cNvSpPr/>
          <p:nvPr/>
        </p:nvSpPr>
        <p:spPr>
          <a:xfrm>
            <a:off x="6217920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28" name="Shape 25"/>
          <p:cNvSpPr/>
          <p:nvPr/>
        </p:nvSpPr>
        <p:spPr>
          <a:xfrm>
            <a:off x="6528816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29" name="Shape 26"/>
          <p:cNvSpPr/>
          <p:nvPr/>
        </p:nvSpPr>
        <p:spPr>
          <a:xfrm>
            <a:off x="6839712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30" name="Shape 27"/>
          <p:cNvSpPr/>
          <p:nvPr/>
        </p:nvSpPr>
        <p:spPr>
          <a:xfrm>
            <a:off x="7150608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31" name="Shape 28"/>
          <p:cNvSpPr/>
          <p:nvPr/>
        </p:nvSpPr>
        <p:spPr>
          <a:xfrm>
            <a:off x="7461504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2" name="Shape 29"/>
          <p:cNvSpPr/>
          <p:nvPr/>
        </p:nvSpPr>
        <p:spPr>
          <a:xfrm>
            <a:off x="7772400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33" name="Shape 30"/>
          <p:cNvSpPr/>
          <p:nvPr/>
        </p:nvSpPr>
        <p:spPr>
          <a:xfrm>
            <a:off x="8083296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34" name="Shape 31"/>
          <p:cNvSpPr/>
          <p:nvPr/>
        </p:nvSpPr>
        <p:spPr>
          <a:xfrm>
            <a:off x="8394192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35" name="Shape 32"/>
          <p:cNvSpPr/>
          <p:nvPr/>
        </p:nvSpPr>
        <p:spPr>
          <a:xfrm>
            <a:off x="8705088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15984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37" name="Shape 34"/>
          <p:cNvSpPr/>
          <p:nvPr/>
        </p:nvSpPr>
        <p:spPr>
          <a:xfrm>
            <a:off x="9326880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38" name="Shape 35"/>
          <p:cNvSpPr/>
          <p:nvPr/>
        </p:nvSpPr>
        <p:spPr>
          <a:xfrm>
            <a:off x="9637776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39" name="Shape 36"/>
          <p:cNvSpPr/>
          <p:nvPr/>
        </p:nvSpPr>
        <p:spPr>
          <a:xfrm>
            <a:off x="9948672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40" name="Shape 37"/>
          <p:cNvSpPr/>
          <p:nvPr/>
        </p:nvSpPr>
        <p:spPr>
          <a:xfrm>
            <a:off x="10259568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41" name="Shape 38"/>
          <p:cNvSpPr/>
          <p:nvPr/>
        </p:nvSpPr>
        <p:spPr>
          <a:xfrm>
            <a:off x="10570464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42" name="Shape 39"/>
          <p:cNvSpPr/>
          <p:nvPr/>
        </p:nvSpPr>
        <p:spPr>
          <a:xfrm>
            <a:off x="10881360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43" name="Shape 40"/>
          <p:cNvSpPr/>
          <p:nvPr/>
        </p:nvSpPr>
        <p:spPr>
          <a:xfrm>
            <a:off x="11192256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44" name="Shape 41"/>
          <p:cNvSpPr/>
          <p:nvPr/>
        </p:nvSpPr>
        <p:spPr>
          <a:xfrm>
            <a:off x="11503152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45" name="Shape 42"/>
          <p:cNvSpPr/>
          <p:nvPr/>
        </p:nvSpPr>
        <p:spPr>
          <a:xfrm>
            <a:off x="11814048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46" name="Shape 43"/>
          <p:cNvSpPr/>
          <p:nvPr/>
        </p:nvSpPr>
        <p:spPr>
          <a:xfrm>
            <a:off x="12124944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WORKIT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trusted place for any everyday work.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and households post jobs — gardening, cleaning, trades, deliveries, errands, tutoring and more. Nearby ID-verified workers offer, do the job, and both sides rate each other. If it's a task someone needs done, it can be posted.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01600" dist="38100" dir="5400000">
              <a:srgbClr val="B9A98F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081528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BEEE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063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 by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342900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marketplace across 11 categories — not a single niche.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88036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290320000" dist="483870000" dir="324000000000">
              <a:srgbClr val="B9A98F">
                <a:alpha val="35000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3081528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BEEE2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3063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Trust-first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342900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worker human-verified. Two-way ratings on every job.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6387064000000" dist="6145149000000" dir="19440000000000000">
              <a:srgbClr val="B9A98F">
                <a:alpha val="3500000000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453128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BEEE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453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434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Low-data, mobile-first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80060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PWA built for prepaid Android on tight data budgets.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425196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08115712800000000" dist="78043392300000000" dir="1.1664e+21">
              <a:srgbClr val="B9A98F">
                <a:alpha val="350000000000000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4453128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BEEE2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4453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4434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or EFT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480060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 completion — no card or bank account needed to start.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806440"/>
            <a:ext cx="10908792" cy="621792"/>
          </a:xfrm>
          <a:prstGeom prst="roundRect">
            <a:avLst>
              <a:gd name="adj" fmla="val 17647"/>
            </a:avLst>
          </a:prstGeom>
          <a:solidFill>
            <a:srgbClr val="E7EEDF"/>
          </a:solidFill>
          <a:ln w="12700">
            <a:solidFill>
              <a:srgbClr val="5D7A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806440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today:  </a:t>
            </a:r>
            <a:pPr indent="0" marL="0">
              <a:buNone/>
            </a:pPr>
            <a:r>
              <a:rPr lang="en-US" sz="1250" i="1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workitsa.co.za  ·  ~90 workers already signed up  ·  every worker human-verified  ·  full safety suite shipped.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→ offer → hire → do → pay → rate.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64306955256e+21" dist="991151082210000000000" dir="6.9984e+25">
              <a:srgbClr val="B9A98F">
                <a:alpha val="3.5e+2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788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🛠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3886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 job + a fair price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90288" y="256032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1F1612"/>
          </a:solidFill>
          <a:ln w="12700">
            <a:solidFill>
              <a:srgbClr val="1F1612"/>
            </a:solidFill>
            <a:prstDash val="solid"/>
          </a:ln>
          <a:effectLst>
            <a:outerShdw sx="100000" sy="100000" kx="0" ky="0" algn="bl" rotWithShape="0" blurRad="3.3566983317512e+25" dist="1.2587618744067e+25" dir="4.19904e+30">
              <a:srgbClr val="B9A98F">
                <a:alpha val="3.5000000000000005e+2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0288" y="2788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◆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90288" y="3474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818888" y="3886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matching, safety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57032" y="256032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2630068813240236e+29" dist="1.598627580496509e+29" dir="2.519424e+35">
              <a:srgbClr val="B9A98F">
                <a:alpha val="3.5000000000000004e+3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57032" y="2788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💪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57032" y="3474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85632" y="3886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or counters, does the work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0" y="3291840"/>
            <a:ext cx="914400" cy="0"/>
          </a:xfrm>
          <a:prstGeom prst="line">
            <a:avLst/>
          </a:prstGeom>
          <a:noFill/>
          <a:ln w="31750">
            <a:solidFill>
              <a:srgbClr val="D97742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07808" y="3291840"/>
            <a:ext cx="640080" cy="0"/>
          </a:xfrm>
          <a:prstGeom prst="line">
            <a:avLst/>
          </a:prstGeom>
          <a:noFill/>
          <a:ln w="31750">
            <a:solidFill>
              <a:srgbClr val="D97742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" y="470916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FBEEE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8920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loop: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→ workers offer → employer accepts → worker does the job → cash or EFT on completion → both sides rate each other.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55321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users during launch — the agreed price is exactly what the worker earns.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1E7D6"/>
          </a:solidFill>
          <a:ln/>
        </p:spPr>
      </p:sp>
      <p:pic>
        <p:nvPicPr>
          <p:cNvPr id="3" name="Image 0" descr="C:\Users\tshep\Projects 26\WorkitEarnit\deck\assets\screen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"/>
            <a:ext cx="2862072" cy="5669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4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TRUST FROM DAY ONE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63440" y="9601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up, then get verified.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66344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7" name="Text 4"/>
          <p:cNvSpPr/>
          <p:nvPr/>
        </p:nvSpPr>
        <p:spPr>
          <a:xfrm>
            <a:off x="46634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📲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85232" y="22494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sign-up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85232" y="261518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or email — installable PWA, light on data.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3246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🪪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85232" y="32095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verification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85232" y="357530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ID + selfie video + proof of address, reviewed by a real person.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6344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🏅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85232" y="41696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&amp; Gold tiers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85232" y="453542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police-clearance Gold badge employers can filter for.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5166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👋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285232" y="512978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Role-aware home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85232" y="549554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see “find work”; employers see “post a job”.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1E7D6"/>
          </a:solidFill>
          <a:ln/>
        </p:spPr>
      </p:sp>
      <p:pic>
        <p:nvPicPr>
          <p:cNvPr id="3" name="Image 0" descr="C:\Users\tshep\Projects 26\WorkitEarnit\deck\assets\screen_postjo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"/>
            <a:ext cx="2862072" cy="5669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4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POST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63440" y="9601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a job in under two minutes.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66344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7" name="Text 4"/>
          <p:cNvSpPr/>
          <p:nvPr/>
        </p:nvSpPr>
        <p:spPr>
          <a:xfrm>
            <a:off x="46634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85232" y="22494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posting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85232" y="261518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category, price, suburb — optional photos + GPS pin.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3246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👥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85232" y="32095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worker or a crew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85232" y="357530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crew size; the post stays open until it's filled.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6344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⏰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85232" y="41696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Due-by + payment choice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85232" y="453542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deadline; choose cash or EFT on completion.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5166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🪞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285232" y="512978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preview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85232" y="549554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workers will see as you type.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1E7D6"/>
          </a:solidFill>
          <a:ln/>
        </p:spPr>
      </p:sp>
      <p:pic>
        <p:nvPicPr>
          <p:cNvPr id="3" name="Image 0" descr="C:\Users\tshep\Projects 26\WorkitEarnit\deck\assets\screen_findwo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"/>
            <a:ext cx="2862072" cy="5669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4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MATCH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63440" y="9601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Workers find jobs near them.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66344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7" name="Text 4"/>
          <p:cNvSpPr/>
          <p:nvPr/>
        </p:nvSpPr>
        <p:spPr>
          <a:xfrm>
            <a:off x="46634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📍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85232" y="22494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Distance-ranked feed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85232" y="261518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your home once; jobs sort by how close they are.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3246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🔎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85232" y="32095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Filters + saved alerts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85232" y="357530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search, get a buzz the moment a match is posted.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6344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🤝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85232" y="41696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 or counter-offer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85232" y="453542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price in one tap, or send your own with a note.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5166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★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285232" y="512978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invites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85232" y="549554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can invite a specific worker to a job.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1E7D6"/>
          </a:solidFill>
          <a:ln/>
        </p:spPr>
      </p:sp>
      <p:pic>
        <p:nvPicPr>
          <p:cNvPr id="3" name="Image 0" descr="C:\Users\tshep\Projects 26\WorkitEarnit\deck\assets\screen_job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"/>
            <a:ext cx="2862072" cy="5669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4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HIRE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63440" y="9601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Hire with confidence.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66344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7" name="Text 4"/>
          <p:cNvSpPr/>
          <p:nvPr/>
        </p:nvSpPr>
        <p:spPr>
          <a:xfrm>
            <a:off x="46634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85232" y="22494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One-tap hire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85232" y="261518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an offer; chat opens; others are politely declined.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3246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🔑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85232" y="32095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Doorstep start-code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85232" y="357530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enters a code you read out — right person, confirmed.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6344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🔄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85232" y="41696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lifecycle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85232" y="453542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On-my-way → started → done → confirmed, visible to both.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5166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✓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285232" y="512978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Verified-only filter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85232" y="549554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take offers from Verified or Gold workers, if you choose.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ON THE JOB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on every single job.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5.41401873928151e+33" dist="2.0302570272305663e+33" dir="1.5116544e+40">
              <a:srgbClr val="B9A98F">
                <a:alpha val="3.5e+3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231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💬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4323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In-app chat + photos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79806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and share before/after photos — only after someone's hired.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219456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6.875803798887518e+37" dist="2.578426424582819e+37" dir="9.069926400000001e+44">
              <a:srgbClr val="B9A98F">
                <a:alpha val="3.5000000000000003e+4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4231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📍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40880" y="24323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location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79806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shares live GPS on the day; the employer watches them arrive.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8.732270824587148e+41" dist="3.2746015592201804e+41" dir="5.44195584e+49">
              <a:srgbClr val="B9A98F">
                <a:alpha val="3.5000000000000003e+4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06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🆘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42153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SOS button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58114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dials SAPS 10111 from inside any active job — logged.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97764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1089983947225678e+46" dist="4.158743980209629e+45" dir="3.2651735040000005e+54">
              <a:srgbClr val="B9A98F">
                <a:alpha val="3.5e+5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206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⚖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40880" y="42153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Disputes, handled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458114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side can freeze a job; an admin reviews chat, photos and ratings.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PROOF OF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proof — captured live, not uploaded.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problem in this market: anyone can post a photo and claim it's their work. Workit closes that gap.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408427961297661e+50" dist="5.281604854866228e+49" dir="1.9591041024000004e+59">
              <a:srgbClr val="B9A98F">
                <a:alpha val="3.5e+5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807208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E7EED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07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📷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Camera-only capture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08760" y="315468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“After” photos open the camera — no picking an old image from the gallery.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60604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7887035108480297e+54" dist="6.70763816568011e+53" dir="1.1754624614400003e+64">
              <a:srgbClr val="B9A98F">
                <a:alpha val="3.5000000000000004e+6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807208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E7EEDF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807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9516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Time-stamped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995160" y="315468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photo is watermarked with the date &amp; time it was taken.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2716534587769977e+58" dist="8.518700470413739e+57" dir="7.052774768640002e+68">
              <a:srgbClr val="B9A98F">
                <a:alpha val="3.500000000000001e+6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224528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E7EED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24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🔗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Tied to the real job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08760" y="457200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generated on the job — it can't be faked after the fact.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402336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8849998926467873e+62" dist="1.081874959742545e+62" dir="4.2316648611840007e+73">
              <a:srgbClr val="B9A98F">
                <a:alpha val="3.5000000000000006e+7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4224528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E7EEDF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4224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⭐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a real portfolio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995160" y="457200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completion photos flow to the worker's public profile.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806440"/>
            <a:ext cx="10908792" cy="548640"/>
          </a:xfrm>
          <a:prstGeom prst="roundRect">
            <a:avLst>
              <a:gd name="adj" fmla="val 20000"/>
            </a:avLst>
          </a:prstGeom>
          <a:solidFill>
            <a:srgbClr val="FBEEE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8064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also gives disputes a real evidence trail — trust you can verify, not just claim.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PAID &amp; RATED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paid, then build reputation.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3.66394986366142e+66" dist="1.373981198873032e+66" dir="2.5389989167104004e+78">
              <a:srgbClr val="B9A98F">
                <a:alpha val="3.5000000000000005e+7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231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4323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or EFT on completion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54480" y="279806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between the parties — no card needed to start earning.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219456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4.653216326850003e+70" dist="1.7449561225687507e+70" dir="1.5233993500262402e+83">
              <a:srgbClr val="B9A98F">
                <a:alpha val="3.5000000000000003e+8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4231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40880" y="24323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handshake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040880" y="279806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 paid” ⇄ “I've been paid” confirms it for both sides.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5.909584735099504e+74" dist="2.2160942756623134e+74" dir="9.14039610015744e+87">
              <a:srgbClr val="B9A98F">
                <a:alpha val="3.5e+8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06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⭐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42153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Two-way ratings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54480" y="458114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rate every job — reputation is earned, not bought.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97764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7.50517261357637e+78" dist="2.814439730091138e+78" dir="5.484237660094465e+92">
              <a:srgbClr val="B9A98F">
                <a:alpha val="3.5e+9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206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📈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40880" y="42153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Levels that compound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040880" y="458114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jobs done and badges unlock trust over time. Workers keep 100% at launch.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Crew jobs: hire a whole team in one post.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day, event staff, a queue-standing team — set how many workers you need and Workit keeps the post open until the crew is full.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9.53156921924199e+82" dist="3.574338457215745e+82" dir="3.2905425960566786e+97">
              <a:srgbClr val="B9A98F">
                <a:alpha val="3.5e+9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9626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a crew size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334670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1 or need 20 — the job shows “1 of 3 hired” to everyone.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7432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2105092908437327e+87" dist="4.539409840663996e+86" dir="1.9743255576340073e+102">
              <a:srgbClr val="B9A98F">
                <a:alpha val="3.4999999999999995e+104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995160" y="29626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Per-worker lifecycle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334670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has their own status and their own agreed price.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5373467993715405e+91" dist="5.765050497643275e+90" dir="1.1845953345804043e+107">
              <a:srgbClr val="B9A98F">
                <a:alpha val="3.4999999999999994e+10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45628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group chat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94690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+ the whole crew coordinate in a single thread.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43434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9524304352018566e+95" dist="7.321614132006959e+94" dir="7.107572007482426e+111">
              <a:srgbClr val="B9A98F">
                <a:alpha val="3.4999999999999995e+114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95160" y="45628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Slots auto-reopen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5160" y="494690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drops out, their spot reopens for new offers.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isn't a feature. It's the foundation.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4795866527063578e+99" dist="9.298449947648839e+98" dir="4.2645432044894554e+116">
              <a:srgbClr val="B9A98F">
                <a:alpha val="3.499999999999999e+11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🪪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4963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verification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ID + selfie + proof of address, reviewed by a person. Verified &amp; Gold tiers.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224028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3.149075048937074e+103" dist="1.1809031433514024e+103" dir="2.5587259226936733e+121">
              <a:srgbClr val="B9A98F">
                <a:alpha val="3.499999999999999e+12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⭐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266944" y="24963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Two-way ratings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81144" y="31089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rate every job. Reputation badges. Bad actors don't last.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224028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3.9993253121500844e+107" dist="1.499746992056281e+107" dir="1.535235553616204e+126">
              <a:srgbClr val="B9A98F">
                <a:alpha val="3.499999999999999e+12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93608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08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📍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979408" y="24963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location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93608" y="31089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share live GPS on the day; employers watch them arrive.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78808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5.079143146430607e+111" dist="1.904678679911477e+111" dir="9.211413321697224e+130">
              <a:srgbClr val="B9A98F">
                <a:alpha val="3.4999999999999992e+13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4074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407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🆘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54480" y="4434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button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8680" y="504748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dials SAPS 10111 from inside any active job — logged.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52544" y="4178808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6.450511795966871e+115" dist="2.418941923487576e+115" dir="5.526847993018334e+135">
              <a:srgbClr val="B9A98F">
                <a:alpha val="3.499999999999999e+13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81144" y="44074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26" name="Text 24"/>
          <p:cNvSpPr/>
          <p:nvPr/>
        </p:nvSpPr>
        <p:spPr>
          <a:xfrm>
            <a:off x="4581144" y="4407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⚖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266944" y="4434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Disputes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81144" y="504748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side can freeze a job; an admin reviews chat, photos, ratings.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65008" y="4178808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8.192149980877925e+119" dist="3.0720562428292216e+119" dir="3.3161087958110005e+140">
              <a:srgbClr val="B9A98F">
                <a:alpha val="3.499999999999999e+144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93608" y="44074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31" name="Text 29"/>
          <p:cNvSpPr/>
          <p:nvPr/>
        </p:nvSpPr>
        <p:spPr>
          <a:xfrm>
            <a:off x="8293608" y="4407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🛡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979408" y="4434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Moderation engine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93608" y="504748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image scanning, text screening, rate-limits, reports, auto-escalation.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admin cockpit — not a spreadsheet.</a:t>
            </a:r>
            <a:endParaRPr lang="en-US" sz="2600" dirty="0"/>
          </a:p>
        </p:txBody>
      </p:sp>
      <p:pic>
        <p:nvPicPr>
          <p:cNvPr id="4" name="Image 0" descr="C:\Users\tshep\Projects 26\WorkitEarnit\deck\assets\screen_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676656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09560" y="1856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 &amp; trends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909560" y="218541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 + 30-day sparklines for signups, jobs, completions.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35240" y="2761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0956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Moderation queue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09560" y="307238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+ auto-flags in one place; warn / remove / suspend / ban.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35240" y="3648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09560" y="3630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Heatmap + suburbs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909560" y="39593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the work is, with a suburb drill-down.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35240" y="45354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09560" y="45171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review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909560" y="4846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IDs, award the Gold badge, re-review re-submissions.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635240" y="5422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09560" y="54041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log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7909560" y="57332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admin action recorded — accountability built in.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6" name="Shape 4"/>
          <p:cNvSpPr/>
          <p:nvPr/>
        </p:nvSpPr>
        <p:spPr>
          <a:xfrm>
            <a:off x="1243584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8" name="Shape 6"/>
          <p:cNvSpPr/>
          <p:nvPr/>
        </p:nvSpPr>
        <p:spPr>
          <a:xfrm>
            <a:off x="1865376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9" name="Shape 7"/>
          <p:cNvSpPr/>
          <p:nvPr/>
        </p:nvSpPr>
        <p:spPr>
          <a:xfrm>
            <a:off x="2176272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10" name="Shape 8"/>
          <p:cNvSpPr/>
          <p:nvPr/>
        </p:nvSpPr>
        <p:spPr>
          <a:xfrm>
            <a:off x="2487168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11" name="Shape 9"/>
          <p:cNvSpPr/>
          <p:nvPr/>
        </p:nvSpPr>
        <p:spPr>
          <a:xfrm>
            <a:off x="2798064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0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13" name="Shape 11"/>
          <p:cNvSpPr/>
          <p:nvPr/>
        </p:nvSpPr>
        <p:spPr>
          <a:xfrm>
            <a:off x="3419856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0752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15" name="Shape 13"/>
          <p:cNvSpPr/>
          <p:nvPr/>
        </p:nvSpPr>
        <p:spPr>
          <a:xfrm>
            <a:off x="4041648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16" name="Shape 14"/>
          <p:cNvSpPr/>
          <p:nvPr/>
        </p:nvSpPr>
        <p:spPr>
          <a:xfrm>
            <a:off x="4352544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18" name="Shape 16"/>
          <p:cNvSpPr/>
          <p:nvPr/>
        </p:nvSpPr>
        <p:spPr>
          <a:xfrm>
            <a:off x="4974336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19" name="Shape 17"/>
          <p:cNvSpPr/>
          <p:nvPr/>
        </p:nvSpPr>
        <p:spPr>
          <a:xfrm>
            <a:off x="5285232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20" name="Shape 18"/>
          <p:cNvSpPr/>
          <p:nvPr/>
        </p:nvSpPr>
        <p:spPr>
          <a:xfrm>
            <a:off x="5596128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21" name="Shape 19"/>
          <p:cNvSpPr/>
          <p:nvPr/>
        </p:nvSpPr>
        <p:spPr>
          <a:xfrm>
            <a:off x="5907024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23" name="Shape 21"/>
          <p:cNvSpPr/>
          <p:nvPr/>
        </p:nvSpPr>
        <p:spPr>
          <a:xfrm>
            <a:off x="6528816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24" name="Shape 22"/>
          <p:cNvSpPr/>
          <p:nvPr/>
        </p:nvSpPr>
        <p:spPr>
          <a:xfrm>
            <a:off x="6839712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25" name="Shape 23"/>
          <p:cNvSpPr/>
          <p:nvPr/>
        </p:nvSpPr>
        <p:spPr>
          <a:xfrm>
            <a:off x="7150608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26" name="Shape 24"/>
          <p:cNvSpPr/>
          <p:nvPr/>
        </p:nvSpPr>
        <p:spPr>
          <a:xfrm>
            <a:off x="7461504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0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28" name="Shape 26"/>
          <p:cNvSpPr/>
          <p:nvPr/>
        </p:nvSpPr>
        <p:spPr>
          <a:xfrm>
            <a:off x="8083296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29" name="Shape 27"/>
          <p:cNvSpPr/>
          <p:nvPr/>
        </p:nvSpPr>
        <p:spPr>
          <a:xfrm>
            <a:off x="8394192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30" name="Shape 28"/>
          <p:cNvSpPr/>
          <p:nvPr/>
        </p:nvSpPr>
        <p:spPr>
          <a:xfrm>
            <a:off x="8705088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1" name="Shape 29"/>
          <p:cNvSpPr/>
          <p:nvPr/>
        </p:nvSpPr>
        <p:spPr>
          <a:xfrm>
            <a:off x="9015984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32" name="Shape 30"/>
          <p:cNvSpPr/>
          <p:nvPr/>
        </p:nvSpPr>
        <p:spPr>
          <a:xfrm>
            <a:off x="9326880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33" name="Shape 31"/>
          <p:cNvSpPr/>
          <p:nvPr/>
        </p:nvSpPr>
        <p:spPr>
          <a:xfrm>
            <a:off x="9637776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34" name="Shape 32"/>
          <p:cNvSpPr/>
          <p:nvPr/>
        </p:nvSpPr>
        <p:spPr>
          <a:xfrm>
            <a:off x="9948672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59568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70464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37" name="Shape 35"/>
          <p:cNvSpPr/>
          <p:nvPr/>
        </p:nvSpPr>
        <p:spPr>
          <a:xfrm>
            <a:off x="10881360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1192256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9" name="Shape 37"/>
          <p:cNvSpPr/>
          <p:nvPr/>
        </p:nvSpPr>
        <p:spPr>
          <a:xfrm>
            <a:off x="11503152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40" name="Shape 38"/>
          <p:cNvSpPr/>
          <p:nvPr/>
        </p:nvSpPr>
        <p:spPr>
          <a:xfrm>
            <a:off x="11814048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41" name="Shape 39"/>
          <p:cNvSpPr/>
          <p:nvPr/>
        </p:nvSpPr>
        <p:spPr>
          <a:xfrm>
            <a:off x="12124944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LIVE · READY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94360" y="19202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50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Dignified work,</a:t>
            </a:r>
            <a:endParaRPr lang="en-US" sz="5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50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job at a time.</a:t>
            </a:r>
            <a:endParaRPr lang="en-US" sz="5000" dirty="0"/>
          </a:p>
        </p:txBody>
      </p:sp>
      <p:sp>
        <p:nvSpPr>
          <p:cNvPr id="44" name="Text 42"/>
          <p:cNvSpPr/>
          <p:nvPr/>
        </p:nvSpPr>
        <p:spPr>
          <a:xfrm>
            <a:off x="640080" y="4114800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South African platform that turns the country's biggest problem — joblessness — into its biggest marketplace. Trust-first, mobile-first, built for the people who need it most.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080" y="5440680"/>
            <a:ext cx="10908792" cy="822960"/>
          </a:xfrm>
          <a:prstGeom prst="roundRect">
            <a:avLst>
              <a:gd name="adj" fmla="val 13333"/>
            </a:avLst>
          </a:prstGeom>
          <a:solidFill>
            <a:srgbClr val="2A1F17"/>
          </a:solidFill>
          <a:ln w="12700">
            <a:solidFill>
              <a:srgbClr val="3A2C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" y="54406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Workit</a:t>
            </a:r>
            <a:pPr indent="0" marL="0">
              <a:buNone/>
            </a:pPr>
            <a:r>
              <a:rPr lang="en-US" sz="1300" dirty="0">
                <a:solidFill>
                  <a:srgbClr val="C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workitsa.co.za   ·   Tshepo M   ·   Futhersky Solutions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Workit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Workit / Futhersky Solutions</dc:creator>
  <cp:lastModifiedBy>Workit / Futhersky Solutions</cp:lastModifiedBy>
  <cp:revision>1</cp:revision>
  <dcterms:created xsi:type="dcterms:W3CDTF">2026-09-29T07:00:17Z</dcterms:created>
  <dcterms:modified xsi:type="dcterms:W3CDTF">2026-09-29T07:00:17Z</dcterms:modified>
</cp:coreProperties>
</file>