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/>
        </p:spPr>
      </p:sp>
      <p:pic>
        <p:nvPicPr>
          <p:cNvPr id="3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640080"/>
            <a:ext cx="3044952" cy="6035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4360" y="19202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work.</a:t>
            </a:r>
            <a:endParaRPr lang="en-US" sz="6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work done.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people-first marketplace for everyday work — connecting people who need a job done with verified workers nearby.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Furthersky Solutions product</a:t>
            </a:r>
            <a:pPr indent="0" marL="0">
              <a:buNone/>
            </a:pPr>
            <a:r>
              <a:rPr lang="en-US" sz="1200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Built by Tshepo M    ·    workitsa.co.za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9" name="Shape 6"/>
          <p:cNvSpPr/>
          <p:nvPr/>
        </p:nvSpPr>
        <p:spPr>
          <a:xfrm>
            <a:off x="31089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1" name="Shape 8"/>
          <p:cNvSpPr/>
          <p:nvPr/>
        </p:nvSpPr>
        <p:spPr>
          <a:xfrm>
            <a:off x="93268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2" name="Shape 9"/>
          <p:cNvSpPr/>
          <p:nvPr/>
        </p:nvSpPr>
        <p:spPr>
          <a:xfrm>
            <a:off x="124358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3" name="Shape 10"/>
          <p:cNvSpPr/>
          <p:nvPr/>
        </p:nvSpPr>
        <p:spPr>
          <a:xfrm>
            <a:off x="155448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5" name="Shape 12"/>
          <p:cNvSpPr/>
          <p:nvPr/>
        </p:nvSpPr>
        <p:spPr>
          <a:xfrm>
            <a:off x="217627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6" name="Shape 13"/>
          <p:cNvSpPr/>
          <p:nvPr/>
        </p:nvSpPr>
        <p:spPr>
          <a:xfrm>
            <a:off x="248716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7" name="Shape 14"/>
          <p:cNvSpPr/>
          <p:nvPr/>
        </p:nvSpPr>
        <p:spPr>
          <a:xfrm>
            <a:off x="279806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8" name="Shape 15"/>
          <p:cNvSpPr/>
          <p:nvPr/>
        </p:nvSpPr>
        <p:spPr>
          <a:xfrm>
            <a:off x="310896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9" name="Shape 16"/>
          <p:cNvSpPr/>
          <p:nvPr/>
        </p:nvSpPr>
        <p:spPr>
          <a:xfrm>
            <a:off x="341985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0" name="Shape 17"/>
          <p:cNvSpPr/>
          <p:nvPr/>
        </p:nvSpPr>
        <p:spPr>
          <a:xfrm>
            <a:off x="373075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1" name="Shape 18"/>
          <p:cNvSpPr/>
          <p:nvPr/>
        </p:nvSpPr>
        <p:spPr>
          <a:xfrm>
            <a:off x="404164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2" name="Shape 19"/>
          <p:cNvSpPr/>
          <p:nvPr/>
        </p:nvSpPr>
        <p:spPr>
          <a:xfrm>
            <a:off x="435254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3" name="Shape 20"/>
          <p:cNvSpPr/>
          <p:nvPr/>
        </p:nvSpPr>
        <p:spPr>
          <a:xfrm>
            <a:off x="466344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4" name="Shape 21"/>
          <p:cNvSpPr/>
          <p:nvPr/>
        </p:nvSpPr>
        <p:spPr>
          <a:xfrm>
            <a:off x="497433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5" name="Shape 22"/>
          <p:cNvSpPr/>
          <p:nvPr/>
        </p:nvSpPr>
        <p:spPr>
          <a:xfrm>
            <a:off x="528523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6" name="Shape 23"/>
          <p:cNvSpPr/>
          <p:nvPr/>
        </p:nvSpPr>
        <p:spPr>
          <a:xfrm>
            <a:off x="559612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7" name="Shape 24"/>
          <p:cNvSpPr/>
          <p:nvPr/>
        </p:nvSpPr>
        <p:spPr>
          <a:xfrm>
            <a:off x="590702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8" name="Shape 25"/>
          <p:cNvSpPr/>
          <p:nvPr/>
        </p:nvSpPr>
        <p:spPr>
          <a:xfrm>
            <a:off x="621792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9" name="Shape 26"/>
          <p:cNvSpPr/>
          <p:nvPr/>
        </p:nvSpPr>
        <p:spPr>
          <a:xfrm>
            <a:off x="652881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0" name="Shape 27"/>
          <p:cNvSpPr/>
          <p:nvPr/>
        </p:nvSpPr>
        <p:spPr>
          <a:xfrm>
            <a:off x="683971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1" name="Shape 28"/>
          <p:cNvSpPr/>
          <p:nvPr/>
        </p:nvSpPr>
        <p:spPr>
          <a:xfrm>
            <a:off x="715060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2" name="Shape 29"/>
          <p:cNvSpPr/>
          <p:nvPr/>
        </p:nvSpPr>
        <p:spPr>
          <a:xfrm>
            <a:off x="746150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3" name="Shape 30"/>
          <p:cNvSpPr/>
          <p:nvPr/>
        </p:nvSpPr>
        <p:spPr>
          <a:xfrm>
            <a:off x="777240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4" name="Shape 31"/>
          <p:cNvSpPr/>
          <p:nvPr/>
        </p:nvSpPr>
        <p:spPr>
          <a:xfrm>
            <a:off x="808329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5" name="Shape 32"/>
          <p:cNvSpPr/>
          <p:nvPr/>
        </p:nvSpPr>
        <p:spPr>
          <a:xfrm>
            <a:off x="839419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6" name="Shape 33"/>
          <p:cNvSpPr/>
          <p:nvPr/>
        </p:nvSpPr>
        <p:spPr>
          <a:xfrm>
            <a:off x="870508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7" name="Shape 34"/>
          <p:cNvSpPr/>
          <p:nvPr/>
        </p:nvSpPr>
        <p:spPr>
          <a:xfrm>
            <a:off x="901598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8" name="Shape 35"/>
          <p:cNvSpPr/>
          <p:nvPr/>
        </p:nvSpPr>
        <p:spPr>
          <a:xfrm>
            <a:off x="932688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9" name="Shape 36"/>
          <p:cNvSpPr/>
          <p:nvPr/>
        </p:nvSpPr>
        <p:spPr>
          <a:xfrm>
            <a:off x="963777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0" name="Shape 37"/>
          <p:cNvSpPr/>
          <p:nvPr/>
        </p:nvSpPr>
        <p:spPr>
          <a:xfrm>
            <a:off x="994867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1" name="Shape 38"/>
          <p:cNvSpPr/>
          <p:nvPr/>
        </p:nvSpPr>
        <p:spPr>
          <a:xfrm>
            <a:off x="1025956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7046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3" name="Shape 40"/>
          <p:cNvSpPr/>
          <p:nvPr/>
        </p:nvSpPr>
        <p:spPr>
          <a:xfrm>
            <a:off x="1088136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4" name="Shape 41"/>
          <p:cNvSpPr/>
          <p:nvPr/>
        </p:nvSpPr>
        <p:spPr>
          <a:xfrm>
            <a:off x="1119225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5" name="Shape 42"/>
          <p:cNvSpPr/>
          <p:nvPr/>
        </p:nvSpPr>
        <p:spPr>
          <a:xfrm>
            <a:off x="1150315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6" name="Shape 43"/>
          <p:cNvSpPr/>
          <p:nvPr/>
        </p:nvSpPr>
        <p:spPr>
          <a:xfrm>
            <a:off x="1181404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7" name="Shape 44"/>
          <p:cNvSpPr/>
          <p:nvPr/>
        </p:nvSpPr>
        <p:spPr>
          <a:xfrm>
            <a:off x="1212494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Joblessness is South Africa's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crisis.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01600" dist="38100" dir="5400000">
              <a:srgbClr val="B9A98F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unemployment rate — among the highest on earth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290320000" dist="483870000" dir="324000000000">
              <a:srgbClr val="B9A98F">
                <a:alpha val="35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81144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(15–34) are without 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6387064000000" dist="6145149000000" dir="19440000000000000">
              <a:srgbClr val="B9A98F">
                <a:alpha val="3500000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93608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93608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actively want a job and can't find 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908792" cy="1874520"/>
          </a:xfrm>
          <a:prstGeom prst="roundRect">
            <a:avLst>
              <a:gd name="adj" fmla="val 5854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the tools to find work are broken.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52728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Classifieds (Gumtree, Facebook) have zero trust or verification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4808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cover narrow niches — cleaning only, one city only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5596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5596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doesn't scale and leaves newcomers 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5596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64808" y="5596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net: no ratings, no IDs, no recourse when things go wrong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trusted place for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informal + gig economy is enormous and almost entirely offline. Smartphones are everywhere; the marketplace to organise this work is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08115712800000000" dist="78043392300000000" dir="1.1664e+21">
              <a:srgbClr val="B9A98F">
                <a:alpha val="3500000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429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401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7673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categories from gardening to trades to tutoring — not a single niche.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2004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B9A98F">
                <a:alpha val="3.5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429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3401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7673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reviewed by a human. Two-way ratings on every job.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3566983317512e+25" dist="1.2587618744067e+25" dir="4.19904e+30">
              <a:srgbClr val="B9A98F">
                <a:alpha val="3.5000000000000005e+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9377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910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Low-data, mobile-first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2760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PWA for prepaid Android on tight data budgets.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7091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2630068813240236e+29" dist="1.598627580496509e+29" dir="2.519424e+35">
              <a:srgbClr val="B9A98F">
                <a:alpha val="3.5000000000000004e+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9377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910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or EFT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52760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completion — no card, no bank account required to start.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21031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E7EEDF"/>
          </a:solidFill>
          <a:ln w="12700">
            <a:solidFill>
              <a:srgbClr val="5D7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240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others are narrow, Workit is the whole market.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two-sided marketplace for honest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1401873928151e+33" dist="2.0302570272305663e+33" dir="1.5116544e+40">
              <a:srgbClr val="B9A98F">
                <a:alpha val="3.5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 job + a fair price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6.875803798887518e+37" dist="2.578426424582819e+37" dir="9.069926400000001e+44">
              <a:srgbClr val="B9A98F">
                <a:alpha val="3.5000000000000003e+4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18888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matching, safety, payments-ready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57032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732270824587148e+41" dist="3.2746015592201804e+41" dir="5.44195584e+49">
              <a:srgbClr val="B9A98F">
                <a:alpha val="3.5000000000000003e+4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7032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57032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85632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counters, does the 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3200400"/>
            <a:ext cx="91440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07808" y="3200400"/>
            <a:ext cx="64008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56616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loop: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workers offer → employer accepts → worker does the job → cash or EFT on completion → both sides rate each other.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4406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middleman fee during launch — the agreed price is exactly what the worker earns.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HOME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personalised home the moment you sign in.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dashboard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see “post a job”; workers see “find work” + a finish-verification nudge.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active job, up top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in-flight job surfaces with the worker's photo and one-tap message / track.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 at a glance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jobs done, level and stars — the trust you've built, front and centre.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📲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Installable PWA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screen; works offline-first and light on data.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find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FIND 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open near you, ranked by distance.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Distance-aware feed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your home once; jobs sort by how close they are to you.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🔎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+ saved searches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radius, keyword — save a search and get a buzz when a match is posted.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❤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&amp; compare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jobs, see who else has offered, send your price in one tap.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★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invites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invite you to a specific job — it lands with a star badge.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postj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POST A JOB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in under a minute, with a live preview.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Two-minute posting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price, suburb — optional photos, GPS pin, urgency flag.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worker or a crew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3 people for a move? Set a crew size; the post stays open until it's filled.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Due-by + payment choice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deadline; choose cash or EFT on completion. Workers see it upfront.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🪞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preview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workers will see in their feed as you type.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job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OFFERS &amp; THE JOB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the price, or let workers counter.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or counter-offer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accept your price in one tap or send their own with a note.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Verified-only filter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incoming offers to Verified or Gold-badged workers.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job lifecycle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On-my-way → started → done → confirmed, with status both sides can see.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chat with photos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share before/after photos — only after someone's hired.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EMPLOYER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“I need this done” to done —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1089983947225678e+46" dist="4.158743980209629e+45" dir="3.2651735040000005e+54">
              <a:srgbClr val="B9A98F">
                <a:alpha val="3.5e+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314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6" name="Text 4"/>
          <p:cNvSpPr/>
          <p:nvPr/>
        </p:nvSpPr>
        <p:spPr>
          <a:xfrm>
            <a:off x="1228314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the job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it, suggest a price, optionally pin the spot and add photos.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13827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408427961297661e+50" dist="5.281604854866228e+49" dir="1.9591041024000004e+59">
              <a:srgbClr val="B9A98F">
                <a:alpha val="3.5e+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061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11" name="Text 9"/>
          <p:cNvSpPr/>
          <p:nvPr/>
        </p:nvSpPr>
        <p:spPr>
          <a:xfrm>
            <a:off x="3502061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8419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offers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78419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nearby respond. See ratings, badges, completed-job counts.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87574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7887035108480297e+54" dist="6.70763816568011e+53" dir="1.1754624614400003e+64">
              <a:srgbClr val="B9A98F">
                <a:alpha val="3.5000000000000004e+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5808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16" name="Text 14"/>
          <p:cNvSpPr/>
          <p:nvPr/>
        </p:nvSpPr>
        <p:spPr>
          <a:xfrm>
            <a:off x="5775808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52166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who you trust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52166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Other offers are politely declined; chat opens 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1321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2716534587769977e+58" dist="8.518700470413739e+57" dir="7.052774768640002e+68">
              <a:srgbClr val="B9A98F">
                <a:alpha val="3.500000000000001e+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9555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9555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5913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the 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25913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on-the-way → started, message, live location, SOS if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5068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8849998926467873e+62" dist="1.081874959742545e+62" dir="4.2316648611840007e+73">
              <a:srgbClr val="B9A98F">
                <a:alpha val="3.5000000000000006e+7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302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302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9660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&amp; rate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99660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cash or EFT on completion, confirm, leave an honest rating.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WORKER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sign-up to paid —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66394986366142e+66" dist="1.373981198873032e+66" dir="2.5389989167104004e+78">
              <a:srgbClr val="B9A98F">
                <a:alpha val="3.5000000000000005e+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314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6" name="Text 4"/>
          <p:cNvSpPr/>
          <p:nvPr/>
        </p:nvSpPr>
        <p:spPr>
          <a:xfrm>
            <a:off x="1228314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 + verify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ID, selfie video, proof of address, skills. Reviewed by a person.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13827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653216326850003e+70" dist="1.7449561225687507e+70" dir="1.5233993500262402e+83">
              <a:srgbClr val="B9A98F">
                <a:alpha val="3.5000000000000003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061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11" name="Text 9"/>
          <p:cNvSpPr/>
          <p:nvPr/>
        </p:nvSpPr>
        <p:spPr>
          <a:xfrm>
            <a:off x="3502061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8419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work nearby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78419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+ distance. Save searches for instant alerts.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87574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909584735099504e+74" dist="2.2160942756623134e+74" dir="9.14039610015744e+87">
              <a:srgbClr val="B9A98F">
                <a:alpha val="3.5e+8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5808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16" name="Text 14"/>
          <p:cNvSpPr/>
          <p:nvPr/>
        </p:nvSpPr>
        <p:spPr>
          <a:xfrm>
            <a:off x="5775808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52166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an offer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52166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price or counter with your own + a short pitch.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1321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50517261357637e+78" dist="2.814439730091138e+78" dir="5.484237660094465e+92">
              <a:srgbClr val="B9A98F">
                <a:alpha val="3.5e+9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9555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9555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5913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job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25913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on-my-way, then started. Share before/after photos in chat.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5068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9.53156921924199e+82" dist="3.574338457215745e+82" dir="3.2905425960566786e+97">
              <a:srgbClr val="B9A98F">
                <a:alpha val="3.5e+9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302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302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9660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 + rated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99660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done, employer confirms, you both rate. Keep 100% at launch.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isn't a feature. It's the foundation.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2105092908437327e+87" dist="4.539409840663996e+86" dir="1.9743255576340073e+102">
              <a:srgbClr val="B9A98F">
                <a:alpha val="3.4999999999999995e+10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verification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+ selfie video + proof of address, reviewed by a real person. Verified &amp; Gold (police-cleared) tiers.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5373467993715405e+91" dist="5.765050497643275e+90" dir="1.1845953345804043e+107">
              <a:srgbClr val="B9A98F">
                <a:alpha val="3.4999999999999994e+10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66944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ratings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every job. Reputation badges. Bad actors don't last.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9524304352018566e+95" dist="7.321614132006959e+94" dir="7.107572007482426e+111">
              <a:srgbClr val="B9A98F">
                <a:alpha val="3.4999999999999995e+11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3608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79408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location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93608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share live GPS on the day; employers watch them arrive.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4795866527063578e+99" dist="9.298449947648839e+98" dir="4.2645432044894554e+116">
              <a:srgbClr val="B9A98F">
                <a:alpha val="3.499999999999999e+11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button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dials SAPS 10111 from inside any active job — logged.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149075048937074e+103" dist="1.1809031433514024e+103" dir="2.5587259226936733e+121">
              <a:srgbClr val="B9A98F">
                <a:alpha val="3.499999999999999e+1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66944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freeze a job; an admin reviews chat, photos, ratings.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9993253121500844e+107" dist="1.499746992056281e+107" dir="1.535235553616204e+126">
              <a:srgbClr val="B9A98F">
                <a:alpha val="3.499999999999999e+12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3608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31" name="Text 29"/>
          <p:cNvSpPr/>
          <p:nvPr/>
        </p:nvSpPr>
        <p:spPr>
          <a:xfrm>
            <a:off x="8293608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79408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engine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93608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image scanning (Vision), text screening, rate-limits, user reports, CSAM auto-escalation.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jobs: hire a whole team in one post.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day, event staff, a queue-standing team — set how many workers you need and Workit keeps the post open until the crew is full.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079143146430607e+111" dist="1.904678679911477e+111" dir="9.211413321697224e+130">
              <a:srgbClr val="B9A98F">
                <a:alpha val="3.4999999999999992e+1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crew 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 or need 20. The job shows “1 of 3 hired” to everyone.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450511795966871e+115" dist="2.418941923487576e+115" dir="5.526847993018334e+135">
              <a:srgbClr val="B9A98F">
                <a:alpha val="3.499999999999999e+13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51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Per-worker lifecycle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crew member has their own on-the-way / done / confirmed — and own agreed price.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192149980877925e+119" dist="3.0720562428292216e+119" dir="3.3161087958110005e+140">
              <a:srgbClr val="B9A98F">
                <a:alpha val="3.499999999999999e+14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group chat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+ the whole crew coordinate in a single thread.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0404030475714965e+124" dist="3.9015114283931116e+123" dir="1.9896652774866004e+145">
              <a:srgbClr val="B9A98F">
                <a:alpha val="3.499999999999999e+1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Slots auto-reopen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drops out, their spot reopens for new offers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bring people back — for free.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3213118704158005e+128" dist="4.954919514059251e+127" dir="1.1937991664919603e+150">
              <a:srgbClr val="B9A98F">
                <a:alpha val="3.499999999999999e+1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push (FCM)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Firebase push: offers, accepted jobs, confirmations buzz the phone even when Workit is closed.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6780660754280665e+132" dist="6.2927477828552495e+131" dir="7.162794998951762e+154">
              <a:srgbClr val="B9A98F">
                <a:alpha val="3.499999999999999e+1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Saved-search alerts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“Gardening within 5 km of Linden” → instant toast the moment a match is posted.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1311439157936445e+136" dist="7.991789684226167e+135" dir="4.297676999371057e+159">
              <a:srgbClr val="B9A98F">
                <a:alpha val="3.499999999999999e+1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60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invites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354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worker you like? Invite them to a job; they get a personal notification.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7065527730579285e+140" dist="1.0149572898967231e+140" dir="2.5786061996226343e+164">
              <a:srgbClr val="B9A98F">
                <a:alpha val="3.4999999999999995e+1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160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fallback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5354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emails for every key event, so nothing important is missed.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1500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</a:t>
            </a:r>
            <a:pPr indent="0" marL="0"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SMS notifications — the unlock for reaching prepaid users with data off.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admin cockpit, not a spreadsheet.</a:t>
            </a:r>
            <a:endParaRPr lang="en-US" sz="2600" dirty="0"/>
          </a:p>
        </p:txBody>
      </p:sp>
      <p:pic>
        <p:nvPicPr>
          <p:cNvPr id="4" name="Image 0" descr="C:\Users\tshep\Projects 26\WorkitEarnit\deck\assets\screen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76656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09560" y="1856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&amp; trends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09560" y="21854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+ 30-day sparklines for signups, jobs, completions, disputes.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queue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9560" y="30723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auto-flags in one place; warn / remove / suspend / ban.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+ suburbs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095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is, with a clickable suburb drill-down.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4535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45171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re-verify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09560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IDs, award the Gold badge, re-review re-submissions.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35240" y="5422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5404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909560" y="5733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recorded — accountability built in.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scale, hosted in South Africa.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 PWA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76479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Tailwind v4, offline-first, installable. i18n-ready for all 11 official languages.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6517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Auth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72491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+ email/password. Link both to one account.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6118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Firestore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68503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jobs, offers, chat, ratings, disputes. Security rules enforce every access.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7200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5720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Cloud Functions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64515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push, ratings, moderation, text screen, rate-limit, verification — all in africa-south1.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3212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55321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560527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videos, CVs, verification docs. Auto image moderation via Google Vision.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africa-south1 (Johannesburg) region · scheduled backups · Sentry-ready error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concept — a working product, live today.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&amp; live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marketplace end-to-end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7523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752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 auth, account approval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272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verification + Gold badge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502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(multi-worker) jobs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8770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with photo sharing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251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+ SAPS emergency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626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626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+ full moderation suite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50017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001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+ saved-search alerts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53766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5376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heatmap, audit log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57515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751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portfolios + public profiles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62472" y="17830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4373220217835694e+144" dist="1.2889957581688384e+144" dir="1.5471637197735807e+169">
              <a:srgbClr val="B9A98F">
                <a:alpha val="3.4999999999999997e+17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77240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in production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772400" y="32186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at launch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396849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772400" y="396849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/ routes shipped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55080" y="47183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772400" y="471830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tiers (None → Verified → Gold)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355080" y="54681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772400" y="54681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agreed price kept by workers at launch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grow. Built to earn.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to win liquidity and trust. Then layer revenue where it adds value — never taxing a worker's first rand.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3653989676651333e+148" dist="1.6370246128744248e+148" dir="9.282982318641485e+173">
              <a:srgbClr val="B9A98F">
                <a:alpha val="3.4999999999999996e+17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fee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% service fee on each completed job once liquidity is healthy. Employer-side, so workers keep their rate.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52544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54405668893472e+152" dist="2.0790212583505195e+152" dir="5.569789391184891e+178">
              <a:srgbClr val="B9A98F">
                <a:alpha val="3.5e+1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21224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 Plus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for power employers: priority placement, scheduled &amp; recurring jobs, team accounts.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65008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040951994947093e+156" dist="2.64035699810516e+156" dir="3.3418736347109347e+183">
              <a:srgbClr val="B9A98F">
                <a:alpha val="3.5e+18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33688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 &amp; urgent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3608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boost a post to the top of the feed or flag it urgent — pay-per-boost, fully optional.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942009033582808e+160" dist="3.353253387593553e+160" dir="2.0051241808265608e+188">
              <a:srgbClr val="B9A98F">
                <a:alpha val="3.5e+1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checks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police-clearance / ID verification for the Gold badge, in partnership with a screening provider.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52544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1356351472650167e+165" dist="4.2586318022438123e+164" dir="1.2030745084959364e+193">
              <a:srgbClr val="B9A98F">
                <a:alpha val="3.5e+19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21224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Value-add services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1144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insurance, instant EFT payouts via a banking partner, materials financing — revenue-share.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65008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4422566370265713e+169" dist="5.408462388849642e+168" dir="7.218447050975619e+197">
              <a:srgbClr val="B9A98F">
                <a:alpha val="3.5e+20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33688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/ SME plans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93608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booking regular labour: dashboards, invoicing, preferred-worker pools.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· 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small fees compound into a real business.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534924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2303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143000" y="464058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217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393192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1304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322326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438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R90m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43000" y="251460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957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5349240"/>
            <a:ext cx="5897880" cy="0"/>
          </a:xfrm>
          <a:prstGeom prst="line">
            <a:avLst/>
          </a:prstGeom>
          <a:noFill/>
          <a:ln w="15875">
            <a:solidFill>
              <a:srgbClr val="8A78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7554" y="5207508"/>
            <a:ext cx="589788" cy="141732"/>
          </a:xfrm>
          <a:prstGeom prst="roundRect">
            <a:avLst>
              <a:gd name="adj" fmla="val 19355"/>
            </a:avLst>
          </a:prstGeom>
          <a:solidFill>
            <a:srgbClr val="D97742"/>
          </a:solidFill>
          <a:ln/>
        </p:spPr>
      </p:sp>
      <p:sp>
        <p:nvSpPr>
          <p:cNvPr id="16" name="Text 14"/>
          <p:cNvSpPr/>
          <p:nvPr/>
        </p:nvSpPr>
        <p:spPr>
          <a:xfrm>
            <a:off x="1274674" y="4960620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75358" y="5312664"/>
            <a:ext cx="589788" cy="36576"/>
          </a:xfrm>
          <a:prstGeom prst="roundRect">
            <a:avLst>
              <a:gd name="adj" fmla="val 75000"/>
            </a:avLst>
          </a:prstGeom>
          <a:solidFill>
            <a:srgbClr val="5D7A47"/>
          </a:solidFill>
          <a:ln/>
        </p:spPr>
      </p:sp>
      <p:sp>
        <p:nvSpPr>
          <p:cNvPr id="18" name="Text 16"/>
          <p:cNvSpPr/>
          <p:nvPr/>
        </p:nvSpPr>
        <p:spPr>
          <a:xfrm>
            <a:off x="1992478" y="5065776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895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3514" y="4546092"/>
            <a:ext cx="589788" cy="803148"/>
          </a:xfrm>
          <a:prstGeom prst="roundRect">
            <a:avLst>
              <a:gd name="adj" fmla="val 4651"/>
            </a:avLst>
          </a:prstGeom>
          <a:solidFill>
            <a:srgbClr val="D977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40634" y="429920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41318" y="5276012"/>
            <a:ext cx="589788" cy="73228"/>
          </a:xfrm>
          <a:prstGeom prst="roundRect">
            <a:avLst>
              <a:gd name="adj" fmla="val 37461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3958438" y="502912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9491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89474" y="2514600"/>
            <a:ext cx="589788" cy="2834640"/>
          </a:xfrm>
          <a:prstGeom prst="roundRect">
            <a:avLst>
              <a:gd name="adj" fmla="val 4651"/>
            </a:avLst>
          </a:prstGeom>
          <a:solidFill>
            <a:srgbClr val="D97742"/>
          </a:solidFill>
          <a:ln/>
        </p:spPr>
      </p:sp>
      <p:sp>
        <p:nvSpPr>
          <p:cNvPr id="26" name="Text 24"/>
          <p:cNvSpPr/>
          <p:nvPr/>
        </p:nvSpPr>
        <p:spPr>
          <a:xfrm>
            <a:off x="5206594" y="2267712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07278" y="5018532"/>
            <a:ext cx="589788" cy="330708"/>
          </a:xfrm>
          <a:prstGeom prst="roundRect">
            <a:avLst>
              <a:gd name="adj" fmla="val 8295"/>
            </a:avLst>
          </a:prstGeom>
          <a:solidFill>
            <a:srgbClr val="5D7A47"/>
          </a:solidFill>
          <a:ln/>
        </p:spPr>
      </p:sp>
      <p:sp>
        <p:nvSpPr>
          <p:cNvPr id="28" name="Text 26"/>
          <p:cNvSpPr/>
          <p:nvPr/>
        </p:nvSpPr>
        <p:spPr>
          <a:xfrm>
            <a:off x="5924398" y="477164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087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88720" y="5870448"/>
            <a:ext cx="256032" cy="164592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1" name="Text 29"/>
          <p:cNvSpPr/>
          <p:nvPr/>
        </p:nvSpPr>
        <p:spPr>
          <a:xfrm>
            <a:off x="1508760" y="57972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(R, millions)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49040" y="5870448"/>
            <a:ext cx="256032" cy="164592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4069080" y="5797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(R, millions)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60920" y="2057400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8316659290237455e+173" dist="6.868747233839046e+172" dir="4.3310682305853715e+202">
              <a:srgbClr val="B9A98F">
                <a:alpha val="3.5e+20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205740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006840" y="213055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 rate at maturity (employer-side)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60920" y="3081528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326215729860157e+177" dist="8.723308986975589e+176" dir="2.598640938351223e+207">
              <a:srgbClr val="B9A98F">
                <a:alpha val="3.5000000000000004e+21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9520" y="3081528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260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006840" y="315468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job value (illustrative)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60920" y="4105656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9542939769223992e+181" dist="1.1078602413458997e+181" dir="1.5591845630107338e+212">
              <a:srgbClr val="B9A98F">
                <a:alpha val="3.500000000000001e+219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410565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3–5×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006840" y="417880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worker-to-job liquidity per suburb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360920" y="5129784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751953350691447e+185" dist="1.4069825065092926e+185" dir="9.355107378064403e+216">
              <a:srgbClr val="B9A98F">
                <a:alpha val="3.500000000000001e+224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89520" y="512978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006840" y="520293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at launch — WhatsApp &amp; referral led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planning scenarios, not forecasts — shown to demonstrate the model's shape.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one suburb at a time.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live or die on local liquidity. We saturate a handful of Gauteng suburbs before widening — density first, geography second.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764980755378138e+189" dist="1.7868677832668018e+189" dir="5.613064426838642e+221">
              <a:srgbClr val="B9A98F">
                <a:alpha val="3.500000000000001e+2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734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309981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Gauteng suburbs. Hit 3–5 workers per open job before expanding the next block.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051525559330235e+193" dist="2.2693220847488382e+193" dir="3.367838656103185e+226">
              <a:srgbClr val="B9A98F">
                <a:alpha val="3.500000000000001e+23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743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734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growth loops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40880" y="309981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job sharing + referral codes turn every user into a recruiter.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685437460349399e+197" dist="2.8820390476310245e+197" dir="2.020703193661911e+231">
              <a:srgbClr val="B9A98F">
                <a:alpha val="3.500000000000001e+23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34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as the wedge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479145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ratings make employers comfortable letting strangers into their homes.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2062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9.760505574643736e+201" dist="3.6601895904914013e+201" dir="1.2124219161971466e+236">
              <a:srgbClr val="B9A98F">
                <a:alpha val="3.500000000000001e+24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434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province by province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40880" y="479145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playbook: KZN, Western Cape, Eastern Cape.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Workit goes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2395842079797546e+206" dist="4.648440779924079e+205" dir="7.27453149718288e+240">
              <a:srgbClr val="B9A98F">
                <a:alpha val="3.500000000000001e+2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—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29260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shipped &amp; in 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trust + safety suite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jobs, portfolios, push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launch-ready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2544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5742719441342882e+210" dist="5.9035197905035806e+209" dir="4.364718898309728e+245">
              <a:srgbClr val="B9A98F">
                <a:alpha val="3.5000000000000007e+2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— 0–6 months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26864" y="3017520"/>
            <a:ext cx="29260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5464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SMS notifications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55464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escrow (cash → digital)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6864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55464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ops / community hire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55464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 saturation in Gauteng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5008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1.9993253690505461e+214" dist="7.497470133939547e+213" dir="2.6188313389858368e+250">
              <a:srgbClr val="B9A98F">
                <a:alpha val="3.5000000000000004e+25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39328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 — 6–18 months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39328" y="3017520"/>
            <a:ext cx="2926080" cy="0"/>
          </a:xfrm>
          <a:prstGeom prst="line">
            <a:avLst/>
          </a:prstGeom>
          <a:noFill/>
          <a:ln w="12700">
            <a:solidFill>
              <a:srgbClr val="3A2C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67928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9328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67928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payouts via bank partner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9328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67928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insurance + background checks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39328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67928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Province-by-province rollout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9328" y="546811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67928" y="546811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 / Sesotho translations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raising — and what it unlocks.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built, deployed and live. This is growth capital — to win local liquidity in Gauteng and prove the model. Two scenarios, same playbook: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6752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5391432186941937e+218" dist="9.521787070103225e+217" dir="1.571298803391502e+255">
              <a:srgbClr val="B9A98F">
                <a:alpha val="3.5000000000000003e+26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— LEAN LAUNCH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9443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months runway · founder-led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42062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3 Gauteng suburbs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46634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verified workers onboarded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5120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liquidity: 3–5 offers per job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577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55778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transactions live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514600"/>
            <a:ext cx="5367528" cy="3703320"/>
          </a:xfrm>
          <a:prstGeom prst="roundRect">
            <a:avLst>
              <a:gd name="adj" fmla="val 2963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3.224711887741626e+222" dist="1.2092669579031096e+222" dir="9.427792820349012e+259">
              <a:srgbClr val="B9A98F">
                <a:alpha val="3.5e+26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01384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ACCELERATED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9443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501384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months runway · first small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42062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42062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suburbs across Gauteng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1384" y="4663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39712" y="46634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workers · payments + escrow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1384" y="51206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9712" y="5120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hires: 1 dev + 1 ops/community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1384" y="5577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9712" y="55778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· positioned for seed round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R100,000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 — minimum lean-launch budget.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six-month, founder-led runway to prove liquidity in the first Gauteng suburbs. Every rand goes to demand, supply, and keeping the platform running.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250545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250545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0" y="23317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30,000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69880" y="2331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16936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/ verification ops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3090672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090672"/>
            <a:ext cx="2304288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9169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18,000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69880" y="2916936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&amp; community ambassadors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675888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675888"/>
            <a:ext cx="2048256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5021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16,000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69880" y="350215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087368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working capital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426110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4261104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408736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15,000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408736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72584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services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4846320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4846320"/>
            <a:ext cx="1536192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467258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12,000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69880" y="467258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25780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(POPIA, contracts)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543153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5431536"/>
            <a:ext cx="1152144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52578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9,000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69880" y="525780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952744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95274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59527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217920" y="595274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months · 3 suburbs · 500–1,000 verified workers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R500,000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 — accelerated-scale budget.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twelve-month runway with the first small team. Adds engineering capacity, payments and a real growth engine on top of everything the R100k plan already covers.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(contract dev + tooling)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247802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247802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0" y="2331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130,000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69880" y="23317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300837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00837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8620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130,000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69880" y="28620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&amp; community ambassador team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538728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538728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3924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65,000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69880" y="339242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/ verification ops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4069080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4069080"/>
            <a:ext cx="1772529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3922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60,000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392277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45312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scaling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4599432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4599432"/>
            <a:ext cx="1181686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44531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40,000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69880" y="44531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98348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working capital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512978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5129784"/>
            <a:ext cx="1181686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49834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40,000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69880" y="49834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51383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 &amp; insurance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937760" y="566013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5660136"/>
            <a:ext cx="1033975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55138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35,000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69880" y="55138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6153912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61539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61539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17920" y="615391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months · 10+ suburbs · ~5,000 workers · payments live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8" name="Shape 6"/>
          <p:cNvSpPr/>
          <p:nvPr/>
        </p:nvSpPr>
        <p:spPr>
          <a:xfrm>
            <a:off x="186537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1" name="Shape 9"/>
          <p:cNvSpPr/>
          <p:nvPr/>
        </p:nvSpPr>
        <p:spPr>
          <a:xfrm>
            <a:off x="279806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985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5" name="Shape 13"/>
          <p:cNvSpPr/>
          <p:nvPr/>
        </p:nvSpPr>
        <p:spPr>
          <a:xfrm>
            <a:off x="404164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9" name="Shape 17"/>
          <p:cNvSpPr/>
          <p:nvPr/>
        </p:nvSpPr>
        <p:spPr>
          <a:xfrm>
            <a:off x="528523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59612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590702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81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971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8329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9" name="Shape 27"/>
          <p:cNvSpPr/>
          <p:nvPr/>
        </p:nvSpPr>
        <p:spPr>
          <a:xfrm>
            <a:off x="839419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1" name="Shape 29"/>
          <p:cNvSpPr/>
          <p:nvPr/>
        </p:nvSpPr>
        <p:spPr>
          <a:xfrm>
            <a:off x="901598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3" name="Shape 31"/>
          <p:cNvSpPr/>
          <p:nvPr/>
        </p:nvSpPr>
        <p:spPr>
          <a:xfrm>
            <a:off x="963777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>
            <a:off x="994867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5956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7046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8136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9225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0315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1404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12494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Dignified work,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 at a time.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640080" y="41148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South African platform that turns the country's biggest problem — joblessness — into its biggest marketplace. Trust-first, mobile-first, built for the people who need it most.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539496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39496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pPr indent="0" marL="0">
              <a:buNone/>
            </a:pPr>
            <a:r>
              <a:rPr lang="en-US" sz="13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workitsa.co.za   ·   Tshepo M   ·   tshepowayne2@gmail.com   ·   Furthersky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Workit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Workit / Furthersky Solutions</dc:creator>
  <cp:lastModifiedBy>Workit / Furthersky Solutions</cp:lastModifiedBy>
  <cp:revision>1</cp:revision>
  <dcterms:created xsi:type="dcterms:W3CDTF">2026-09-16T07:59:34Z</dcterms:created>
  <dcterms:modified xsi:type="dcterms:W3CDTF">2026-09-16T07:59:34Z</dcterms:modified>
</cp:coreProperties>
</file>