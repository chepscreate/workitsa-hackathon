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in 10 seconds: 'I'm Tshepo, solo team Workitsa. WorkitSA is a live, verified gig-work marketplace that connects young South Africans to everyday work nearby. For this hackathon I built a WhatsApp job channel so even a worker with no data can find and accept work.' Say the challenge out loud: youth employment &amp; work readiness.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scores IMPACT. Land the human cost: a worker spends R30 of airtime and a R40 taxi to chase a job that was already taken. Keep it to ~20 seconds, then pivot to the solution.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scores PRODUCT. Stress it is LIVE, not a concept. Mention it's a PWA built for low-end Android and works in English, Afrikaans and Zulu. Screenshot: the find-work feed.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scores CREATIVITY and ties straight back to the challenge's 'transport and data barriers'. This is the NEW feature built during the weekend (hackathon rule for an existing app). Demo it live if you can; otherwise the WhatsApp screenshot carries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required USER-JOURNEY STORY. Tell it as one continuous sentence about a real person — judges remember a story, not a feature list. ~25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demo account + demo video link live on a slide. Create the judge account BEFORE submitting (Part 4). Paste the final video link here and on slide 10. WhatsApp demo line is +27 67 748 2643 — the founder's personal number is never shown.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scores INTELLIGENCE (a full 10 points most entries will miss). Emphasise the app learns from data patterns — matching, the live demand heatmap, and automatic fraud detection.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architecture + security. Judges from a bank care a lot about this. Hit MFA, ID verification, data residency in africa-south1, and POPIA.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scores SUSTAINABILITY + the required commercialisation strategy (needed because a WhatsApp bot is part of the entry). Know these four numbers cold. Break-even at ~500 jobs/month is very reachable in one metro.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IMPACT and land the mission in one line: 'Every verified job is a young person one step closer to income.' Make sure the demo-video link is pasted here and on slide 6 before you submit.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74920"/>
            <a:ext cx="12191695" cy="54864"/>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1463040"/>
          </a:xfrm>
          <a:prstGeom prst="rect">
            <a:avLst/>
          </a:prstGeom>
          <a:noFill/>
        </p:spPr>
        <p:txBody>
          <a:bodyPr wrap="square" anchor="t">
            <a:spAutoFit/>
          </a:bodyPr>
          <a:lstStyle/>
          <a:p>
            <a:pPr algn="l">
              <a:lnSpc>
                <a:spcPct val="100000"/>
              </a:lnSpc>
              <a:spcBef>
                <a:spcPts val="0"/>
              </a:spcBef>
              <a:spcAft>
                <a:spcPts val="600"/>
              </a:spcAft>
            </a:pPr>
            <a:r>
              <a:rPr sz="7200" b="1" i="0">
                <a:solidFill>
                  <a:srgbClr val="FAF4EC"/>
                </a:solidFill>
                <a:latin typeface="Calibri"/>
              </a:rPr>
              <a:t>Workit</a:t>
            </a:r>
            <a:r>
              <a:rPr sz="7200" b="1" i="0">
                <a:solidFill>
                  <a:srgbClr val="D97742"/>
                </a:solidFill>
                <a:latin typeface="Calibri"/>
              </a:rPr>
              <a:t>SA</a:t>
            </a:r>
          </a:p>
        </p:txBody>
      </p:sp>
      <p:sp>
        <p:nvSpPr>
          <p:cNvPr id="6" name="TextBox 5"/>
          <p:cNvSpPr txBox="1"/>
          <p:nvPr/>
        </p:nvSpPr>
        <p:spPr>
          <a:xfrm>
            <a:off x="868680" y="2697480"/>
            <a:ext cx="10515600" cy="822960"/>
          </a:xfrm>
          <a:prstGeom prst="rect">
            <a:avLst/>
          </a:prstGeom>
          <a:noFill/>
        </p:spPr>
        <p:txBody>
          <a:bodyPr wrap="square" anchor="t">
            <a:spAutoFit/>
          </a:bodyPr>
          <a:lstStyle/>
          <a:p>
            <a:pPr algn="l">
              <a:lnSpc>
                <a:spcPct val="105000"/>
              </a:lnSpc>
              <a:spcBef>
                <a:spcPts val="0"/>
              </a:spcBef>
              <a:spcAft>
                <a:spcPts val="600"/>
              </a:spcAft>
            </a:pPr>
            <a:r>
              <a:rPr sz="2400" b="0" i="0">
                <a:solidFill>
                  <a:srgbClr val="F5DBB5"/>
                </a:solidFill>
                <a:latin typeface="Calibri"/>
              </a:rPr>
              <a:t>Everyday work, found nearby — verified, trusted, low-data.</a:t>
            </a:r>
          </a:p>
        </p:txBody>
      </p:sp>
      <p:sp>
        <p:nvSpPr>
          <p:cNvPr id="7" name="Rounded Rectangle 6"/>
          <p:cNvSpPr/>
          <p:nvPr/>
        </p:nvSpPr>
        <p:spPr>
          <a:xfrm>
            <a:off x="868680" y="3794760"/>
            <a:ext cx="4315968" cy="329184"/>
          </a:xfrm>
          <a:prstGeom prst="round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18288" bIns="18288"/>
          <a:lstStyle/>
          <a:p>
            <a:pPr algn="ctr"/>
            <a:r>
              <a:rPr sz="1300" b="1">
                <a:solidFill>
                  <a:srgbClr val="FFFFFF"/>
                </a:solidFill>
                <a:latin typeface="Calibri"/>
              </a:rPr>
              <a:t>Challenge: Youth employment &amp; work readiness</a:t>
            </a:r>
          </a:p>
        </p:txBody>
      </p:sp>
      <p:sp>
        <p:nvSpPr>
          <p:cNvPr id="8" name="Rounded Rectangle 7"/>
          <p:cNvSpPr/>
          <p:nvPr/>
        </p:nvSpPr>
        <p:spPr>
          <a:xfrm>
            <a:off x="6309360" y="3794760"/>
            <a:ext cx="1339596" cy="329184"/>
          </a:xfrm>
          <a:prstGeom prst="roundRect">
            <a:avLst/>
          </a:prstGeom>
          <a:solidFill>
            <a:srgbClr val="A93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18288" bIns="18288"/>
          <a:lstStyle/>
          <a:p>
            <a:pPr algn="ctr"/>
            <a:r>
              <a:rPr sz="1300" b="1">
                <a:solidFill>
                  <a:srgbClr val="FFFFFF"/>
                </a:solidFill>
                <a:latin typeface="Calibri"/>
              </a:rPr>
              <a:t>#FNBHackathon</a:t>
            </a:r>
          </a:p>
        </p:txBody>
      </p:sp>
      <p:sp>
        <p:nvSpPr>
          <p:cNvPr id="9" name="TextBox 8"/>
          <p:cNvSpPr txBox="1"/>
          <p:nvPr/>
        </p:nvSpPr>
        <p:spPr>
          <a:xfrm>
            <a:off x="868680" y="5394960"/>
            <a:ext cx="10515600" cy="1188720"/>
          </a:xfrm>
          <a:prstGeom prst="rect">
            <a:avLst/>
          </a:prstGeom>
          <a:noFill/>
        </p:spPr>
        <p:txBody>
          <a:bodyPr wrap="square" anchor="t">
            <a:spAutoFit/>
          </a:bodyPr>
          <a:lstStyle/>
          <a:p>
            <a:pPr algn="l">
              <a:lnSpc>
                <a:spcPct val="105000"/>
              </a:lnSpc>
              <a:spcBef>
                <a:spcPts val="0"/>
              </a:spcBef>
              <a:spcAft>
                <a:spcPts val="400"/>
              </a:spcAft>
            </a:pPr>
            <a:r>
              <a:rPr sz="1600" b="1" i="0">
                <a:solidFill>
                  <a:srgbClr val="FAF4EC"/>
                </a:solidFill>
                <a:latin typeface="Calibri"/>
              </a:rPr>
              <a:t>Team Workitsa</a:t>
            </a:r>
            <a:r>
              <a:rPr sz="1600" b="0" i="0">
                <a:solidFill>
                  <a:srgbClr val="F5DBB5"/>
                </a:solidFill>
                <a:latin typeface="Calibri"/>
              </a:rPr>
              <a:t>   ·   solo entry   ·   live at workitsa.co.za</a:t>
            </a:r>
          </a:p>
          <a:p>
            <a:pPr algn="l">
              <a:lnSpc>
                <a:spcPct val="105000"/>
              </a:lnSpc>
              <a:spcBef>
                <a:spcPts val="0"/>
              </a:spcBef>
              <a:spcAft>
                <a:spcPts val="400"/>
              </a:spcAft>
            </a:pPr>
            <a:r>
              <a:rPr sz="1300" b="0" i="0">
                <a:solidFill>
                  <a:srgbClr val="F5DBB5"/>
                </a:solidFill>
                <a:latin typeface="Calibri"/>
              </a:rPr>
              <a:t>Tshepo Joshia Moyo</a:t>
            </a:r>
            <a:r>
              <a:rPr sz="1300" b="0" i="0">
                <a:solidFill>
                  <a:srgbClr val="8A7A6A"/>
                </a:solidFill>
                <a:latin typeface="Calibri"/>
              </a:rPr>
              <a:t>   ·   Futhersky Solutions (Pty) Ltd   ·   FNB App of the Year Hackathon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66928"/>
            <a:ext cx="457200" cy="82296"/>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13232"/>
            <a:ext cx="10058400" cy="365760"/>
          </a:xfrm>
          <a:prstGeom prst="rect">
            <a:avLst/>
          </a:prstGeom>
          <a:noFill/>
        </p:spPr>
        <p:txBody>
          <a:bodyPr wrap="square" anchor="t">
            <a:spAutoFit/>
          </a:bodyPr>
          <a:lstStyle/>
          <a:p>
            <a:pPr algn="l">
              <a:lnSpc>
                <a:spcPct val="105000"/>
              </a:lnSpc>
              <a:spcBef>
                <a:spcPts val="0"/>
              </a:spcBef>
              <a:spcAft>
                <a:spcPts val="600"/>
              </a:spcAft>
            </a:pPr>
            <a:r>
              <a:rPr sz="1500" b="1" i="0">
                <a:solidFill>
                  <a:srgbClr val="B45A2C"/>
                </a:solidFill>
                <a:latin typeface="Calibri"/>
              </a:rPr>
              <a:t>THE PROBLEM</a:t>
            </a:r>
          </a:p>
        </p:txBody>
      </p:sp>
      <p:sp>
        <p:nvSpPr>
          <p:cNvPr id="5" name="TextBox 4"/>
          <p:cNvSpPr txBox="1"/>
          <p:nvPr/>
        </p:nvSpPr>
        <p:spPr>
          <a:xfrm>
            <a:off x="548640" y="1024128"/>
            <a:ext cx="11064240" cy="1097280"/>
          </a:xfrm>
          <a:prstGeom prst="rect">
            <a:avLst/>
          </a:prstGeom>
          <a:noFill/>
        </p:spPr>
        <p:txBody>
          <a:bodyPr wrap="square" anchor="t">
            <a:spAutoFit/>
          </a:bodyPr>
          <a:lstStyle/>
          <a:p>
            <a:pPr algn="l">
              <a:lnSpc>
                <a:spcPct val="100000"/>
              </a:lnSpc>
              <a:spcBef>
                <a:spcPts val="0"/>
              </a:spcBef>
              <a:spcAft>
                <a:spcPts val="600"/>
              </a:spcAft>
            </a:pPr>
            <a:r>
              <a:rPr sz="3000" b="1" i="0">
                <a:solidFill>
                  <a:srgbClr val="1F1612"/>
                </a:solidFill>
                <a:latin typeface="Calibri"/>
              </a:rPr>
              <a:t>The willingness is there. The bridge to income isn't.</a:t>
            </a:r>
          </a:p>
        </p:txBody>
      </p:sp>
      <p:sp>
        <p:nvSpPr>
          <p:cNvPr id="6" name="TextBox 5"/>
          <p:cNvSpPr txBox="1"/>
          <p:nvPr/>
        </p:nvSpPr>
        <p:spPr>
          <a:xfrm>
            <a:off x="548640" y="1874519"/>
            <a:ext cx="6492240" cy="4572000"/>
          </a:xfrm>
          <a:prstGeom prst="rect">
            <a:avLst/>
          </a:prstGeom>
          <a:noFill/>
        </p:spPr>
        <p:txBody>
          <a:bodyPr wrap="square" anchor="t">
            <a:spAutoFit/>
          </a:bodyPr>
          <a:lstStyle/>
          <a:p>
            <a:pPr algn="l">
              <a:lnSpc>
                <a:spcPct val="104000"/>
              </a:lnSpc>
              <a:spcBef>
                <a:spcPts val="0"/>
              </a:spcBef>
              <a:spcAft>
                <a:spcPts val="1400"/>
              </a:spcAft>
            </a:pPr>
            <a:r>
              <a:rPr sz="1500" b="1" i="0">
                <a:solidFill>
                  <a:srgbClr val="D97742"/>
                </a:solidFill>
                <a:latin typeface="Calibri"/>
              </a:rPr>
              <a:t>▸  </a:t>
            </a:r>
            <a:r>
              <a:rPr sz="1500" b="1" i="0">
                <a:solidFill>
                  <a:srgbClr val="1F1612"/>
                </a:solidFill>
                <a:latin typeface="Calibri"/>
              </a:rPr>
              <a:t>Youth unemployment ~45%.  </a:t>
            </a:r>
            <a:r>
              <a:rPr sz="1500" b="0" i="0">
                <a:solidFill>
                  <a:srgbClr val="4A3A30"/>
                </a:solidFill>
                <a:latin typeface="Calibri"/>
              </a:rPr>
              <a:t>Nearly half of young South Africans (15–34) can't find work. [StatsSA QLFS]</a:t>
            </a:r>
          </a:p>
          <a:p>
            <a:pPr algn="l">
              <a:lnSpc>
                <a:spcPct val="104000"/>
              </a:lnSpc>
              <a:spcBef>
                <a:spcPts val="0"/>
              </a:spcBef>
              <a:spcAft>
                <a:spcPts val="1400"/>
              </a:spcAft>
            </a:pPr>
            <a:r>
              <a:rPr sz="1500" b="1" i="0">
                <a:solidFill>
                  <a:srgbClr val="D97742"/>
                </a:solidFill>
                <a:latin typeface="Calibri"/>
              </a:rPr>
              <a:t>▸  </a:t>
            </a:r>
            <a:r>
              <a:rPr sz="1500" b="1" i="0">
                <a:solidFill>
                  <a:srgbClr val="1F1612"/>
                </a:solidFill>
                <a:latin typeface="Calibri"/>
              </a:rPr>
              <a:t>Skills don't translate to income.  </a:t>
            </a:r>
            <a:r>
              <a:rPr sz="1500" b="0" i="0">
                <a:solidFill>
                  <a:srgbClr val="4A3A30"/>
                </a:solidFill>
                <a:latin typeface="Calibri"/>
              </a:rPr>
              <a:t>Millions have real, practical skills but no credible way to prove them to a stranger.</a:t>
            </a:r>
          </a:p>
          <a:p>
            <a:pPr algn="l">
              <a:lnSpc>
                <a:spcPct val="104000"/>
              </a:lnSpc>
              <a:spcBef>
                <a:spcPts val="0"/>
              </a:spcBef>
              <a:spcAft>
                <a:spcPts val="1400"/>
              </a:spcAft>
            </a:pPr>
            <a:r>
              <a:rPr sz="1500" b="1" i="0">
                <a:solidFill>
                  <a:srgbClr val="D97742"/>
                </a:solidFill>
                <a:latin typeface="Calibri"/>
              </a:rPr>
              <a:t>▸  </a:t>
            </a:r>
            <a:r>
              <a:rPr sz="1500" b="1" i="0">
                <a:solidFill>
                  <a:srgbClr val="1F1612"/>
                </a:solidFill>
                <a:latin typeface="Calibri"/>
              </a:rPr>
              <a:t>Looking for work costs money.  </a:t>
            </a:r>
            <a:r>
              <a:rPr sz="1500" b="0" i="0">
                <a:solidFill>
                  <a:srgbClr val="4A3A30"/>
                </a:solidFill>
                <a:latin typeface="Calibri"/>
              </a:rPr>
              <a:t>Job seekers burn scarce airtime, data and taxi fare chasing work that may not even exist.</a:t>
            </a:r>
          </a:p>
          <a:p>
            <a:pPr algn="l">
              <a:lnSpc>
                <a:spcPct val="104000"/>
              </a:lnSpc>
              <a:spcBef>
                <a:spcPts val="0"/>
              </a:spcBef>
              <a:spcAft>
                <a:spcPts val="1400"/>
              </a:spcAft>
            </a:pPr>
            <a:r>
              <a:rPr sz="1500" b="1" i="0">
                <a:solidFill>
                  <a:srgbClr val="D97742"/>
                </a:solidFill>
                <a:latin typeface="Calibri"/>
              </a:rPr>
              <a:t>▸  </a:t>
            </a:r>
            <a:r>
              <a:rPr sz="1500" b="1" i="0">
                <a:solidFill>
                  <a:srgbClr val="1F1612"/>
                </a:solidFill>
                <a:latin typeface="Calibri"/>
              </a:rPr>
              <a:t>Trust is the blocker.  </a:t>
            </a:r>
            <a:r>
              <a:rPr sz="1500" b="0" i="0">
                <a:solidFill>
                  <a:srgbClr val="4A3A30"/>
                </a:solidFill>
                <a:latin typeface="Calibri"/>
              </a:rPr>
              <a:t>Employers can't tell who's reliable or nearby, so informal work stays stuck in word-of-mouth.</a:t>
            </a:r>
          </a:p>
        </p:txBody>
      </p:sp>
      <p:sp>
        <p:nvSpPr>
          <p:cNvPr id="7" name="Rounded Rectangle 6"/>
          <p:cNvSpPr/>
          <p:nvPr/>
        </p:nvSpPr>
        <p:spPr>
          <a:xfrm>
            <a:off x="7315200" y="2011680"/>
            <a:ext cx="4297680" cy="3017520"/>
          </a:xfrm>
          <a:prstGeom prst="roundRect">
            <a:avLst/>
          </a:prstGeom>
          <a:solidFill>
            <a:srgbClr val="1F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2011680"/>
            <a:ext cx="4297680" cy="3017520"/>
          </a:xfrm>
          <a:prstGeom prst="rect">
            <a:avLst/>
          </a:prstGeom>
          <a:noFill/>
        </p:spPr>
        <p:txBody>
          <a:bodyPr wrap="square" anchor="ctr">
            <a:spAutoFit/>
          </a:bodyPr>
          <a:lstStyle/>
          <a:p>
            <a:pPr algn="ctr">
              <a:lnSpc>
                <a:spcPct val="105000"/>
              </a:lnSpc>
              <a:spcBef>
                <a:spcPts val="0"/>
              </a:spcBef>
              <a:spcAft>
                <a:spcPts val="800"/>
              </a:spcAft>
            </a:pPr>
            <a:r>
              <a:rPr sz="4000" b="1" i="0">
                <a:solidFill>
                  <a:srgbClr val="D97742"/>
                </a:solidFill>
                <a:latin typeface="Calibri"/>
              </a:rPr>
              <a:t>“</a:t>
            </a:r>
          </a:p>
          <a:p>
            <a:pPr algn="ctr">
              <a:lnSpc>
                <a:spcPct val="105000"/>
              </a:lnSpc>
              <a:spcBef>
                <a:spcPts val="0"/>
              </a:spcBef>
              <a:spcAft>
                <a:spcPts val="800"/>
              </a:spcAft>
            </a:pPr>
            <a:r>
              <a:rPr sz="2000" b="1" i="0">
                <a:solidFill>
                  <a:srgbClr val="FAF4EC"/>
                </a:solidFill>
                <a:latin typeface="Calibri"/>
              </a:rPr>
              <a:t>The gap isn't effort.</a:t>
            </a:r>
          </a:p>
          <a:p>
            <a:pPr algn="ctr">
              <a:lnSpc>
                <a:spcPct val="105000"/>
              </a:lnSpc>
              <a:spcBef>
                <a:spcPts val="0"/>
              </a:spcBef>
              <a:spcAft>
                <a:spcPts val="800"/>
              </a:spcAft>
            </a:pPr>
            <a:r>
              <a:rPr sz="1800" b="0" i="0">
                <a:solidFill>
                  <a:srgbClr val="F5DBB5"/>
                </a:solidFill>
                <a:latin typeface="Calibri"/>
              </a:rPr>
              <a:t>It's a trusted, low-data bridge between a worker and the next job.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66928"/>
            <a:ext cx="457200" cy="82296"/>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13232"/>
            <a:ext cx="10058400" cy="365760"/>
          </a:xfrm>
          <a:prstGeom prst="rect">
            <a:avLst/>
          </a:prstGeom>
          <a:noFill/>
        </p:spPr>
        <p:txBody>
          <a:bodyPr wrap="square" anchor="t">
            <a:spAutoFit/>
          </a:bodyPr>
          <a:lstStyle/>
          <a:p>
            <a:pPr algn="l">
              <a:lnSpc>
                <a:spcPct val="105000"/>
              </a:lnSpc>
              <a:spcBef>
                <a:spcPts val="0"/>
              </a:spcBef>
              <a:spcAft>
                <a:spcPts val="600"/>
              </a:spcAft>
            </a:pPr>
            <a:r>
              <a:rPr sz="1500" b="1" i="0">
                <a:solidFill>
                  <a:srgbClr val="B45A2C"/>
                </a:solidFill>
                <a:latin typeface="Calibri"/>
              </a:rPr>
              <a:t>THE SOLUTION — LIVE TODAY</a:t>
            </a:r>
          </a:p>
        </p:txBody>
      </p:sp>
      <p:sp>
        <p:nvSpPr>
          <p:cNvPr id="5" name="TextBox 4"/>
          <p:cNvSpPr txBox="1"/>
          <p:nvPr/>
        </p:nvSpPr>
        <p:spPr>
          <a:xfrm>
            <a:off x="548640" y="1024128"/>
            <a:ext cx="11064240" cy="1097280"/>
          </a:xfrm>
          <a:prstGeom prst="rect">
            <a:avLst/>
          </a:prstGeom>
          <a:noFill/>
        </p:spPr>
        <p:txBody>
          <a:bodyPr wrap="square" anchor="t">
            <a:spAutoFit/>
          </a:bodyPr>
          <a:lstStyle/>
          <a:p>
            <a:pPr algn="l">
              <a:lnSpc>
                <a:spcPct val="100000"/>
              </a:lnSpc>
              <a:spcBef>
                <a:spcPts val="0"/>
              </a:spcBef>
              <a:spcAft>
                <a:spcPts val="600"/>
              </a:spcAft>
            </a:pPr>
            <a:r>
              <a:rPr sz="3000" b="1" i="0">
                <a:solidFill>
                  <a:srgbClr val="1F1612"/>
                </a:solidFill>
                <a:latin typeface="Calibri"/>
              </a:rPr>
              <a:t>A verified, two-sided marketplace for everyday work.</a:t>
            </a:r>
          </a:p>
        </p:txBody>
      </p:sp>
      <p:sp>
        <p:nvSpPr>
          <p:cNvPr id="6" name="TextBox 5"/>
          <p:cNvSpPr txBox="1"/>
          <p:nvPr/>
        </p:nvSpPr>
        <p:spPr>
          <a:xfrm>
            <a:off x="548640" y="1828800"/>
            <a:ext cx="5943600" cy="4572000"/>
          </a:xfrm>
          <a:prstGeom prst="rect">
            <a:avLst/>
          </a:prstGeom>
          <a:noFill/>
        </p:spPr>
        <p:txBody>
          <a:bodyPr wrap="square" anchor="t">
            <a:spAutoFit/>
          </a:bodyPr>
          <a:lstStyle/>
          <a:p>
            <a:pPr algn="l">
              <a:lnSpc>
                <a:spcPct val="104000"/>
              </a:lnSpc>
              <a:spcBef>
                <a:spcPts val="0"/>
              </a:spcBef>
              <a:spcAft>
                <a:spcPts val="1100"/>
              </a:spcAft>
            </a:pPr>
            <a:r>
              <a:rPr sz="1450" b="1" i="0">
                <a:solidFill>
                  <a:srgbClr val="D97742"/>
                </a:solidFill>
                <a:latin typeface="Calibri"/>
              </a:rPr>
              <a:t>▸  </a:t>
            </a:r>
            <a:r>
              <a:rPr sz="1450" b="1" i="0">
                <a:solidFill>
                  <a:srgbClr val="1F1612"/>
                </a:solidFill>
                <a:latin typeface="Calibri"/>
              </a:rPr>
              <a:t>Post a job.  </a:t>
            </a:r>
            <a:r>
              <a:rPr sz="1450" b="0" i="0">
                <a:solidFill>
                  <a:srgbClr val="4A3A30"/>
                </a:solidFill>
                <a:latin typeface="Calibri"/>
              </a:rPr>
              <a:t>Employers post everyday work — cleaning, gardening, trades, deliveries, errands.</a:t>
            </a:r>
          </a:p>
          <a:p>
            <a:pPr algn="l">
              <a:lnSpc>
                <a:spcPct val="104000"/>
              </a:lnSpc>
              <a:spcBef>
                <a:spcPts val="0"/>
              </a:spcBef>
              <a:spcAft>
                <a:spcPts val="1100"/>
              </a:spcAft>
            </a:pPr>
            <a:r>
              <a:rPr sz="1450" b="1" i="0">
                <a:solidFill>
                  <a:srgbClr val="D97742"/>
                </a:solidFill>
                <a:latin typeface="Calibri"/>
              </a:rPr>
              <a:t>▸  </a:t>
            </a:r>
            <a:r>
              <a:rPr sz="1450" b="1" i="0">
                <a:solidFill>
                  <a:srgbClr val="1F1612"/>
                </a:solidFill>
                <a:latin typeface="Calibri"/>
              </a:rPr>
              <a:t>Get matched.  </a:t>
            </a:r>
            <a:r>
              <a:rPr sz="1450" b="0" i="0">
                <a:solidFill>
                  <a:srgbClr val="4A3A30"/>
                </a:solidFill>
                <a:latin typeface="Calibri"/>
              </a:rPr>
              <a:t>Nearby verified workers are alerted; they accept or counter-offer.</a:t>
            </a:r>
          </a:p>
          <a:p>
            <a:pPr algn="l">
              <a:lnSpc>
                <a:spcPct val="104000"/>
              </a:lnSpc>
              <a:spcBef>
                <a:spcPts val="0"/>
              </a:spcBef>
              <a:spcAft>
                <a:spcPts val="1100"/>
              </a:spcAft>
            </a:pPr>
            <a:r>
              <a:rPr sz="1450" b="1" i="0">
                <a:solidFill>
                  <a:srgbClr val="D97742"/>
                </a:solidFill>
                <a:latin typeface="Calibri"/>
              </a:rPr>
              <a:t>▸  </a:t>
            </a:r>
            <a:r>
              <a:rPr sz="1450" b="1" i="0">
                <a:solidFill>
                  <a:srgbClr val="1F1612"/>
                </a:solidFill>
                <a:latin typeface="Calibri"/>
              </a:rPr>
              <a:t>Get it done, get paid.  </a:t>
            </a:r>
            <a:r>
              <a:rPr sz="1450" b="0" i="0">
                <a:solidFill>
                  <a:srgbClr val="4A3A30"/>
                </a:solidFill>
                <a:latin typeface="Calibri"/>
              </a:rPr>
              <a:t>Work happens, paid in cash/EFT, both sides rate each other.</a:t>
            </a:r>
          </a:p>
          <a:p>
            <a:pPr algn="l">
              <a:lnSpc>
                <a:spcPct val="104000"/>
              </a:lnSpc>
              <a:spcBef>
                <a:spcPts val="0"/>
              </a:spcBef>
              <a:spcAft>
                <a:spcPts val="1100"/>
              </a:spcAft>
            </a:pPr>
            <a:r>
              <a:rPr sz="1450" b="1" i="0">
                <a:solidFill>
                  <a:srgbClr val="D97742"/>
                </a:solidFill>
                <a:latin typeface="Calibri"/>
              </a:rPr>
              <a:t>▸  </a:t>
            </a:r>
            <a:r>
              <a:rPr sz="1450" b="1" i="0">
                <a:solidFill>
                  <a:srgbClr val="1F1612"/>
                </a:solidFill>
                <a:latin typeface="Calibri"/>
              </a:rPr>
              <a:t>Build a record.  </a:t>
            </a:r>
            <a:r>
              <a:rPr sz="1450" b="0" i="0">
                <a:solidFill>
                  <a:srgbClr val="4A3A30"/>
                </a:solidFill>
                <a:latin typeface="Calibri"/>
              </a:rPr>
              <a:t>Every completed job becomes a portable, verifiable work history.</a:t>
            </a:r>
          </a:p>
          <a:p>
            <a:pPr algn="l">
              <a:lnSpc>
                <a:spcPct val="104000"/>
              </a:lnSpc>
              <a:spcBef>
                <a:spcPts val="0"/>
              </a:spcBef>
              <a:spcAft>
                <a:spcPts val="1100"/>
              </a:spcAft>
            </a:pPr>
            <a:r>
              <a:rPr sz="1450" b="1" i="0">
                <a:solidFill>
                  <a:srgbClr val="D97742"/>
                </a:solidFill>
                <a:latin typeface="Calibri"/>
              </a:rPr>
              <a:t>▸  </a:t>
            </a:r>
            <a:r>
              <a:rPr sz="1450" b="1" i="0">
                <a:solidFill>
                  <a:srgbClr val="1F1612"/>
                </a:solidFill>
                <a:latin typeface="Calibri"/>
              </a:rPr>
              <a:t>Trust-first.  </a:t>
            </a:r>
            <a:r>
              <a:rPr sz="1450" b="0" i="0">
                <a:solidFill>
                  <a:srgbClr val="4A3A30"/>
                </a:solidFill>
                <a:latin typeface="Calibri"/>
              </a:rPr>
              <a:t>Real-person ID checks, ratings, and time-stamped proof-of-work photos.</a:t>
            </a:r>
          </a:p>
        </p:txBody>
      </p:sp>
      <p:sp>
        <p:nvSpPr>
          <p:cNvPr id="7" name="Rounded Rectangle 6"/>
          <p:cNvSpPr/>
          <p:nvPr/>
        </p:nvSpPr>
        <p:spPr>
          <a:xfrm>
            <a:off x="6812280" y="1783080"/>
            <a:ext cx="4800600" cy="4297680"/>
          </a:xfrm>
          <a:prstGeom prst="roundRect">
            <a:avLst/>
          </a:prstGeom>
          <a:solidFill>
            <a:srgbClr val="FFFFFF"/>
          </a:solidFill>
          <a:ln w="19050">
            <a:solidFill>
              <a:srgbClr val="F5D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3520440"/>
            <a:ext cx="4800600" cy="822960"/>
          </a:xfrm>
          <a:prstGeom prst="rect">
            <a:avLst/>
          </a:prstGeom>
          <a:noFill/>
        </p:spPr>
        <p:txBody>
          <a:bodyPr wrap="square" anchor="ctr">
            <a:spAutoFit/>
          </a:bodyPr>
          <a:lstStyle/>
          <a:p>
            <a:pPr algn="ctr">
              <a:lnSpc>
                <a:spcPct val="105000"/>
              </a:lnSpc>
              <a:spcBef>
                <a:spcPts val="0"/>
              </a:spcBef>
              <a:spcAft>
                <a:spcPts val="200"/>
              </a:spcAft>
            </a:pPr>
            <a:r>
              <a:rPr sz="1300" b="1" i="0">
                <a:solidFill>
                  <a:srgbClr val="8A7A6A"/>
                </a:solidFill>
                <a:latin typeface="Calibri"/>
              </a:rPr>
              <a:t>[ SCREENSHOT ]</a:t>
            </a:r>
          </a:p>
          <a:p>
            <a:pPr algn="ctr">
              <a:lnSpc>
                <a:spcPct val="105000"/>
              </a:lnSpc>
              <a:spcBef>
                <a:spcPts val="0"/>
              </a:spcBef>
              <a:spcAft>
                <a:spcPts val="200"/>
              </a:spcAft>
            </a:pPr>
            <a:r>
              <a:rPr sz="1100" b="0" i="0">
                <a:solidFill>
                  <a:srgbClr val="8A7A6A"/>
                </a:solidFill>
                <a:latin typeface="Calibri"/>
              </a:rPr>
              <a:t>find-work job feed on a phone (workitsa.co.za/find-work)</a:t>
            </a:r>
          </a:p>
        </p:txBody>
      </p:sp>
      <p:sp>
        <p:nvSpPr>
          <p:cNvPr id="9" name="Rounded Rectangle 8"/>
          <p:cNvSpPr/>
          <p:nvPr/>
        </p:nvSpPr>
        <p:spPr>
          <a:xfrm>
            <a:off x="548640" y="5943600"/>
            <a:ext cx="4988051" cy="329184"/>
          </a:xfrm>
          <a:prstGeom prst="roundRect">
            <a:avLst/>
          </a:prstGeom>
          <a:solidFill>
            <a:srgbClr val="2F8F8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18288" bIns="18288"/>
          <a:lstStyle/>
          <a:p>
            <a:pPr algn="ctr"/>
            <a:r>
              <a:rPr sz="1200" b="1">
                <a:solidFill>
                  <a:srgbClr val="FFFFFF"/>
                </a:solidFill>
                <a:latin typeface="Calibri"/>
              </a:rPr>
              <a:t>Live PWA · Gauteng · low-end Android · en / af / zu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66928"/>
            <a:ext cx="5486400" cy="365760"/>
          </a:xfrm>
          <a:prstGeom prst="rect">
            <a:avLst/>
          </a:prstGeom>
          <a:noFill/>
        </p:spPr>
        <p:txBody>
          <a:bodyPr wrap="square" anchor="t">
            <a:spAutoFit/>
          </a:bodyPr>
          <a:lstStyle/>
          <a:p>
            <a:pPr algn="l">
              <a:lnSpc>
                <a:spcPct val="105000"/>
              </a:lnSpc>
              <a:spcBef>
                <a:spcPts val="0"/>
              </a:spcBef>
              <a:spcAft>
                <a:spcPts val="600"/>
              </a:spcAft>
            </a:pPr>
            <a:r>
              <a:rPr sz="1500" b="1" i="0">
                <a:solidFill>
                  <a:srgbClr val="D97742"/>
                </a:solidFill>
                <a:latin typeface="Calibri"/>
              </a:rPr>
              <a:t>BUILT AT THE HACKATHON</a:t>
            </a:r>
          </a:p>
        </p:txBody>
      </p:sp>
      <p:sp>
        <p:nvSpPr>
          <p:cNvPr id="5" name="TextBox 4"/>
          <p:cNvSpPr txBox="1"/>
          <p:nvPr/>
        </p:nvSpPr>
        <p:spPr>
          <a:xfrm>
            <a:off x="548640" y="960120"/>
            <a:ext cx="11064240" cy="1097280"/>
          </a:xfrm>
          <a:prstGeom prst="rect">
            <a:avLst/>
          </a:prstGeom>
          <a:noFill/>
        </p:spPr>
        <p:txBody>
          <a:bodyPr wrap="square" anchor="t">
            <a:spAutoFit/>
          </a:bodyPr>
          <a:lstStyle/>
          <a:p>
            <a:pPr algn="l">
              <a:lnSpc>
                <a:spcPct val="100000"/>
              </a:lnSpc>
              <a:spcBef>
                <a:spcPts val="0"/>
              </a:spcBef>
              <a:spcAft>
                <a:spcPts val="600"/>
              </a:spcAft>
            </a:pPr>
            <a:r>
              <a:rPr sz="2900" b="1" i="0">
                <a:solidFill>
                  <a:srgbClr val="FAF4EC"/>
                </a:solidFill>
                <a:latin typeface="Calibri"/>
              </a:rPr>
              <a:t>The WhatsApp Job Channel — no app, no data needed.</a:t>
            </a:r>
          </a:p>
        </p:txBody>
      </p:sp>
      <p:sp>
        <p:nvSpPr>
          <p:cNvPr id="6" name="TextBox 5"/>
          <p:cNvSpPr txBox="1"/>
          <p:nvPr/>
        </p:nvSpPr>
        <p:spPr>
          <a:xfrm>
            <a:off x="548640" y="1920240"/>
            <a:ext cx="6400800" cy="4572000"/>
          </a:xfrm>
          <a:prstGeom prst="rect">
            <a:avLst/>
          </a:prstGeom>
          <a:noFill/>
        </p:spPr>
        <p:txBody>
          <a:bodyPr wrap="square" anchor="t">
            <a:spAutoFit/>
          </a:bodyPr>
          <a:lstStyle/>
          <a:p>
            <a:pPr algn="l">
              <a:lnSpc>
                <a:spcPct val="104000"/>
              </a:lnSpc>
              <a:spcBef>
                <a:spcPts val="0"/>
              </a:spcBef>
              <a:spcAft>
                <a:spcPts val="900"/>
              </a:spcAft>
            </a:pPr>
            <a:r>
              <a:rPr sz="1450" b="1" i="0">
                <a:solidFill>
                  <a:srgbClr val="D97742"/>
                </a:solidFill>
                <a:latin typeface="Calibri"/>
              </a:rPr>
              <a:t>▸  </a:t>
            </a:r>
            <a:r>
              <a:rPr sz="1450" b="1" i="0">
                <a:solidFill>
                  <a:srgbClr val="1F1612"/>
                </a:solidFill>
                <a:latin typeface="Calibri"/>
              </a:rPr>
              <a:t>Meet workers where they are.  </a:t>
            </a:r>
            <a:r>
              <a:rPr sz="1450" b="0" i="0">
                <a:solidFill>
                  <a:srgbClr val="4A3A30"/>
                </a:solidFill>
                <a:latin typeface="Calibri"/>
              </a:rPr>
              <a:t>Many can't keep a data-hungry app open. WhatsApp, they already have.</a:t>
            </a:r>
          </a:p>
          <a:p>
            <a:pPr algn="l">
              <a:lnSpc>
                <a:spcPct val="104000"/>
              </a:lnSpc>
              <a:spcBef>
                <a:spcPts val="0"/>
              </a:spcBef>
              <a:spcAft>
                <a:spcPts val="900"/>
              </a:spcAft>
            </a:pPr>
            <a:r>
              <a:rPr sz="1450" b="1" i="0">
                <a:solidFill>
                  <a:srgbClr val="D97742"/>
                </a:solidFill>
                <a:latin typeface="Calibri"/>
              </a:rPr>
              <a:t>▸  </a:t>
            </a:r>
            <a:r>
              <a:rPr sz="1450" b="1" i="0">
                <a:solidFill>
                  <a:srgbClr val="1F1612"/>
                </a:solidFill>
                <a:latin typeface="Calibri"/>
              </a:rPr>
              <a:t>JOBS  </a:t>
            </a:r>
            <a:r>
              <a:rPr sz="1450" b="0" i="0">
                <a:solidFill>
                  <a:srgbClr val="4A3A30"/>
                </a:solidFill>
                <a:latin typeface="Calibri"/>
              </a:rPr>
              <a:t>→ get the nearby jobs that match you.</a:t>
            </a:r>
          </a:p>
          <a:p>
            <a:pPr algn="l">
              <a:lnSpc>
                <a:spcPct val="104000"/>
              </a:lnSpc>
              <a:spcBef>
                <a:spcPts val="0"/>
              </a:spcBef>
              <a:spcAft>
                <a:spcPts val="900"/>
              </a:spcAft>
            </a:pPr>
            <a:r>
              <a:rPr sz="1450" b="1" i="0">
                <a:solidFill>
                  <a:srgbClr val="D97742"/>
                </a:solidFill>
                <a:latin typeface="Calibri"/>
              </a:rPr>
              <a:t>▸  </a:t>
            </a:r>
            <a:r>
              <a:rPr sz="1450" b="1" i="0">
                <a:solidFill>
                  <a:srgbClr val="1F1612"/>
                </a:solidFill>
                <a:latin typeface="Calibri"/>
              </a:rPr>
              <a:t>ACCEPT 3  </a:t>
            </a:r>
            <a:r>
              <a:rPr sz="1450" b="0" i="0">
                <a:solidFill>
                  <a:srgbClr val="4A3A30"/>
                </a:solidFill>
                <a:latin typeface="Calibri"/>
              </a:rPr>
              <a:t>→ makes an offer to the employer instantly.</a:t>
            </a:r>
          </a:p>
          <a:p>
            <a:pPr algn="l">
              <a:lnSpc>
                <a:spcPct val="104000"/>
              </a:lnSpc>
              <a:spcBef>
                <a:spcPts val="0"/>
              </a:spcBef>
              <a:spcAft>
                <a:spcPts val="900"/>
              </a:spcAft>
            </a:pPr>
            <a:r>
              <a:rPr sz="1450" b="1" i="0">
                <a:solidFill>
                  <a:srgbClr val="D97742"/>
                </a:solidFill>
                <a:latin typeface="Calibri"/>
              </a:rPr>
              <a:t>▸  </a:t>
            </a:r>
            <a:r>
              <a:rPr sz="1450" b="1" i="0">
                <a:solidFill>
                  <a:srgbClr val="1F1612"/>
                </a:solidFill>
                <a:latin typeface="Calibri"/>
              </a:rPr>
              <a:t>ON MY WAY / DONE  </a:t>
            </a:r>
            <a:r>
              <a:rPr sz="1450" b="0" i="0">
                <a:solidFill>
                  <a:srgbClr val="4A3A30"/>
                </a:solidFill>
                <a:latin typeface="Calibri"/>
              </a:rPr>
              <a:t>→ update the job status by text.</a:t>
            </a:r>
          </a:p>
          <a:p>
            <a:pPr algn="l">
              <a:lnSpc>
                <a:spcPct val="104000"/>
              </a:lnSpc>
              <a:spcBef>
                <a:spcPts val="0"/>
              </a:spcBef>
              <a:spcAft>
                <a:spcPts val="900"/>
              </a:spcAft>
            </a:pPr>
            <a:r>
              <a:rPr sz="1450" b="1" i="0">
                <a:solidFill>
                  <a:srgbClr val="D97742"/>
                </a:solidFill>
                <a:latin typeface="Calibri"/>
              </a:rPr>
              <a:t>▸  </a:t>
            </a:r>
            <a:r>
              <a:rPr sz="1450" b="1" i="0">
                <a:solidFill>
                  <a:srgbClr val="1F1612"/>
                </a:solidFill>
                <a:latin typeface="Calibri"/>
              </a:rPr>
              <a:t>Push alerts  </a:t>
            </a:r>
            <a:r>
              <a:rPr sz="1450" b="0" i="0">
                <a:solidFill>
                  <a:srgbClr val="4A3A30"/>
                </a:solidFill>
                <a:latin typeface="Calibri"/>
              </a:rPr>
              <a:t>when a matching job appears within 10 km of you.</a:t>
            </a:r>
          </a:p>
          <a:p>
            <a:pPr algn="l">
              <a:lnSpc>
                <a:spcPct val="104000"/>
              </a:lnSpc>
              <a:spcBef>
                <a:spcPts val="0"/>
              </a:spcBef>
              <a:spcAft>
                <a:spcPts val="900"/>
              </a:spcAft>
            </a:pPr>
            <a:r>
              <a:rPr sz="1450" b="1" i="0">
                <a:solidFill>
                  <a:srgbClr val="D97742"/>
                </a:solidFill>
                <a:latin typeface="Calibri"/>
              </a:rPr>
              <a:t>▸  </a:t>
            </a:r>
            <a:r>
              <a:rPr sz="1450" b="1" i="0">
                <a:solidFill>
                  <a:srgbClr val="1F1612"/>
                </a:solidFill>
                <a:latin typeface="Calibri"/>
              </a:rPr>
              <a:t>POPIA-safe.  </a:t>
            </a:r>
            <a:r>
              <a:rPr sz="1450" b="0" i="0">
                <a:solidFill>
                  <a:srgbClr val="4A3A30"/>
                </a:solidFill>
                <a:latin typeface="Calibri"/>
              </a:rPr>
              <a:t>Opt-in, free STOP anytime, and no ID or personal data is ever sent over WhatsApp.</a:t>
            </a:r>
          </a:p>
        </p:txBody>
      </p:sp>
      <p:pic>
        <p:nvPicPr>
          <p:cNvPr id="7" name="Picture 6" descr="wa-jobs-offer.png"/>
          <p:cNvPicPr>
            <a:picLocks noChangeAspect="1"/>
          </p:cNvPicPr>
          <p:nvPr/>
        </p:nvPicPr>
        <p:blipFill>
          <a:blip r:embed="rId3"/>
          <a:stretch>
            <a:fillRect/>
          </a:stretch>
        </p:blipFill>
        <p:spPr>
          <a:xfrm>
            <a:off x="7468372" y="2148840"/>
            <a:ext cx="1922515" cy="4160520"/>
          </a:xfrm>
          <a:prstGeom prst="rect">
            <a:avLst/>
          </a:prstGeom>
          <a:ln w="12700">
            <a:solidFill>
              <a:srgbClr val="C9BCAF"/>
            </a:solidFill>
          </a:ln>
        </p:spPr>
      </p:pic>
      <p:pic>
        <p:nvPicPr>
          <p:cNvPr id="8" name="Picture 7" descr="wa-full-arc.png"/>
          <p:cNvPicPr>
            <a:picLocks noChangeAspect="1"/>
          </p:cNvPicPr>
          <p:nvPr/>
        </p:nvPicPr>
        <p:blipFill>
          <a:blip r:embed="rId4"/>
          <a:stretch>
            <a:fillRect/>
          </a:stretch>
        </p:blipFill>
        <p:spPr>
          <a:xfrm>
            <a:off x="9518904" y="2148840"/>
            <a:ext cx="1922515" cy="4160520"/>
          </a:xfrm>
          <a:prstGeom prst="rect">
            <a:avLst/>
          </a:prstGeom>
          <a:ln w="12700">
            <a:solidFill>
              <a:srgbClr val="C9BCAF"/>
            </a:solidFill>
          </a:ln>
        </p:spPr>
      </p:pic>
      <p:sp>
        <p:nvSpPr>
          <p:cNvPr id="9" name="TextBox 8"/>
          <p:cNvSpPr txBox="1"/>
          <p:nvPr/>
        </p:nvSpPr>
        <p:spPr>
          <a:xfrm>
            <a:off x="7376932" y="6336792"/>
            <a:ext cx="2105395" cy="274320"/>
          </a:xfrm>
          <a:prstGeom prst="rect">
            <a:avLst/>
          </a:prstGeom>
          <a:noFill/>
        </p:spPr>
        <p:txBody>
          <a:bodyPr wrap="square">
            <a:spAutoFit/>
          </a:bodyPr>
          <a:lstStyle/>
          <a:p>
            <a:pPr algn="ctr"/>
            <a:r>
              <a:rPr sz="1000" i="1">
                <a:solidFill>
                  <a:srgbClr val="D8CFC4"/>
                </a:solidFill>
              </a:rPr>
              <a:t>Find &amp; offer</a:t>
            </a:r>
          </a:p>
        </p:txBody>
      </p:sp>
      <p:sp>
        <p:nvSpPr>
          <p:cNvPr id="10" name="TextBox 9"/>
          <p:cNvSpPr txBox="1"/>
          <p:nvPr/>
        </p:nvSpPr>
        <p:spPr>
          <a:xfrm>
            <a:off x="9427464" y="6336792"/>
            <a:ext cx="2105395" cy="274320"/>
          </a:xfrm>
          <a:prstGeom prst="rect">
            <a:avLst/>
          </a:prstGeom>
          <a:noFill/>
        </p:spPr>
        <p:txBody>
          <a:bodyPr wrap="square">
            <a:spAutoFit/>
          </a:bodyPr>
          <a:lstStyle/>
          <a:p>
            <a:pPr algn="ctr"/>
            <a:r>
              <a:rPr sz="1000" i="1">
                <a:solidFill>
                  <a:srgbClr val="D8CFC4"/>
                </a:solidFill>
              </a:rPr>
              <a:t>Do it &amp; get paid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66928"/>
            <a:ext cx="457200" cy="82296"/>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13232"/>
            <a:ext cx="10058400" cy="365760"/>
          </a:xfrm>
          <a:prstGeom prst="rect">
            <a:avLst/>
          </a:prstGeom>
          <a:noFill/>
        </p:spPr>
        <p:txBody>
          <a:bodyPr wrap="square" anchor="t">
            <a:spAutoFit/>
          </a:bodyPr>
          <a:lstStyle/>
          <a:p>
            <a:pPr algn="l">
              <a:lnSpc>
                <a:spcPct val="105000"/>
              </a:lnSpc>
              <a:spcBef>
                <a:spcPts val="0"/>
              </a:spcBef>
              <a:spcAft>
                <a:spcPts val="600"/>
              </a:spcAft>
            </a:pPr>
            <a:r>
              <a:rPr sz="1500" b="1" i="0">
                <a:solidFill>
                  <a:srgbClr val="B45A2C"/>
                </a:solidFill>
                <a:latin typeface="Calibri"/>
              </a:rPr>
              <a:t>USER JOURNEY</a:t>
            </a:r>
          </a:p>
        </p:txBody>
      </p:sp>
      <p:sp>
        <p:nvSpPr>
          <p:cNvPr id="5" name="TextBox 4"/>
          <p:cNvSpPr txBox="1"/>
          <p:nvPr/>
        </p:nvSpPr>
        <p:spPr>
          <a:xfrm>
            <a:off x="548640" y="1024128"/>
            <a:ext cx="11064240" cy="1097280"/>
          </a:xfrm>
          <a:prstGeom prst="rect">
            <a:avLst/>
          </a:prstGeom>
          <a:noFill/>
        </p:spPr>
        <p:txBody>
          <a:bodyPr wrap="square" anchor="t">
            <a:spAutoFit/>
          </a:bodyPr>
          <a:lstStyle/>
          <a:p>
            <a:pPr algn="l">
              <a:lnSpc>
                <a:spcPct val="100000"/>
              </a:lnSpc>
              <a:spcBef>
                <a:spcPts val="0"/>
              </a:spcBef>
              <a:spcAft>
                <a:spcPts val="600"/>
              </a:spcAft>
            </a:pPr>
            <a:r>
              <a:rPr sz="3000" b="1" i="0">
                <a:solidFill>
                  <a:srgbClr val="1F1612"/>
                </a:solidFill>
                <a:latin typeface="Calibri"/>
              </a:rPr>
              <a:t>Thabo's first R450.</a:t>
            </a:r>
          </a:p>
        </p:txBody>
      </p:sp>
      <p:sp>
        <p:nvSpPr>
          <p:cNvPr id="6" name="Rounded Rectangle 5"/>
          <p:cNvSpPr/>
          <p:nvPr/>
        </p:nvSpPr>
        <p:spPr>
          <a:xfrm>
            <a:off x="548640" y="1920240"/>
            <a:ext cx="3520440" cy="1600200"/>
          </a:xfrm>
          <a:prstGeom prst="roundRect">
            <a:avLst/>
          </a:prstGeom>
          <a:solidFill>
            <a:srgbClr val="FFFFFF"/>
          </a:solidFill>
          <a:ln w="15875">
            <a:solidFill>
              <a:srgbClr val="F5D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2103120"/>
            <a:ext cx="457200" cy="457200"/>
          </a:xfrm>
          <a:prstGeom prst="ellipse">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1</a:t>
            </a:r>
          </a:p>
        </p:txBody>
      </p:sp>
      <p:sp>
        <p:nvSpPr>
          <p:cNvPr id="8" name="TextBox 7"/>
          <p:cNvSpPr txBox="1"/>
          <p:nvPr/>
        </p:nvSpPr>
        <p:spPr>
          <a:xfrm>
            <a:off x="731520" y="2633472"/>
            <a:ext cx="3154680" cy="777240"/>
          </a:xfrm>
          <a:prstGeom prst="rect">
            <a:avLst/>
          </a:prstGeom>
          <a:noFill/>
        </p:spPr>
        <p:txBody>
          <a:bodyPr wrap="square" anchor="t">
            <a:spAutoFit/>
          </a:bodyPr>
          <a:lstStyle/>
          <a:p>
            <a:pPr algn="l">
              <a:lnSpc>
                <a:spcPct val="100000"/>
              </a:lnSpc>
              <a:spcBef>
                <a:spcPts val="0"/>
              </a:spcBef>
              <a:spcAft>
                <a:spcPts val="300"/>
              </a:spcAft>
            </a:pPr>
            <a:r>
              <a:rPr sz="1600" b="1" i="0">
                <a:solidFill>
                  <a:srgbClr val="1F1612"/>
                </a:solidFill>
                <a:latin typeface="Calibri"/>
              </a:rPr>
              <a:t>Sign up free</a:t>
            </a:r>
          </a:p>
          <a:p>
            <a:pPr algn="l">
              <a:lnSpc>
                <a:spcPct val="100000"/>
              </a:lnSpc>
              <a:spcBef>
                <a:spcPts val="0"/>
              </a:spcBef>
              <a:spcAft>
                <a:spcPts val="300"/>
              </a:spcAft>
            </a:pPr>
            <a:r>
              <a:rPr sz="1250" b="0" i="0">
                <a:solidFill>
                  <a:srgbClr val="4A3A30"/>
                </a:solidFill>
                <a:latin typeface="Calibri"/>
              </a:rPr>
              <a:t>on his phone — or straight from WhatsApp.</a:t>
            </a:r>
          </a:p>
        </p:txBody>
      </p:sp>
      <p:sp>
        <p:nvSpPr>
          <p:cNvPr id="9" name="Rounded Rectangle 8"/>
          <p:cNvSpPr/>
          <p:nvPr/>
        </p:nvSpPr>
        <p:spPr>
          <a:xfrm>
            <a:off x="4224528" y="1920240"/>
            <a:ext cx="3520440" cy="1600200"/>
          </a:xfrm>
          <a:prstGeom prst="roundRect">
            <a:avLst/>
          </a:prstGeom>
          <a:solidFill>
            <a:srgbClr val="FFFFFF"/>
          </a:solidFill>
          <a:ln w="15875">
            <a:solidFill>
              <a:srgbClr val="F5D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07408" y="2103120"/>
            <a:ext cx="457200" cy="457200"/>
          </a:xfrm>
          <a:prstGeom prst="ellipse">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2</a:t>
            </a:r>
          </a:p>
        </p:txBody>
      </p:sp>
      <p:sp>
        <p:nvSpPr>
          <p:cNvPr id="11" name="TextBox 10"/>
          <p:cNvSpPr txBox="1"/>
          <p:nvPr/>
        </p:nvSpPr>
        <p:spPr>
          <a:xfrm>
            <a:off x="4407408" y="2633472"/>
            <a:ext cx="3154680" cy="777240"/>
          </a:xfrm>
          <a:prstGeom prst="rect">
            <a:avLst/>
          </a:prstGeom>
          <a:noFill/>
        </p:spPr>
        <p:txBody>
          <a:bodyPr wrap="square" anchor="t">
            <a:spAutoFit/>
          </a:bodyPr>
          <a:lstStyle/>
          <a:p>
            <a:pPr algn="l">
              <a:lnSpc>
                <a:spcPct val="100000"/>
              </a:lnSpc>
              <a:spcBef>
                <a:spcPts val="0"/>
              </a:spcBef>
              <a:spcAft>
                <a:spcPts val="300"/>
              </a:spcAft>
            </a:pPr>
            <a:r>
              <a:rPr sz="1600" b="1" i="0">
                <a:solidFill>
                  <a:srgbClr val="1F1612"/>
                </a:solidFill>
                <a:latin typeface="Calibri"/>
              </a:rPr>
              <a:t>Verify once</a:t>
            </a:r>
          </a:p>
          <a:p>
            <a:pPr algn="l">
              <a:lnSpc>
                <a:spcPct val="100000"/>
              </a:lnSpc>
              <a:spcBef>
                <a:spcPts val="0"/>
              </a:spcBef>
              <a:spcAft>
                <a:spcPts val="300"/>
              </a:spcAft>
            </a:pPr>
            <a:r>
              <a:rPr sz="1250" b="0" i="0">
                <a:solidFill>
                  <a:srgbClr val="4A3A30"/>
                </a:solidFill>
                <a:latin typeface="Calibri"/>
              </a:rPr>
              <a:t>ID checked by a real person.</a:t>
            </a:r>
          </a:p>
        </p:txBody>
      </p:sp>
      <p:sp>
        <p:nvSpPr>
          <p:cNvPr id="12" name="Rounded Rectangle 11"/>
          <p:cNvSpPr/>
          <p:nvPr/>
        </p:nvSpPr>
        <p:spPr>
          <a:xfrm>
            <a:off x="7900416" y="1920240"/>
            <a:ext cx="3520440" cy="1600200"/>
          </a:xfrm>
          <a:prstGeom prst="roundRect">
            <a:avLst/>
          </a:prstGeom>
          <a:solidFill>
            <a:srgbClr val="FFFFFF"/>
          </a:solidFill>
          <a:ln w="15875">
            <a:solidFill>
              <a:srgbClr val="F5D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083296" y="2103120"/>
            <a:ext cx="457200" cy="457200"/>
          </a:xfrm>
          <a:prstGeom prst="ellipse">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3</a:t>
            </a:r>
          </a:p>
        </p:txBody>
      </p:sp>
      <p:sp>
        <p:nvSpPr>
          <p:cNvPr id="14" name="TextBox 13"/>
          <p:cNvSpPr txBox="1"/>
          <p:nvPr/>
        </p:nvSpPr>
        <p:spPr>
          <a:xfrm>
            <a:off x="8083296" y="2633472"/>
            <a:ext cx="3154680" cy="777240"/>
          </a:xfrm>
          <a:prstGeom prst="rect">
            <a:avLst/>
          </a:prstGeom>
          <a:noFill/>
        </p:spPr>
        <p:txBody>
          <a:bodyPr wrap="square" anchor="t">
            <a:spAutoFit/>
          </a:bodyPr>
          <a:lstStyle/>
          <a:p>
            <a:pPr algn="l">
              <a:lnSpc>
                <a:spcPct val="100000"/>
              </a:lnSpc>
              <a:spcBef>
                <a:spcPts val="0"/>
              </a:spcBef>
              <a:spcAft>
                <a:spcPts val="300"/>
              </a:spcAft>
            </a:pPr>
            <a:r>
              <a:rPr sz="1600" b="1" i="0">
                <a:solidFill>
                  <a:srgbClr val="1F1612"/>
                </a:solidFill>
                <a:latin typeface="Calibri"/>
              </a:rPr>
              <a:t>Get alerted</a:t>
            </a:r>
          </a:p>
          <a:p>
            <a:pPr algn="l">
              <a:lnSpc>
                <a:spcPct val="100000"/>
              </a:lnSpc>
              <a:spcBef>
                <a:spcPts val="0"/>
              </a:spcBef>
              <a:spcAft>
                <a:spcPts val="300"/>
              </a:spcAft>
            </a:pPr>
            <a:r>
              <a:rPr sz="1250" b="0" i="0">
                <a:solidFill>
                  <a:srgbClr val="4A3A30"/>
                </a:solidFill>
                <a:latin typeface="Calibri"/>
              </a:rPr>
              <a:t>“Fix a leaking tap · R450 · Alberton.”</a:t>
            </a:r>
          </a:p>
        </p:txBody>
      </p:sp>
      <p:sp>
        <p:nvSpPr>
          <p:cNvPr id="15" name="Rounded Rectangle 14"/>
          <p:cNvSpPr/>
          <p:nvPr/>
        </p:nvSpPr>
        <p:spPr>
          <a:xfrm>
            <a:off x="548640" y="3794760"/>
            <a:ext cx="3520440" cy="1600200"/>
          </a:xfrm>
          <a:prstGeom prst="roundRect">
            <a:avLst/>
          </a:prstGeom>
          <a:solidFill>
            <a:srgbClr val="FFFFFF"/>
          </a:solidFill>
          <a:ln w="15875">
            <a:solidFill>
              <a:srgbClr val="F5D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3977640"/>
            <a:ext cx="457200" cy="457200"/>
          </a:xfrm>
          <a:prstGeom prst="ellipse">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4</a:t>
            </a:r>
          </a:p>
        </p:txBody>
      </p:sp>
      <p:sp>
        <p:nvSpPr>
          <p:cNvPr id="17" name="TextBox 16"/>
          <p:cNvSpPr txBox="1"/>
          <p:nvPr/>
        </p:nvSpPr>
        <p:spPr>
          <a:xfrm>
            <a:off x="731520" y="4507992"/>
            <a:ext cx="3154680" cy="777240"/>
          </a:xfrm>
          <a:prstGeom prst="rect">
            <a:avLst/>
          </a:prstGeom>
          <a:noFill/>
        </p:spPr>
        <p:txBody>
          <a:bodyPr wrap="square" anchor="t">
            <a:spAutoFit/>
          </a:bodyPr>
          <a:lstStyle/>
          <a:p>
            <a:pPr algn="l">
              <a:lnSpc>
                <a:spcPct val="100000"/>
              </a:lnSpc>
              <a:spcBef>
                <a:spcPts val="0"/>
              </a:spcBef>
              <a:spcAft>
                <a:spcPts val="300"/>
              </a:spcAft>
            </a:pPr>
            <a:r>
              <a:rPr sz="1600" b="1" i="0">
                <a:solidFill>
                  <a:srgbClr val="1F1612"/>
                </a:solidFill>
                <a:latin typeface="Calibri"/>
              </a:rPr>
              <a:t>Accept</a:t>
            </a:r>
          </a:p>
          <a:p>
            <a:pPr algn="l">
              <a:lnSpc>
                <a:spcPct val="100000"/>
              </a:lnSpc>
              <a:spcBef>
                <a:spcPts val="0"/>
              </a:spcBef>
              <a:spcAft>
                <a:spcPts val="300"/>
              </a:spcAft>
            </a:pPr>
            <a:r>
              <a:rPr sz="1250" b="0" i="0">
                <a:solidFill>
                  <a:srgbClr val="4A3A30"/>
                </a:solidFill>
                <a:latin typeface="Calibri"/>
              </a:rPr>
              <a:t>replies ACCEPT — offer reaches the employer.</a:t>
            </a:r>
          </a:p>
        </p:txBody>
      </p:sp>
      <p:sp>
        <p:nvSpPr>
          <p:cNvPr id="18" name="Rounded Rectangle 17"/>
          <p:cNvSpPr/>
          <p:nvPr/>
        </p:nvSpPr>
        <p:spPr>
          <a:xfrm>
            <a:off x="4224528" y="3794760"/>
            <a:ext cx="3520440" cy="1600200"/>
          </a:xfrm>
          <a:prstGeom prst="roundRect">
            <a:avLst/>
          </a:prstGeom>
          <a:solidFill>
            <a:srgbClr val="FFFFFF"/>
          </a:solidFill>
          <a:ln w="15875">
            <a:solidFill>
              <a:srgbClr val="F5D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07408" y="3977640"/>
            <a:ext cx="457200" cy="457200"/>
          </a:xfrm>
          <a:prstGeom prst="ellipse">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5</a:t>
            </a:r>
          </a:p>
        </p:txBody>
      </p:sp>
      <p:sp>
        <p:nvSpPr>
          <p:cNvPr id="20" name="TextBox 19"/>
          <p:cNvSpPr txBox="1"/>
          <p:nvPr/>
        </p:nvSpPr>
        <p:spPr>
          <a:xfrm>
            <a:off x="4407408" y="4507992"/>
            <a:ext cx="3154680" cy="777240"/>
          </a:xfrm>
          <a:prstGeom prst="rect">
            <a:avLst/>
          </a:prstGeom>
          <a:noFill/>
        </p:spPr>
        <p:txBody>
          <a:bodyPr wrap="square" anchor="t">
            <a:spAutoFit/>
          </a:bodyPr>
          <a:lstStyle/>
          <a:p>
            <a:pPr algn="l">
              <a:lnSpc>
                <a:spcPct val="100000"/>
              </a:lnSpc>
              <a:spcBef>
                <a:spcPts val="0"/>
              </a:spcBef>
              <a:spcAft>
                <a:spcPts val="300"/>
              </a:spcAft>
            </a:pPr>
            <a:r>
              <a:rPr sz="1600" b="1" i="0">
                <a:solidFill>
                  <a:srgbClr val="1F1612"/>
                </a:solidFill>
                <a:latin typeface="Calibri"/>
              </a:rPr>
              <a:t>Do the work</a:t>
            </a:r>
          </a:p>
          <a:p>
            <a:pPr algn="l">
              <a:lnSpc>
                <a:spcPct val="100000"/>
              </a:lnSpc>
              <a:spcBef>
                <a:spcPts val="0"/>
              </a:spcBef>
              <a:spcAft>
                <a:spcPts val="300"/>
              </a:spcAft>
            </a:pPr>
            <a:r>
              <a:rPr sz="1250" b="0" i="0">
                <a:solidFill>
                  <a:srgbClr val="4A3A30"/>
                </a:solidFill>
                <a:latin typeface="Calibri"/>
              </a:rPr>
              <a:t>marks DONE, uploads a time-stamped photo.</a:t>
            </a:r>
          </a:p>
        </p:txBody>
      </p:sp>
      <p:sp>
        <p:nvSpPr>
          <p:cNvPr id="21" name="Rounded Rectangle 20"/>
          <p:cNvSpPr/>
          <p:nvPr/>
        </p:nvSpPr>
        <p:spPr>
          <a:xfrm>
            <a:off x="7900416" y="3794760"/>
            <a:ext cx="3520440" cy="1600200"/>
          </a:xfrm>
          <a:prstGeom prst="roundRect">
            <a:avLst/>
          </a:prstGeom>
          <a:solidFill>
            <a:srgbClr val="FFFFFF"/>
          </a:solidFill>
          <a:ln w="15875">
            <a:solidFill>
              <a:srgbClr val="F5D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83296" y="3977640"/>
            <a:ext cx="457200" cy="457200"/>
          </a:xfrm>
          <a:prstGeom prst="ellipse">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6</a:t>
            </a:r>
          </a:p>
        </p:txBody>
      </p:sp>
      <p:sp>
        <p:nvSpPr>
          <p:cNvPr id="23" name="TextBox 22"/>
          <p:cNvSpPr txBox="1"/>
          <p:nvPr/>
        </p:nvSpPr>
        <p:spPr>
          <a:xfrm>
            <a:off x="8083296" y="4507992"/>
            <a:ext cx="3154680" cy="777240"/>
          </a:xfrm>
          <a:prstGeom prst="rect">
            <a:avLst/>
          </a:prstGeom>
          <a:noFill/>
        </p:spPr>
        <p:txBody>
          <a:bodyPr wrap="square" anchor="t">
            <a:spAutoFit/>
          </a:bodyPr>
          <a:lstStyle/>
          <a:p>
            <a:pPr algn="l">
              <a:lnSpc>
                <a:spcPct val="100000"/>
              </a:lnSpc>
              <a:spcBef>
                <a:spcPts val="0"/>
              </a:spcBef>
              <a:spcAft>
                <a:spcPts val="300"/>
              </a:spcAft>
            </a:pPr>
            <a:r>
              <a:rPr sz="1600" b="1" i="0">
                <a:solidFill>
                  <a:srgbClr val="1F1612"/>
                </a:solidFill>
                <a:latin typeface="Calibri"/>
              </a:rPr>
              <a:t>Get paid &amp; rated</a:t>
            </a:r>
          </a:p>
          <a:p>
            <a:pPr algn="l">
              <a:lnSpc>
                <a:spcPct val="100000"/>
              </a:lnSpc>
              <a:spcBef>
                <a:spcPts val="0"/>
              </a:spcBef>
              <a:spcAft>
                <a:spcPts val="300"/>
              </a:spcAft>
            </a:pPr>
            <a:r>
              <a:rPr sz="1250" b="0" i="0">
                <a:solidFill>
                  <a:srgbClr val="4A3A30"/>
                </a:solidFill>
                <a:latin typeface="Calibri"/>
              </a:rPr>
              <a:t>and keeps a verifiable record for next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66928"/>
            <a:ext cx="5486400" cy="365760"/>
          </a:xfrm>
          <a:prstGeom prst="rect">
            <a:avLst/>
          </a:prstGeom>
          <a:noFill/>
        </p:spPr>
        <p:txBody>
          <a:bodyPr wrap="square" anchor="t">
            <a:spAutoFit/>
          </a:bodyPr>
          <a:lstStyle/>
          <a:p>
            <a:pPr algn="l">
              <a:lnSpc>
                <a:spcPct val="105000"/>
              </a:lnSpc>
              <a:spcBef>
                <a:spcPts val="0"/>
              </a:spcBef>
              <a:spcAft>
                <a:spcPts val="600"/>
              </a:spcAft>
            </a:pPr>
            <a:r>
              <a:rPr sz="1500" b="1" i="0">
                <a:solidFill>
                  <a:srgbClr val="D97742"/>
                </a:solidFill>
                <a:latin typeface="Calibri"/>
              </a:rPr>
              <a:t>TRY IT YOURSELF</a:t>
            </a:r>
          </a:p>
        </p:txBody>
      </p:sp>
      <p:sp>
        <p:nvSpPr>
          <p:cNvPr id="5" name="TextBox 4"/>
          <p:cNvSpPr txBox="1"/>
          <p:nvPr/>
        </p:nvSpPr>
        <p:spPr>
          <a:xfrm>
            <a:off x="548640" y="960120"/>
            <a:ext cx="11064240" cy="1097280"/>
          </a:xfrm>
          <a:prstGeom prst="rect">
            <a:avLst/>
          </a:prstGeom>
          <a:noFill/>
        </p:spPr>
        <p:txBody>
          <a:bodyPr wrap="square" anchor="t">
            <a:spAutoFit/>
          </a:bodyPr>
          <a:lstStyle/>
          <a:p>
            <a:pPr algn="l">
              <a:lnSpc>
                <a:spcPct val="100000"/>
              </a:lnSpc>
              <a:spcBef>
                <a:spcPts val="0"/>
              </a:spcBef>
              <a:spcAft>
                <a:spcPts val="600"/>
              </a:spcAft>
            </a:pPr>
            <a:r>
              <a:rPr sz="2900" b="1" i="0">
                <a:solidFill>
                  <a:srgbClr val="FAF4EC"/>
                </a:solidFill>
                <a:latin typeface="Calibri"/>
              </a:rPr>
              <a:t>Demo details for the judges.</a:t>
            </a:r>
          </a:p>
        </p:txBody>
      </p:sp>
      <p:sp>
        <p:nvSpPr>
          <p:cNvPr id="6" name="Rounded Rectangle 5"/>
          <p:cNvSpPr/>
          <p:nvPr/>
        </p:nvSpPr>
        <p:spPr>
          <a:xfrm>
            <a:off x="548640" y="1965960"/>
            <a:ext cx="2834640" cy="621792"/>
          </a:xfrm>
          <a:prstGeom prst="round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65960"/>
            <a:ext cx="2834640" cy="621792"/>
          </a:xfrm>
          <a:prstGeom prst="rect">
            <a:avLst/>
          </a:prstGeom>
          <a:noFill/>
        </p:spPr>
        <p:txBody>
          <a:bodyPr wrap="square" anchor="ctr">
            <a:spAutoFit/>
          </a:bodyPr>
          <a:lstStyle/>
          <a:p>
            <a:pPr algn="ctr">
              <a:lnSpc>
                <a:spcPct val="105000"/>
              </a:lnSpc>
              <a:spcBef>
                <a:spcPts val="0"/>
              </a:spcBef>
              <a:spcAft>
                <a:spcPts val="600"/>
              </a:spcAft>
            </a:pPr>
            <a:r>
              <a:rPr sz="1500" b="1" i="0">
                <a:solidFill>
                  <a:srgbClr val="1F1612"/>
                </a:solidFill>
                <a:latin typeface="Calibri"/>
              </a:rPr>
              <a:t>Live app</a:t>
            </a:r>
          </a:p>
        </p:txBody>
      </p:sp>
      <p:sp>
        <p:nvSpPr>
          <p:cNvPr id="8" name="Rounded Rectangle 7"/>
          <p:cNvSpPr/>
          <p:nvPr/>
        </p:nvSpPr>
        <p:spPr>
          <a:xfrm>
            <a:off x="3474720" y="1965960"/>
            <a:ext cx="4572000" cy="621792"/>
          </a:xfrm>
          <a:prstGeom prst="roundRect">
            <a:avLst/>
          </a:prstGeom>
          <a:solidFill>
            <a:srgbClr val="FA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1965960"/>
            <a:ext cx="4389120" cy="621792"/>
          </a:xfrm>
          <a:prstGeom prst="rect">
            <a:avLst/>
          </a:prstGeom>
          <a:noFill/>
        </p:spPr>
        <p:txBody>
          <a:bodyPr wrap="square" anchor="ctr">
            <a:spAutoFit/>
          </a:bodyPr>
          <a:lstStyle/>
          <a:p>
            <a:pPr algn="l">
              <a:lnSpc>
                <a:spcPct val="105000"/>
              </a:lnSpc>
              <a:spcBef>
                <a:spcPts val="0"/>
              </a:spcBef>
              <a:spcAft>
                <a:spcPts val="600"/>
              </a:spcAft>
            </a:pPr>
            <a:r>
              <a:rPr sz="1350" b="0" i="0">
                <a:solidFill>
                  <a:srgbClr val="1F1612"/>
                </a:solidFill>
                <a:latin typeface="Calibri"/>
              </a:rPr>
              <a:t>https://workitsa.co.za</a:t>
            </a:r>
          </a:p>
        </p:txBody>
      </p:sp>
      <p:sp>
        <p:nvSpPr>
          <p:cNvPr id="10" name="Rounded Rectangle 9"/>
          <p:cNvSpPr/>
          <p:nvPr/>
        </p:nvSpPr>
        <p:spPr>
          <a:xfrm>
            <a:off x="548640" y="2788920"/>
            <a:ext cx="2834640" cy="621792"/>
          </a:xfrm>
          <a:prstGeom prst="round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88920"/>
            <a:ext cx="2834640" cy="621792"/>
          </a:xfrm>
          <a:prstGeom prst="rect">
            <a:avLst/>
          </a:prstGeom>
          <a:noFill/>
        </p:spPr>
        <p:txBody>
          <a:bodyPr wrap="square" anchor="ctr">
            <a:spAutoFit/>
          </a:bodyPr>
          <a:lstStyle/>
          <a:p>
            <a:pPr algn="ctr">
              <a:lnSpc>
                <a:spcPct val="105000"/>
              </a:lnSpc>
              <a:spcBef>
                <a:spcPts val="0"/>
              </a:spcBef>
              <a:spcAft>
                <a:spcPts val="600"/>
              </a:spcAft>
            </a:pPr>
            <a:r>
              <a:rPr sz="1500" b="1" i="0">
                <a:solidFill>
                  <a:srgbClr val="1F1612"/>
                </a:solidFill>
                <a:latin typeface="Calibri"/>
              </a:rPr>
              <a:t>Judge login</a:t>
            </a:r>
          </a:p>
        </p:txBody>
      </p:sp>
      <p:sp>
        <p:nvSpPr>
          <p:cNvPr id="12" name="Rounded Rectangle 11"/>
          <p:cNvSpPr/>
          <p:nvPr/>
        </p:nvSpPr>
        <p:spPr>
          <a:xfrm>
            <a:off x="3474720" y="2788920"/>
            <a:ext cx="4572000" cy="621792"/>
          </a:xfrm>
          <a:prstGeom prst="roundRect">
            <a:avLst/>
          </a:prstGeom>
          <a:solidFill>
            <a:srgbClr val="FA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2788920"/>
            <a:ext cx="4389120" cy="621792"/>
          </a:xfrm>
          <a:prstGeom prst="rect">
            <a:avLst/>
          </a:prstGeom>
          <a:noFill/>
        </p:spPr>
        <p:txBody>
          <a:bodyPr wrap="square" anchor="ctr">
            <a:spAutoFit/>
          </a:bodyPr>
          <a:lstStyle/>
          <a:p>
            <a:pPr algn="l">
              <a:lnSpc>
                <a:spcPct val="105000"/>
              </a:lnSpc>
              <a:spcBef>
                <a:spcPts val="0"/>
              </a:spcBef>
              <a:spcAft>
                <a:spcPts val="600"/>
              </a:spcAft>
            </a:pPr>
            <a:r>
              <a:rPr sz="1350" b="0" i="0">
                <a:solidFill>
                  <a:srgbClr val="1F1612"/>
                </a:solidFill>
                <a:latin typeface="Calibri"/>
              </a:rPr>
              <a:t>[DEMO EMAIL]  /  [DEMO PASSWORD]   (pre-verified account)</a:t>
            </a:r>
          </a:p>
        </p:txBody>
      </p:sp>
      <p:sp>
        <p:nvSpPr>
          <p:cNvPr id="14" name="Rounded Rectangle 13"/>
          <p:cNvSpPr/>
          <p:nvPr/>
        </p:nvSpPr>
        <p:spPr>
          <a:xfrm>
            <a:off x="548640" y="3611880"/>
            <a:ext cx="2834640" cy="621792"/>
          </a:xfrm>
          <a:prstGeom prst="round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611880"/>
            <a:ext cx="2834640" cy="621792"/>
          </a:xfrm>
          <a:prstGeom prst="rect">
            <a:avLst/>
          </a:prstGeom>
          <a:noFill/>
        </p:spPr>
        <p:txBody>
          <a:bodyPr wrap="square" anchor="ctr">
            <a:spAutoFit/>
          </a:bodyPr>
          <a:lstStyle/>
          <a:p>
            <a:pPr algn="ctr">
              <a:lnSpc>
                <a:spcPct val="105000"/>
              </a:lnSpc>
              <a:spcBef>
                <a:spcPts val="0"/>
              </a:spcBef>
              <a:spcAft>
                <a:spcPts val="600"/>
              </a:spcAft>
            </a:pPr>
            <a:r>
              <a:rPr sz="1500" b="1" i="0">
                <a:solidFill>
                  <a:srgbClr val="1F1612"/>
                </a:solidFill>
                <a:latin typeface="Calibri"/>
              </a:rPr>
              <a:t>WhatsApp demo</a:t>
            </a:r>
          </a:p>
        </p:txBody>
      </p:sp>
      <p:sp>
        <p:nvSpPr>
          <p:cNvPr id="16" name="Rounded Rectangle 15"/>
          <p:cNvSpPr/>
          <p:nvPr/>
        </p:nvSpPr>
        <p:spPr>
          <a:xfrm>
            <a:off x="3474720" y="3611880"/>
            <a:ext cx="4572000" cy="621792"/>
          </a:xfrm>
          <a:prstGeom prst="roundRect">
            <a:avLst/>
          </a:prstGeom>
          <a:solidFill>
            <a:srgbClr val="FA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3611880"/>
            <a:ext cx="4389120" cy="621792"/>
          </a:xfrm>
          <a:prstGeom prst="rect">
            <a:avLst/>
          </a:prstGeom>
          <a:noFill/>
        </p:spPr>
        <p:txBody>
          <a:bodyPr wrap="square" anchor="ctr">
            <a:spAutoFit/>
          </a:bodyPr>
          <a:lstStyle/>
          <a:p>
            <a:pPr algn="l">
              <a:lnSpc>
                <a:spcPct val="105000"/>
              </a:lnSpc>
              <a:spcBef>
                <a:spcPts val="0"/>
              </a:spcBef>
              <a:spcAft>
                <a:spcPts val="600"/>
              </a:spcAft>
            </a:pPr>
            <a:r>
              <a:rPr sz="1350" b="0" i="0">
                <a:solidFill>
                  <a:srgbClr val="1F1612"/>
                </a:solidFill>
                <a:latin typeface="Calibri"/>
              </a:rPr>
              <a:t>Save +27 67 748 2643 and send  JOBS</a:t>
            </a:r>
          </a:p>
        </p:txBody>
      </p:sp>
      <p:sp>
        <p:nvSpPr>
          <p:cNvPr id="18" name="Rounded Rectangle 17"/>
          <p:cNvSpPr/>
          <p:nvPr/>
        </p:nvSpPr>
        <p:spPr>
          <a:xfrm>
            <a:off x="548640" y="4434840"/>
            <a:ext cx="2834640" cy="621792"/>
          </a:xfrm>
          <a:prstGeom prst="round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434840"/>
            <a:ext cx="2834640" cy="621792"/>
          </a:xfrm>
          <a:prstGeom prst="rect">
            <a:avLst/>
          </a:prstGeom>
          <a:noFill/>
        </p:spPr>
        <p:txBody>
          <a:bodyPr wrap="square" anchor="ctr">
            <a:spAutoFit/>
          </a:bodyPr>
          <a:lstStyle/>
          <a:p>
            <a:pPr algn="ctr">
              <a:lnSpc>
                <a:spcPct val="105000"/>
              </a:lnSpc>
              <a:spcBef>
                <a:spcPts val="0"/>
              </a:spcBef>
              <a:spcAft>
                <a:spcPts val="600"/>
              </a:spcAft>
            </a:pPr>
            <a:r>
              <a:rPr sz="1500" b="1" i="0">
                <a:solidFill>
                  <a:srgbClr val="1F1612"/>
                </a:solidFill>
                <a:latin typeface="Calibri"/>
              </a:rPr>
              <a:t>Demo video (&lt;=90s)</a:t>
            </a:r>
          </a:p>
        </p:txBody>
      </p:sp>
      <p:sp>
        <p:nvSpPr>
          <p:cNvPr id="20" name="Rounded Rectangle 19"/>
          <p:cNvSpPr/>
          <p:nvPr/>
        </p:nvSpPr>
        <p:spPr>
          <a:xfrm>
            <a:off x="3474720" y="4434840"/>
            <a:ext cx="4572000" cy="621792"/>
          </a:xfrm>
          <a:prstGeom prst="roundRect">
            <a:avLst/>
          </a:prstGeom>
          <a:solidFill>
            <a:srgbClr val="FA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11880" y="4434840"/>
            <a:ext cx="4389120" cy="621792"/>
          </a:xfrm>
          <a:prstGeom prst="rect">
            <a:avLst/>
          </a:prstGeom>
          <a:noFill/>
        </p:spPr>
        <p:txBody>
          <a:bodyPr wrap="square" anchor="ctr">
            <a:spAutoFit/>
          </a:bodyPr>
          <a:lstStyle/>
          <a:p>
            <a:pPr algn="l">
              <a:lnSpc>
                <a:spcPct val="105000"/>
              </a:lnSpc>
              <a:spcBef>
                <a:spcPts val="0"/>
              </a:spcBef>
              <a:spcAft>
                <a:spcPts val="600"/>
              </a:spcAft>
            </a:pPr>
            <a:r>
              <a:rPr sz="1350" b="0" i="0">
                <a:solidFill>
                  <a:srgbClr val="1F1612"/>
                </a:solidFill>
                <a:latin typeface="Calibri"/>
              </a:rPr>
              <a:t>[ PASTE VIDEO LINK HERE ]</a:t>
            </a:r>
          </a:p>
        </p:txBody>
      </p:sp>
      <p:sp>
        <p:nvSpPr>
          <p:cNvPr id="24" name="TextBox 23"/>
          <p:cNvSpPr txBox="1"/>
          <p:nvPr/>
        </p:nvSpPr>
        <p:spPr>
          <a:xfrm>
            <a:off x="548640" y="5532120"/>
            <a:ext cx="10972800" cy="457200"/>
          </a:xfrm>
          <a:prstGeom prst="rect">
            <a:avLst/>
          </a:prstGeom>
          <a:noFill/>
        </p:spPr>
        <p:txBody>
          <a:bodyPr wrap="square" anchor="t">
            <a:spAutoFit/>
          </a:bodyPr>
          <a:lstStyle/>
          <a:p>
            <a:pPr algn="l">
              <a:lnSpc>
                <a:spcPct val="105000"/>
              </a:lnSpc>
              <a:spcBef>
                <a:spcPts val="0"/>
              </a:spcBef>
              <a:spcAft>
                <a:spcPts val="600"/>
              </a:spcAft>
            </a:pPr>
            <a:r>
              <a:rPr sz="1300" b="0" i="0">
                <a:solidFill>
                  <a:srgbClr val="F5DBB5"/>
                </a:solidFill>
                <a:latin typeface="Calibri"/>
              </a:rPr>
              <a:t>Seeded with real Alberton activity so the marketplace is never empty when judges open it.</a:t>
            </a:r>
          </a:p>
        </p:txBody>
      </p:sp>
      <p:pic>
        <p:nvPicPr>
          <p:cNvPr id="25" name="Picture 24" descr="work-record.png"/>
          <p:cNvPicPr>
            <a:picLocks noChangeAspect="1"/>
          </p:cNvPicPr>
          <p:nvPr/>
        </p:nvPicPr>
        <p:blipFill>
          <a:blip r:embed="rId3"/>
          <a:stretch>
            <a:fillRect/>
          </a:stretch>
        </p:blipFill>
        <p:spPr>
          <a:xfrm>
            <a:off x="8321040" y="2103120"/>
            <a:ext cx="3291840" cy="2057400"/>
          </a:xfrm>
          <a:prstGeom prst="rect">
            <a:avLst/>
          </a:prstGeom>
          <a:ln w="12700">
            <a:solidFill>
              <a:srgbClr val="C9BCAF"/>
            </a:solidFill>
          </a:ln>
        </p:spPr>
      </p:pic>
      <p:sp>
        <p:nvSpPr>
          <p:cNvPr id="26" name="TextBox 25"/>
          <p:cNvSpPr txBox="1"/>
          <p:nvPr/>
        </p:nvSpPr>
        <p:spPr>
          <a:xfrm>
            <a:off x="8321040" y="4233672"/>
            <a:ext cx="3291840" cy="457200"/>
          </a:xfrm>
          <a:prstGeom prst="rect">
            <a:avLst/>
          </a:prstGeom>
          <a:noFill/>
        </p:spPr>
        <p:txBody>
          <a:bodyPr wrap="square">
            <a:spAutoFit/>
          </a:bodyPr>
          <a:lstStyle/>
          <a:p>
            <a:pPr algn="ctr"/>
            <a:r>
              <a:rPr sz="1100" i="1">
                <a:solidFill>
                  <a:srgbClr val="A7C5A0"/>
                </a:solidFill>
              </a:rPr>
              <a:t>Shareable Work Record — proof of 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66928"/>
            <a:ext cx="457200" cy="82296"/>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13232"/>
            <a:ext cx="10058400" cy="365760"/>
          </a:xfrm>
          <a:prstGeom prst="rect">
            <a:avLst/>
          </a:prstGeom>
          <a:noFill/>
        </p:spPr>
        <p:txBody>
          <a:bodyPr wrap="square" anchor="t">
            <a:spAutoFit/>
          </a:bodyPr>
          <a:lstStyle/>
          <a:p>
            <a:pPr algn="l">
              <a:lnSpc>
                <a:spcPct val="105000"/>
              </a:lnSpc>
              <a:spcBef>
                <a:spcPts val="0"/>
              </a:spcBef>
              <a:spcAft>
                <a:spcPts val="600"/>
              </a:spcAft>
            </a:pPr>
            <a:r>
              <a:rPr sz="1500" b="1" i="0">
                <a:solidFill>
                  <a:srgbClr val="B45A2C"/>
                </a:solidFill>
                <a:latin typeface="Calibri"/>
              </a:rPr>
              <a:t>INTELLIGENCE</a:t>
            </a:r>
          </a:p>
        </p:txBody>
      </p:sp>
      <p:sp>
        <p:nvSpPr>
          <p:cNvPr id="5" name="TextBox 4"/>
          <p:cNvSpPr txBox="1"/>
          <p:nvPr/>
        </p:nvSpPr>
        <p:spPr>
          <a:xfrm>
            <a:off x="548640" y="1024128"/>
            <a:ext cx="11064240" cy="1097280"/>
          </a:xfrm>
          <a:prstGeom prst="rect">
            <a:avLst/>
          </a:prstGeom>
          <a:noFill/>
        </p:spPr>
        <p:txBody>
          <a:bodyPr wrap="square" anchor="t">
            <a:spAutoFit/>
          </a:bodyPr>
          <a:lstStyle/>
          <a:p>
            <a:pPr algn="l">
              <a:lnSpc>
                <a:spcPct val="100000"/>
              </a:lnSpc>
              <a:spcBef>
                <a:spcPts val="0"/>
              </a:spcBef>
              <a:spcAft>
                <a:spcPts val="600"/>
              </a:spcAft>
            </a:pPr>
            <a:r>
              <a:rPr sz="3000" b="1" i="0">
                <a:solidFill>
                  <a:srgbClr val="1F1612"/>
                </a:solidFill>
                <a:latin typeface="Calibri"/>
              </a:rPr>
              <a:t>An app that thinks.</a:t>
            </a:r>
          </a:p>
        </p:txBody>
      </p:sp>
      <p:sp>
        <p:nvSpPr>
          <p:cNvPr id="6" name="TextBox 5"/>
          <p:cNvSpPr txBox="1"/>
          <p:nvPr/>
        </p:nvSpPr>
        <p:spPr>
          <a:xfrm>
            <a:off x="548640" y="1828800"/>
            <a:ext cx="6035040" cy="4572000"/>
          </a:xfrm>
          <a:prstGeom prst="rect">
            <a:avLst/>
          </a:prstGeom>
          <a:noFill/>
        </p:spPr>
        <p:txBody>
          <a:bodyPr wrap="square" anchor="t">
            <a:spAutoFit/>
          </a:bodyPr>
          <a:lstStyle/>
          <a:p>
            <a:pPr algn="l">
              <a:lnSpc>
                <a:spcPct val="104000"/>
              </a:lnSpc>
              <a:spcBef>
                <a:spcPts val="0"/>
              </a:spcBef>
              <a:spcAft>
                <a:spcPts val="1400"/>
              </a:spcAft>
            </a:pPr>
            <a:r>
              <a:rPr sz="1500" b="1" i="0">
                <a:solidFill>
                  <a:srgbClr val="D97742"/>
                </a:solidFill>
                <a:latin typeface="Calibri"/>
              </a:rPr>
              <a:t>▸  </a:t>
            </a:r>
            <a:r>
              <a:rPr sz="1500" b="1" i="0">
                <a:solidFill>
                  <a:srgbClr val="1F1612"/>
                </a:solidFill>
                <a:latin typeface="Calibri"/>
              </a:rPr>
              <a:t>Jarvis.  </a:t>
            </a:r>
            <a:r>
              <a:rPr sz="1500" b="0" i="0">
                <a:solidFill>
                  <a:srgbClr val="4A3A30"/>
                </a:solidFill>
                <a:latin typeface="Calibri"/>
              </a:rPr>
              <a:t>A Gemini-powered co-pilot: morning digest, dispute/anomaly alerts, ask-anything over live data — even over WhatsApp.</a:t>
            </a:r>
          </a:p>
          <a:p>
            <a:pPr algn="l">
              <a:lnSpc>
                <a:spcPct val="104000"/>
              </a:lnSpc>
              <a:spcBef>
                <a:spcPts val="0"/>
              </a:spcBef>
              <a:spcAft>
                <a:spcPts val="1400"/>
              </a:spcAft>
            </a:pPr>
            <a:r>
              <a:rPr sz="1500" b="1" i="0">
                <a:solidFill>
                  <a:srgbClr val="D97742"/>
                </a:solidFill>
                <a:latin typeface="Calibri"/>
              </a:rPr>
              <a:t>▸  </a:t>
            </a:r>
            <a:r>
              <a:rPr sz="1500" b="1" i="0">
                <a:solidFill>
                  <a:srgbClr val="1F1612"/>
                </a:solidFill>
                <a:latin typeface="Calibri"/>
              </a:rPr>
              <a:t>Smart matching.  </a:t>
            </a:r>
            <a:r>
              <a:rPr sz="1500" b="0" i="0">
                <a:solidFill>
                  <a:srgbClr val="4A3A30"/>
                </a:solidFill>
                <a:latin typeface="Calibri"/>
              </a:rPr>
              <a:t>Jobs routed to the right workers by category, geo-radius (haversine) and availability — nearest first.</a:t>
            </a:r>
          </a:p>
          <a:p>
            <a:pPr algn="l">
              <a:lnSpc>
                <a:spcPct val="104000"/>
              </a:lnSpc>
              <a:spcBef>
                <a:spcPts val="0"/>
              </a:spcBef>
              <a:spcAft>
                <a:spcPts val="1400"/>
              </a:spcAft>
            </a:pPr>
            <a:r>
              <a:rPr sz="1500" b="1" i="0">
                <a:solidFill>
                  <a:srgbClr val="D97742"/>
                </a:solidFill>
                <a:latin typeface="Calibri"/>
              </a:rPr>
              <a:t>▸  </a:t>
            </a:r>
            <a:r>
              <a:rPr sz="1500" b="1" i="0">
                <a:solidFill>
                  <a:srgbClr val="1F1612"/>
                </a:solidFill>
                <a:latin typeface="Calibri"/>
              </a:rPr>
              <a:t>Live Pulse cockpit.  </a:t>
            </a:r>
            <a:r>
              <a:rPr sz="1500" b="0" i="0">
                <a:solidFill>
                  <a:srgbClr val="4A3A30"/>
                </a:solidFill>
                <a:latin typeface="Calibri"/>
              </a:rPr>
              <a:t>Real-time demand/supply heatmap that auto-zooms to the busiest suburb and surfaces offers &amp; available-now.</a:t>
            </a:r>
          </a:p>
          <a:p>
            <a:pPr algn="l">
              <a:lnSpc>
                <a:spcPct val="104000"/>
              </a:lnSpc>
              <a:spcBef>
                <a:spcPts val="0"/>
              </a:spcBef>
              <a:spcAft>
                <a:spcPts val="1400"/>
              </a:spcAft>
            </a:pPr>
            <a:r>
              <a:rPr sz="1500" b="1" i="0">
                <a:solidFill>
                  <a:srgbClr val="D97742"/>
                </a:solidFill>
                <a:latin typeface="Calibri"/>
              </a:rPr>
              <a:t>▸  </a:t>
            </a:r>
            <a:r>
              <a:rPr sz="1500" b="1" i="0">
                <a:solidFill>
                  <a:srgbClr val="1F1612"/>
                </a:solidFill>
                <a:latin typeface="Calibri"/>
              </a:rPr>
              <a:t>Fraud signals.  </a:t>
            </a:r>
            <a:r>
              <a:rPr sz="1500" b="0" i="0">
                <a:solidFill>
                  <a:srgbClr val="4A3A30"/>
                </a:solidFill>
                <a:latin typeface="Calibri"/>
              </a:rPr>
              <a:t>Duplicate-document and ban-registry checks flag risky sign-ups automatically.</a:t>
            </a:r>
          </a:p>
        </p:txBody>
      </p:sp>
      <p:sp>
        <p:nvSpPr>
          <p:cNvPr id="7" name="Rounded Rectangle 6"/>
          <p:cNvSpPr/>
          <p:nvPr/>
        </p:nvSpPr>
        <p:spPr>
          <a:xfrm>
            <a:off x="6812280" y="1783080"/>
            <a:ext cx="4800600" cy="4206240"/>
          </a:xfrm>
          <a:prstGeom prst="roundRect">
            <a:avLst/>
          </a:prstGeom>
          <a:solidFill>
            <a:srgbClr val="FFFFFF"/>
          </a:solidFill>
          <a:ln w="19050">
            <a:solidFill>
              <a:srgbClr val="F5D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3474720"/>
            <a:ext cx="4800600" cy="822960"/>
          </a:xfrm>
          <a:prstGeom prst="rect">
            <a:avLst/>
          </a:prstGeom>
          <a:noFill/>
        </p:spPr>
        <p:txBody>
          <a:bodyPr wrap="square" anchor="ctr">
            <a:spAutoFit/>
          </a:bodyPr>
          <a:lstStyle/>
          <a:p>
            <a:pPr algn="ctr">
              <a:lnSpc>
                <a:spcPct val="105000"/>
              </a:lnSpc>
              <a:spcBef>
                <a:spcPts val="0"/>
              </a:spcBef>
              <a:spcAft>
                <a:spcPts val="200"/>
              </a:spcAft>
            </a:pPr>
            <a:r>
              <a:rPr sz="1300" b="1" i="0">
                <a:solidFill>
                  <a:srgbClr val="8A7A6A"/>
                </a:solidFill>
                <a:latin typeface="Calibri"/>
              </a:rPr>
              <a:t>[ SCREENSHOT ]</a:t>
            </a:r>
          </a:p>
          <a:p>
            <a:pPr algn="ctr">
              <a:lnSpc>
                <a:spcPct val="105000"/>
              </a:lnSpc>
              <a:spcBef>
                <a:spcPts val="0"/>
              </a:spcBef>
              <a:spcAft>
                <a:spcPts val="200"/>
              </a:spcAft>
            </a:pPr>
            <a:r>
              <a:rPr sz="1100" b="0" i="0">
                <a:solidFill>
                  <a:srgbClr val="8A7A6A"/>
                </a:solidFill>
                <a:latin typeface="Calibri"/>
              </a:rPr>
              <a:t>Live Pulse heatmap + Jarvis chat (/admin)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66928"/>
            <a:ext cx="457200" cy="82296"/>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13232"/>
            <a:ext cx="10058400" cy="365760"/>
          </a:xfrm>
          <a:prstGeom prst="rect">
            <a:avLst/>
          </a:prstGeom>
          <a:noFill/>
        </p:spPr>
        <p:txBody>
          <a:bodyPr wrap="square" anchor="t">
            <a:spAutoFit/>
          </a:bodyPr>
          <a:lstStyle/>
          <a:p>
            <a:pPr algn="l">
              <a:lnSpc>
                <a:spcPct val="105000"/>
              </a:lnSpc>
              <a:spcBef>
                <a:spcPts val="0"/>
              </a:spcBef>
              <a:spcAft>
                <a:spcPts val="600"/>
              </a:spcAft>
            </a:pPr>
            <a:r>
              <a:rPr sz="1500" b="1" i="0">
                <a:solidFill>
                  <a:srgbClr val="B45A2C"/>
                </a:solidFill>
                <a:latin typeface="Calibri"/>
              </a:rPr>
              <a:t>ARCHITECTURE &amp; SECURITY</a:t>
            </a:r>
          </a:p>
        </p:txBody>
      </p:sp>
      <p:sp>
        <p:nvSpPr>
          <p:cNvPr id="5" name="TextBox 4"/>
          <p:cNvSpPr txBox="1"/>
          <p:nvPr/>
        </p:nvSpPr>
        <p:spPr>
          <a:xfrm>
            <a:off x="548640" y="1024128"/>
            <a:ext cx="11064240" cy="1097280"/>
          </a:xfrm>
          <a:prstGeom prst="rect">
            <a:avLst/>
          </a:prstGeom>
          <a:noFill/>
        </p:spPr>
        <p:txBody>
          <a:bodyPr wrap="square" anchor="t">
            <a:spAutoFit/>
          </a:bodyPr>
          <a:lstStyle/>
          <a:p>
            <a:pPr algn="l">
              <a:lnSpc>
                <a:spcPct val="100000"/>
              </a:lnSpc>
              <a:spcBef>
                <a:spcPts val="0"/>
              </a:spcBef>
              <a:spcAft>
                <a:spcPts val="600"/>
              </a:spcAft>
            </a:pPr>
            <a:r>
              <a:rPr sz="3000" b="1" i="0">
                <a:solidFill>
                  <a:srgbClr val="1F1612"/>
                </a:solidFill>
                <a:latin typeface="Calibri"/>
              </a:rPr>
              <a:t>Built secure, built for South Africa.</a:t>
            </a:r>
          </a:p>
        </p:txBody>
      </p:sp>
      <p:sp>
        <p:nvSpPr>
          <p:cNvPr id="6" name="TextBox 5"/>
          <p:cNvSpPr txBox="1"/>
          <p:nvPr/>
        </p:nvSpPr>
        <p:spPr>
          <a:xfrm>
            <a:off x="548640" y="1783080"/>
            <a:ext cx="5486400" cy="365760"/>
          </a:xfrm>
          <a:prstGeom prst="rect">
            <a:avLst/>
          </a:prstGeom>
          <a:noFill/>
        </p:spPr>
        <p:txBody>
          <a:bodyPr wrap="square" anchor="t">
            <a:spAutoFit/>
          </a:bodyPr>
          <a:lstStyle/>
          <a:p>
            <a:pPr algn="l">
              <a:lnSpc>
                <a:spcPct val="105000"/>
              </a:lnSpc>
              <a:spcBef>
                <a:spcPts val="0"/>
              </a:spcBef>
              <a:spcAft>
                <a:spcPts val="600"/>
              </a:spcAft>
            </a:pPr>
            <a:r>
              <a:rPr sz="1600" b="1" i="0">
                <a:solidFill>
                  <a:srgbClr val="B45A2C"/>
                </a:solidFill>
                <a:latin typeface="Calibri"/>
              </a:rPr>
              <a:t>Technical architecture</a:t>
            </a:r>
          </a:p>
        </p:txBody>
      </p:sp>
      <p:sp>
        <p:nvSpPr>
          <p:cNvPr id="7" name="Rounded Rectangle 6"/>
          <p:cNvSpPr/>
          <p:nvPr/>
        </p:nvSpPr>
        <p:spPr>
          <a:xfrm>
            <a:off x="548640" y="2240280"/>
            <a:ext cx="5212080" cy="457200"/>
          </a:xfrm>
          <a:prstGeom prst="roundRect">
            <a:avLst/>
          </a:prstGeom>
          <a:solidFill>
            <a:srgbClr val="F5D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37760" cy="457200"/>
          </a:xfrm>
          <a:prstGeom prst="rect">
            <a:avLst/>
          </a:prstGeom>
          <a:noFill/>
        </p:spPr>
        <p:txBody>
          <a:bodyPr wrap="square" anchor="ctr">
            <a:spAutoFit/>
          </a:bodyPr>
          <a:lstStyle/>
          <a:p>
            <a:pPr algn="l">
              <a:lnSpc>
                <a:spcPct val="105000"/>
              </a:lnSpc>
              <a:spcBef>
                <a:spcPts val="0"/>
              </a:spcBef>
              <a:spcAft>
                <a:spcPts val="600"/>
              </a:spcAft>
            </a:pPr>
            <a:r>
              <a:rPr sz="1300" b="1" i="0">
                <a:solidFill>
                  <a:srgbClr val="1F1612"/>
                </a:solidFill>
                <a:latin typeface="Calibri"/>
              </a:rPr>
              <a:t>Next.js PWA (static export)</a:t>
            </a:r>
          </a:p>
        </p:txBody>
      </p:sp>
      <p:sp>
        <p:nvSpPr>
          <p:cNvPr id="9" name="Rounded Rectangle 8"/>
          <p:cNvSpPr/>
          <p:nvPr/>
        </p:nvSpPr>
        <p:spPr>
          <a:xfrm>
            <a:off x="548640" y="2807208"/>
            <a:ext cx="5212080" cy="457200"/>
          </a:xfrm>
          <a:prstGeom prst="roundRect">
            <a:avLst/>
          </a:prstGeom>
          <a:solidFill>
            <a:srgbClr val="F5D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807208"/>
            <a:ext cx="4937760" cy="457200"/>
          </a:xfrm>
          <a:prstGeom prst="rect">
            <a:avLst/>
          </a:prstGeom>
          <a:noFill/>
        </p:spPr>
        <p:txBody>
          <a:bodyPr wrap="square" anchor="ctr">
            <a:spAutoFit/>
          </a:bodyPr>
          <a:lstStyle/>
          <a:p>
            <a:pPr algn="l">
              <a:lnSpc>
                <a:spcPct val="105000"/>
              </a:lnSpc>
              <a:spcBef>
                <a:spcPts val="0"/>
              </a:spcBef>
              <a:spcAft>
                <a:spcPts val="600"/>
              </a:spcAft>
            </a:pPr>
            <a:r>
              <a:rPr sz="1300" b="1" i="0">
                <a:solidFill>
                  <a:srgbClr val="1F1612"/>
                </a:solidFill>
                <a:latin typeface="Calibri"/>
              </a:rPr>
              <a:t>Firebase Auth — phone OTP / email / Google</a:t>
            </a:r>
          </a:p>
        </p:txBody>
      </p:sp>
      <p:sp>
        <p:nvSpPr>
          <p:cNvPr id="11" name="Rounded Rectangle 10"/>
          <p:cNvSpPr/>
          <p:nvPr/>
        </p:nvSpPr>
        <p:spPr>
          <a:xfrm>
            <a:off x="548640" y="3374136"/>
            <a:ext cx="5212080" cy="457200"/>
          </a:xfrm>
          <a:prstGeom prst="roundRect">
            <a:avLst/>
          </a:prstGeom>
          <a:solidFill>
            <a:srgbClr val="F5D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74136"/>
            <a:ext cx="4937760" cy="457200"/>
          </a:xfrm>
          <a:prstGeom prst="rect">
            <a:avLst/>
          </a:prstGeom>
          <a:noFill/>
        </p:spPr>
        <p:txBody>
          <a:bodyPr wrap="square" anchor="ctr">
            <a:spAutoFit/>
          </a:bodyPr>
          <a:lstStyle/>
          <a:p>
            <a:pPr algn="l">
              <a:lnSpc>
                <a:spcPct val="105000"/>
              </a:lnSpc>
              <a:spcBef>
                <a:spcPts val="0"/>
              </a:spcBef>
              <a:spcAft>
                <a:spcPts val="600"/>
              </a:spcAft>
            </a:pPr>
            <a:r>
              <a:rPr sz="1300" b="1" i="0">
                <a:solidFill>
                  <a:srgbClr val="1F1612"/>
                </a:solidFill>
                <a:latin typeface="Calibri"/>
              </a:rPr>
              <a:t>Firestore + Cloud Storage</a:t>
            </a:r>
          </a:p>
        </p:txBody>
      </p:sp>
      <p:sp>
        <p:nvSpPr>
          <p:cNvPr id="13" name="Rounded Rectangle 12"/>
          <p:cNvSpPr/>
          <p:nvPr/>
        </p:nvSpPr>
        <p:spPr>
          <a:xfrm>
            <a:off x="548640" y="3941064"/>
            <a:ext cx="5212080" cy="457200"/>
          </a:xfrm>
          <a:prstGeom prst="roundRect">
            <a:avLst/>
          </a:prstGeom>
          <a:solidFill>
            <a:srgbClr val="F5D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941064"/>
            <a:ext cx="4937760" cy="457200"/>
          </a:xfrm>
          <a:prstGeom prst="rect">
            <a:avLst/>
          </a:prstGeom>
          <a:noFill/>
        </p:spPr>
        <p:txBody>
          <a:bodyPr wrap="square" anchor="ctr">
            <a:spAutoFit/>
          </a:bodyPr>
          <a:lstStyle/>
          <a:p>
            <a:pPr algn="l">
              <a:lnSpc>
                <a:spcPct val="105000"/>
              </a:lnSpc>
              <a:spcBef>
                <a:spcPts val="0"/>
              </a:spcBef>
              <a:spcAft>
                <a:spcPts val="600"/>
              </a:spcAft>
            </a:pPr>
            <a:r>
              <a:rPr sz="1300" b="1" i="0">
                <a:solidFill>
                  <a:srgbClr val="1F1612"/>
                </a:solidFill>
                <a:latin typeface="Calibri"/>
              </a:rPr>
              <a:t>Cloud Functions (africa-south1)</a:t>
            </a:r>
          </a:p>
        </p:txBody>
      </p:sp>
      <p:sp>
        <p:nvSpPr>
          <p:cNvPr id="15" name="Rounded Rectangle 14"/>
          <p:cNvSpPr/>
          <p:nvPr/>
        </p:nvSpPr>
        <p:spPr>
          <a:xfrm>
            <a:off x="548640" y="4507992"/>
            <a:ext cx="5212080" cy="457200"/>
          </a:xfrm>
          <a:prstGeom prst="roundRect">
            <a:avLst/>
          </a:prstGeom>
          <a:solidFill>
            <a:srgbClr val="F5D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507992"/>
            <a:ext cx="4937760" cy="457200"/>
          </a:xfrm>
          <a:prstGeom prst="rect">
            <a:avLst/>
          </a:prstGeom>
          <a:noFill/>
        </p:spPr>
        <p:txBody>
          <a:bodyPr wrap="square" anchor="ctr">
            <a:spAutoFit/>
          </a:bodyPr>
          <a:lstStyle/>
          <a:p>
            <a:pPr algn="l">
              <a:lnSpc>
                <a:spcPct val="105000"/>
              </a:lnSpc>
              <a:spcBef>
                <a:spcPts val="0"/>
              </a:spcBef>
              <a:spcAft>
                <a:spcPts val="600"/>
              </a:spcAft>
            </a:pPr>
            <a:r>
              <a:rPr sz="1300" b="1" i="0">
                <a:solidFill>
                  <a:srgbClr val="1F1612"/>
                </a:solidFill>
                <a:latin typeface="Calibri"/>
              </a:rPr>
              <a:t>FCM push · WhatsApp Cloud API · Gemini</a:t>
            </a:r>
          </a:p>
        </p:txBody>
      </p:sp>
      <p:sp>
        <p:nvSpPr>
          <p:cNvPr id="17" name="Rounded Rectangle 16"/>
          <p:cNvSpPr/>
          <p:nvPr/>
        </p:nvSpPr>
        <p:spPr>
          <a:xfrm>
            <a:off x="548640" y="5303520"/>
            <a:ext cx="3355848" cy="329184"/>
          </a:xfrm>
          <a:prstGeom prst="roundRect">
            <a:avLst/>
          </a:prstGeom>
          <a:solidFill>
            <a:srgbClr val="2F8F8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18288" bIns="18288"/>
          <a:lstStyle/>
          <a:p>
            <a:pPr algn="ctr"/>
            <a:r>
              <a:rPr sz="1200" b="1">
                <a:solidFill>
                  <a:srgbClr val="FFFFFF"/>
                </a:solidFill>
                <a:latin typeface="Calibri"/>
              </a:rPr>
              <a:t>All data resident in africa-south1</a:t>
            </a:r>
          </a:p>
        </p:txBody>
      </p:sp>
      <p:sp>
        <p:nvSpPr>
          <p:cNvPr id="18" name="TextBox 17"/>
          <p:cNvSpPr txBox="1"/>
          <p:nvPr/>
        </p:nvSpPr>
        <p:spPr>
          <a:xfrm>
            <a:off x="6309360" y="1783080"/>
            <a:ext cx="5486400" cy="365760"/>
          </a:xfrm>
          <a:prstGeom prst="rect">
            <a:avLst/>
          </a:prstGeom>
          <a:noFill/>
        </p:spPr>
        <p:txBody>
          <a:bodyPr wrap="square" anchor="t">
            <a:spAutoFit/>
          </a:bodyPr>
          <a:lstStyle/>
          <a:p>
            <a:pPr algn="l">
              <a:lnSpc>
                <a:spcPct val="105000"/>
              </a:lnSpc>
              <a:spcBef>
                <a:spcPts val="0"/>
              </a:spcBef>
              <a:spcAft>
                <a:spcPts val="600"/>
              </a:spcAft>
            </a:pPr>
            <a:r>
              <a:rPr sz="1600" b="1" i="0">
                <a:solidFill>
                  <a:srgbClr val="B45A2C"/>
                </a:solidFill>
                <a:latin typeface="Calibri"/>
              </a:rPr>
              <a:t>Security &amp; compliance</a:t>
            </a:r>
          </a:p>
        </p:txBody>
      </p:sp>
      <p:sp>
        <p:nvSpPr>
          <p:cNvPr id="19" name="TextBox 18"/>
          <p:cNvSpPr txBox="1"/>
          <p:nvPr/>
        </p:nvSpPr>
        <p:spPr>
          <a:xfrm>
            <a:off x="6309360" y="2240280"/>
            <a:ext cx="5303520" cy="4572000"/>
          </a:xfrm>
          <a:prstGeom prst="rect">
            <a:avLst/>
          </a:prstGeom>
          <a:noFill/>
        </p:spPr>
        <p:txBody>
          <a:bodyPr wrap="square" anchor="t">
            <a:spAutoFit/>
          </a:bodyPr>
          <a:lstStyle/>
          <a:p>
            <a:pPr algn="l">
              <a:lnSpc>
                <a:spcPct val="104000"/>
              </a:lnSpc>
              <a:spcBef>
                <a:spcPts val="0"/>
              </a:spcBef>
              <a:spcAft>
                <a:spcPts val="900"/>
              </a:spcAft>
            </a:pPr>
            <a:r>
              <a:rPr sz="1350" b="1" i="0">
                <a:solidFill>
                  <a:srgbClr val="A93226"/>
                </a:solidFill>
                <a:latin typeface="Calibri"/>
              </a:rPr>
              <a:t>▸  </a:t>
            </a:r>
            <a:r>
              <a:rPr sz="1350" b="0" i="0">
                <a:solidFill>
                  <a:srgbClr val="4A3A30"/>
                </a:solidFill>
                <a:latin typeface="Calibri"/>
              </a:rPr>
              <a:t>TOTP MFA enforced for all admins</a:t>
            </a:r>
          </a:p>
          <a:p>
            <a:pPr algn="l">
              <a:lnSpc>
                <a:spcPct val="104000"/>
              </a:lnSpc>
              <a:spcBef>
                <a:spcPts val="0"/>
              </a:spcBef>
              <a:spcAft>
                <a:spcPts val="900"/>
              </a:spcAft>
            </a:pPr>
            <a:r>
              <a:rPr sz="1350" b="1" i="0">
                <a:solidFill>
                  <a:srgbClr val="A93226"/>
                </a:solidFill>
                <a:latin typeface="Calibri"/>
              </a:rPr>
              <a:t>▸  </a:t>
            </a:r>
            <a:r>
              <a:rPr sz="1350" b="0" i="0">
                <a:solidFill>
                  <a:srgbClr val="4A3A30"/>
                </a:solidFill>
                <a:latin typeface="Calibri"/>
              </a:rPr>
              <a:t>Real-person ID verification before you can trade</a:t>
            </a:r>
          </a:p>
          <a:p>
            <a:pPr algn="l">
              <a:lnSpc>
                <a:spcPct val="104000"/>
              </a:lnSpc>
              <a:spcBef>
                <a:spcPts val="0"/>
              </a:spcBef>
              <a:spcAft>
                <a:spcPts val="900"/>
              </a:spcAft>
            </a:pPr>
            <a:r>
              <a:rPr sz="1350" b="1" i="0">
                <a:solidFill>
                  <a:srgbClr val="A93226"/>
                </a:solidFill>
                <a:latin typeface="Calibri"/>
              </a:rPr>
              <a:t>▸  </a:t>
            </a:r>
            <a:r>
              <a:rPr sz="1350" b="0" i="0">
                <a:solidFill>
                  <a:srgbClr val="4A3A30"/>
                </a:solidFill>
                <a:latin typeface="Calibri"/>
              </a:rPr>
              <a:t>Firestore security rules + automated rules tests</a:t>
            </a:r>
          </a:p>
          <a:p>
            <a:pPr algn="l">
              <a:lnSpc>
                <a:spcPct val="104000"/>
              </a:lnSpc>
              <a:spcBef>
                <a:spcPts val="0"/>
              </a:spcBef>
              <a:spcAft>
                <a:spcPts val="900"/>
              </a:spcAft>
            </a:pPr>
            <a:r>
              <a:rPr sz="1350" b="1" i="0">
                <a:solidFill>
                  <a:srgbClr val="A93226"/>
                </a:solidFill>
                <a:latin typeface="Calibri"/>
              </a:rPr>
              <a:t>▸  </a:t>
            </a:r>
            <a:r>
              <a:rPr sz="1350" b="0" i="0">
                <a:solidFill>
                  <a:srgbClr val="4A3A30"/>
                </a:solidFill>
                <a:latin typeface="Calibri"/>
              </a:rPr>
              <a:t>Sensitive ID docs isolated in a private subcollection</a:t>
            </a:r>
          </a:p>
          <a:p>
            <a:pPr algn="l">
              <a:lnSpc>
                <a:spcPct val="104000"/>
              </a:lnSpc>
              <a:spcBef>
                <a:spcPts val="0"/>
              </a:spcBef>
              <a:spcAft>
                <a:spcPts val="900"/>
              </a:spcAft>
            </a:pPr>
            <a:r>
              <a:rPr sz="1350" b="1" i="0">
                <a:solidFill>
                  <a:srgbClr val="A93226"/>
                </a:solidFill>
                <a:latin typeface="Calibri"/>
              </a:rPr>
              <a:t>▸  </a:t>
            </a:r>
            <a:r>
              <a:rPr sz="1350" b="0" i="0">
                <a:solidFill>
                  <a:srgbClr val="4A3A30"/>
                </a:solidFill>
                <a:latin typeface="Calibri"/>
              </a:rPr>
              <a:t>HMAC-signed WhatsApp webhook (rejects forged calls)</a:t>
            </a:r>
          </a:p>
          <a:p>
            <a:pPr algn="l">
              <a:lnSpc>
                <a:spcPct val="104000"/>
              </a:lnSpc>
              <a:spcBef>
                <a:spcPts val="0"/>
              </a:spcBef>
              <a:spcAft>
                <a:spcPts val="900"/>
              </a:spcAft>
            </a:pPr>
            <a:r>
              <a:rPr sz="1350" b="1" i="0">
                <a:solidFill>
                  <a:srgbClr val="A93226"/>
                </a:solidFill>
                <a:latin typeface="Calibri"/>
              </a:rPr>
              <a:t>▸  </a:t>
            </a:r>
            <a:r>
              <a:rPr sz="1350" b="0" i="0">
                <a:solidFill>
                  <a:srgbClr val="4A3A30"/>
                </a:solidFill>
                <a:latin typeface="Calibri"/>
              </a:rPr>
              <a:t>POPIA: consent, opt-in, and a documented erasure runbook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66928"/>
            <a:ext cx="457200" cy="82296"/>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13232"/>
            <a:ext cx="10058400" cy="365760"/>
          </a:xfrm>
          <a:prstGeom prst="rect">
            <a:avLst/>
          </a:prstGeom>
          <a:noFill/>
        </p:spPr>
        <p:txBody>
          <a:bodyPr wrap="square" anchor="t">
            <a:spAutoFit/>
          </a:bodyPr>
          <a:lstStyle/>
          <a:p>
            <a:pPr algn="l">
              <a:lnSpc>
                <a:spcPct val="105000"/>
              </a:lnSpc>
              <a:spcBef>
                <a:spcPts val="0"/>
              </a:spcBef>
              <a:spcAft>
                <a:spcPts val="600"/>
              </a:spcAft>
            </a:pPr>
            <a:r>
              <a:rPr sz="1500" b="1" i="0">
                <a:solidFill>
                  <a:srgbClr val="B45A2C"/>
                </a:solidFill>
                <a:latin typeface="Calibri"/>
              </a:rPr>
              <a:t>SUSTAINABILITY — PATH TO REVENUE</a:t>
            </a:r>
          </a:p>
        </p:txBody>
      </p:sp>
      <p:sp>
        <p:nvSpPr>
          <p:cNvPr id="5" name="TextBox 4"/>
          <p:cNvSpPr txBox="1"/>
          <p:nvPr/>
        </p:nvSpPr>
        <p:spPr>
          <a:xfrm>
            <a:off x="548640" y="1024128"/>
            <a:ext cx="11064240" cy="1097280"/>
          </a:xfrm>
          <a:prstGeom prst="rect">
            <a:avLst/>
          </a:prstGeom>
          <a:noFill/>
        </p:spPr>
        <p:txBody>
          <a:bodyPr wrap="square" anchor="t">
            <a:spAutoFit/>
          </a:bodyPr>
          <a:lstStyle/>
          <a:p>
            <a:pPr algn="l">
              <a:lnSpc>
                <a:spcPct val="100000"/>
              </a:lnSpc>
              <a:spcBef>
                <a:spcPts val="0"/>
              </a:spcBef>
              <a:spcAft>
                <a:spcPts val="600"/>
              </a:spcAft>
            </a:pPr>
            <a:r>
              <a:rPr sz="3000" b="1" i="0">
                <a:solidFill>
                  <a:srgbClr val="1F1612"/>
                </a:solidFill>
                <a:latin typeface="Calibri"/>
              </a:rPr>
              <a:t>Free to grow, then a clear path to revenue.</a:t>
            </a:r>
          </a:p>
        </p:txBody>
      </p:sp>
      <p:sp>
        <p:nvSpPr>
          <p:cNvPr id="6" name="Rounded Rectangle 5"/>
          <p:cNvSpPr/>
          <p:nvPr/>
        </p:nvSpPr>
        <p:spPr>
          <a:xfrm>
            <a:off x="548640" y="1828800"/>
            <a:ext cx="2606040" cy="1737360"/>
          </a:xfrm>
          <a:prstGeom prst="roundRect">
            <a:avLst/>
          </a:prstGeom>
          <a:solidFill>
            <a:srgbClr val="1F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65960"/>
            <a:ext cx="2606040" cy="1554480"/>
          </a:xfrm>
          <a:prstGeom prst="rect">
            <a:avLst/>
          </a:prstGeom>
          <a:noFill/>
        </p:spPr>
        <p:txBody>
          <a:bodyPr wrap="square" anchor="t">
            <a:spAutoFit/>
          </a:bodyPr>
          <a:lstStyle/>
          <a:p>
            <a:pPr algn="ctr">
              <a:lnSpc>
                <a:spcPct val="100000"/>
              </a:lnSpc>
              <a:spcBef>
                <a:spcPts val="0"/>
              </a:spcBef>
              <a:spcAft>
                <a:spcPts val="300"/>
              </a:spcAft>
            </a:pPr>
            <a:r>
              <a:rPr sz="3400" b="1" i="0">
                <a:solidFill>
                  <a:srgbClr val="D97742"/>
                </a:solidFill>
                <a:latin typeface="Calibri"/>
              </a:rPr>
              <a:t>8%</a:t>
            </a:r>
          </a:p>
          <a:p>
            <a:pPr algn="ctr">
              <a:lnSpc>
                <a:spcPct val="100000"/>
              </a:lnSpc>
              <a:spcBef>
                <a:spcPts val="0"/>
              </a:spcBef>
              <a:spcAft>
                <a:spcPts val="300"/>
              </a:spcAft>
            </a:pPr>
            <a:r>
              <a:rPr sz="1500" b="1" i="0">
                <a:solidFill>
                  <a:srgbClr val="FAF4EC"/>
                </a:solidFill>
                <a:latin typeface="Calibri"/>
              </a:rPr>
              <a:t>service fee</a:t>
            </a:r>
          </a:p>
          <a:p>
            <a:pPr algn="ctr">
              <a:lnSpc>
                <a:spcPct val="100000"/>
              </a:lnSpc>
              <a:spcBef>
                <a:spcPts val="0"/>
              </a:spcBef>
              <a:spcAft>
                <a:spcPts val="300"/>
              </a:spcAft>
            </a:pPr>
            <a:r>
              <a:rPr sz="1200" b="0" i="0">
                <a:solidFill>
                  <a:srgbClr val="F5DBB5"/>
                </a:solidFill>
                <a:latin typeface="Calibri"/>
              </a:rPr>
              <a:t>paid by the job poster</a:t>
            </a:r>
          </a:p>
        </p:txBody>
      </p:sp>
      <p:sp>
        <p:nvSpPr>
          <p:cNvPr id="8" name="Rounded Rectangle 7"/>
          <p:cNvSpPr/>
          <p:nvPr/>
        </p:nvSpPr>
        <p:spPr>
          <a:xfrm>
            <a:off x="3364992" y="1828800"/>
            <a:ext cx="2606040" cy="1737360"/>
          </a:xfrm>
          <a:prstGeom prst="roundRect">
            <a:avLst/>
          </a:prstGeom>
          <a:solidFill>
            <a:srgbClr val="1F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64992" y="1965960"/>
            <a:ext cx="2606040" cy="1554480"/>
          </a:xfrm>
          <a:prstGeom prst="rect">
            <a:avLst/>
          </a:prstGeom>
          <a:noFill/>
        </p:spPr>
        <p:txBody>
          <a:bodyPr wrap="square" anchor="t">
            <a:spAutoFit/>
          </a:bodyPr>
          <a:lstStyle/>
          <a:p>
            <a:pPr algn="ctr">
              <a:lnSpc>
                <a:spcPct val="100000"/>
              </a:lnSpc>
              <a:spcBef>
                <a:spcPts val="0"/>
              </a:spcBef>
              <a:spcAft>
                <a:spcPts val="300"/>
              </a:spcAft>
            </a:pPr>
            <a:r>
              <a:rPr sz="3400" b="1" i="0">
                <a:solidFill>
                  <a:srgbClr val="D97742"/>
                </a:solidFill>
                <a:latin typeface="Calibri"/>
              </a:rPr>
              <a:t>R49</a:t>
            </a:r>
          </a:p>
          <a:p>
            <a:pPr algn="ctr">
              <a:lnSpc>
                <a:spcPct val="100000"/>
              </a:lnSpc>
              <a:spcBef>
                <a:spcPts val="0"/>
              </a:spcBef>
              <a:spcAft>
                <a:spcPts val="300"/>
              </a:spcAft>
            </a:pPr>
            <a:r>
              <a:rPr sz="1500" b="1" i="0">
                <a:solidFill>
                  <a:srgbClr val="FAF4EC"/>
                </a:solidFill>
                <a:latin typeface="Calibri"/>
              </a:rPr>
              <a:t>Gold badge</a:t>
            </a:r>
          </a:p>
          <a:p>
            <a:pPr algn="ctr">
              <a:lnSpc>
                <a:spcPct val="100000"/>
              </a:lnSpc>
              <a:spcBef>
                <a:spcPts val="0"/>
              </a:spcBef>
              <a:spcAft>
                <a:spcPts val="300"/>
              </a:spcAft>
            </a:pPr>
            <a:r>
              <a:rPr sz="1200" b="0" i="0">
                <a:solidFill>
                  <a:srgbClr val="F5DBB5"/>
                </a:solidFill>
                <a:latin typeface="Calibri"/>
              </a:rPr>
              <a:t>premium verification</a:t>
            </a:r>
          </a:p>
        </p:txBody>
      </p:sp>
      <p:sp>
        <p:nvSpPr>
          <p:cNvPr id="10" name="Rounded Rectangle 9"/>
          <p:cNvSpPr/>
          <p:nvPr/>
        </p:nvSpPr>
        <p:spPr>
          <a:xfrm>
            <a:off x="6181344" y="1828800"/>
            <a:ext cx="2606040" cy="1737360"/>
          </a:xfrm>
          <a:prstGeom prst="roundRect">
            <a:avLst/>
          </a:prstGeom>
          <a:solidFill>
            <a:srgbClr val="1F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1344" y="1965960"/>
            <a:ext cx="2606040" cy="1554480"/>
          </a:xfrm>
          <a:prstGeom prst="rect">
            <a:avLst/>
          </a:prstGeom>
          <a:noFill/>
        </p:spPr>
        <p:txBody>
          <a:bodyPr wrap="square" anchor="t">
            <a:spAutoFit/>
          </a:bodyPr>
          <a:lstStyle/>
          <a:p>
            <a:pPr algn="ctr">
              <a:lnSpc>
                <a:spcPct val="100000"/>
              </a:lnSpc>
              <a:spcBef>
                <a:spcPts val="0"/>
              </a:spcBef>
              <a:spcAft>
                <a:spcPts val="300"/>
              </a:spcAft>
            </a:pPr>
            <a:r>
              <a:rPr sz="3400" b="1" i="0">
                <a:solidFill>
                  <a:srgbClr val="D97742"/>
                </a:solidFill>
                <a:latin typeface="Calibri"/>
              </a:rPr>
              <a:t>R20</a:t>
            </a:r>
          </a:p>
          <a:p>
            <a:pPr algn="ctr">
              <a:lnSpc>
                <a:spcPct val="100000"/>
              </a:lnSpc>
              <a:spcBef>
                <a:spcPts val="0"/>
              </a:spcBef>
              <a:spcAft>
                <a:spcPts val="300"/>
              </a:spcAft>
            </a:pPr>
            <a:r>
              <a:rPr sz="1500" b="1" i="0">
                <a:solidFill>
                  <a:srgbClr val="FAF4EC"/>
                </a:solidFill>
                <a:latin typeface="Calibri"/>
              </a:rPr>
              <a:t>boosted post</a:t>
            </a:r>
          </a:p>
          <a:p>
            <a:pPr algn="ctr">
              <a:lnSpc>
                <a:spcPct val="100000"/>
              </a:lnSpc>
              <a:spcBef>
                <a:spcPts val="0"/>
              </a:spcBef>
              <a:spcAft>
                <a:spcPts val="300"/>
              </a:spcAft>
            </a:pPr>
            <a:r>
              <a:rPr sz="1200" b="0" i="0">
                <a:solidFill>
                  <a:srgbClr val="F5DBB5"/>
                </a:solidFill>
                <a:latin typeface="Calibri"/>
              </a:rPr>
              <a:t>more visibility</a:t>
            </a:r>
          </a:p>
        </p:txBody>
      </p:sp>
      <p:sp>
        <p:nvSpPr>
          <p:cNvPr id="12" name="Rounded Rectangle 11"/>
          <p:cNvSpPr/>
          <p:nvPr/>
        </p:nvSpPr>
        <p:spPr>
          <a:xfrm>
            <a:off x="8997696" y="1828800"/>
            <a:ext cx="2606040" cy="1737360"/>
          </a:xfrm>
          <a:prstGeom prst="roundRect">
            <a:avLst/>
          </a:prstGeom>
          <a:solidFill>
            <a:srgbClr val="1F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97696" y="1965960"/>
            <a:ext cx="2606040" cy="1554480"/>
          </a:xfrm>
          <a:prstGeom prst="rect">
            <a:avLst/>
          </a:prstGeom>
          <a:noFill/>
        </p:spPr>
        <p:txBody>
          <a:bodyPr wrap="square" anchor="t">
            <a:spAutoFit/>
          </a:bodyPr>
          <a:lstStyle/>
          <a:p>
            <a:pPr algn="ctr">
              <a:lnSpc>
                <a:spcPct val="100000"/>
              </a:lnSpc>
              <a:spcBef>
                <a:spcPts val="0"/>
              </a:spcBef>
              <a:spcAft>
                <a:spcPts val="300"/>
              </a:spcAft>
            </a:pPr>
            <a:r>
              <a:rPr sz="3400" b="1" i="0">
                <a:solidFill>
                  <a:srgbClr val="D97742"/>
                </a:solidFill>
                <a:latin typeface="Calibri"/>
              </a:rPr>
              <a:t>R199</a:t>
            </a:r>
          </a:p>
          <a:p>
            <a:pPr algn="ctr">
              <a:lnSpc>
                <a:spcPct val="100000"/>
              </a:lnSpc>
              <a:spcBef>
                <a:spcPts val="0"/>
              </a:spcBef>
              <a:spcAft>
                <a:spcPts val="300"/>
              </a:spcAft>
            </a:pPr>
            <a:r>
              <a:rPr sz="1500" b="1" i="0">
                <a:solidFill>
                  <a:srgbClr val="FAF4EC"/>
                </a:solidFill>
                <a:latin typeface="Calibri"/>
              </a:rPr>
              <a:t>/ month</a:t>
            </a:r>
          </a:p>
          <a:p>
            <a:pPr algn="ctr">
              <a:lnSpc>
                <a:spcPct val="100000"/>
              </a:lnSpc>
              <a:spcBef>
                <a:spcPts val="0"/>
              </a:spcBef>
              <a:spcAft>
                <a:spcPts val="300"/>
              </a:spcAft>
            </a:pPr>
            <a:r>
              <a:rPr sz="1200" b="0" i="0">
                <a:solidFill>
                  <a:srgbClr val="F5DBB5"/>
                </a:solidFill>
                <a:latin typeface="Calibri"/>
              </a:rPr>
              <a:t>business plan</a:t>
            </a:r>
          </a:p>
        </p:txBody>
      </p:sp>
      <p:sp>
        <p:nvSpPr>
          <p:cNvPr id="14" name="TextBox 13"/>
          <p:cNvSpPr txBox="1"/>
          <p:nvPr/>
        </p:nvSpPr>
        <p:spPr>
          <a:xfrm>
            <a:off x="548640" y="3931920"/>
            <a:ext cx="10972800" cy="4572000"/>
          </a:xfrm>
          <a:prstGeom prst="rect">
            <a:avLst/>
          </a:prstGeom>
          <a:noFill/>
        </p:spPr>
        <p:txBody>
          <a:bodyPr wrap="square" anchor="t">
            <a:spAutoFit/>
          </a:bodyPr>
          <a:lstStyle/>
          <a:p>
            <a:pPr algn="l">
              <a:lnSpc>
                <a:spcPct val="104000"/>
              </a:lnSpc>
              <a:spcBef>
                <a:spcPts val="0"/>
              </a:spcBef>
              <a:spcAft>
                <a:spcPts val="1100"/>
              </a:spcAft>
            </a:pPr>
            <a:r>
              <a:rPr sz="1500" b="1" i="0">
                <a:solidFill>
                  <a:srgbClr val="D97742"/>
                </a:solidFill>
                <a:latin typeface="Calibri"/>
              </a:rPr>
              <a:t>▸  </a:t>
            </a:r>
            <a:r>
              <a:rPr sz="1500" b="1" i="0">
                <a:solidFill>
                  <a:srgbClr val="1F1612"/>
                </a:solidFill>
                <a:latin typeface="Calibri"/>
              </a:rPr>
              <a:t>Launch is free  </a:t>
            </a:r>
            <a:r>
              <a:rPr sz="1500" b="0" i="0">
                <a:solidFill>
                  <a:srgbClr val="4A3A30"/>
                </a:solidFill>
                <a:latin typeface="Calibri"/>
              </a:rPr>
              <a:t>— the priority is marketplace liquidity (workers + jobs) first.</a:t>
            </a:r>
          </a:p>
          <a:p>
            <a:pPr algn="l">
              <a:lnSpc>
                <a:spcPct val="104000"/>
              </a:lnSpc>
              <a:spcBef>
                <a:spcPts val="0"/>
              </a:spcBef>
              <a:spcAft>
                <a:spcPts val="1100"/>
              </a:spcAft>
            </a:pPr>
            <a:r>
              <a:rPr sz="1500" b="1" i="0">
                <a:solidFill>
                  <a:srgbClr val="D97742"/>
                </a:solidFill>
                <a:latin typeface="Calibri"/>
              </a:rPr>
              <a:t>▸  </a:t>
            </a:r>
            <a:r>
              <a:rPr sz="1500" b="1" i="0">
                <a:solidFill>
                  <a:srgbClr val="1F1612"/>
                </a:solidFill>
                <a:latin typeface="Calibri"/>
              </a:rPr>
              <a:t>Running cost ≈ R14,100 / month  </a:t>
            </a:r>
            <a:r>
              <a:rPr sz="1500" b="0" i="0">
                <a:solidFill>
                  <a:srgbClr val="4A3A30"/>
                </a:solidFill>
                <a:latin typeface="Calibri"/>
              </a:rPr>
              <a:t>· break-even ≈ 500 completed jobs / month.</a:t>
            </a:r>
          </a:p>
          <a:p>
            <a:pPr algn="l">
              <a:lnSpc>
                <a:spcPct val="104000"/>
              </a:lnSpc>
              <a:spcBef>
                <a:spcPts val="0"/>
              </a:spcBef>
              <a:spcAft>
                <a:spcPts val="1100"/>
              </a:spcAft>
            </a:pPr>
            <a:r>
              <a:rPr sz="1500" b="1" i="0">
                <a:solidFill>
                  <a:srgbClr val="D97742"/>
                </a:solidFill>
                <a:latin typeface="Calibri"/>
              </a:rPr>
              <a:t>▸  </a:t>
            </a:r>
            <a:r>
              <a:rPr sz="1500" b="1" i="0">
                <a:solidFill>
                  <a:srgbClr val="1F1612"/>
                </a:solidFill>
                <a:latin typeface="Calibri"/>
              </a:rPr>
              <a:t>The moat is data.  </a:t>
            </a:r>
            <a:r>
              <a:rPr sz="1500" b="0" i="0">
                <a:solidFill>
                  <a:srgbClr val="4A3A30"/>
                </a:solidFill>
                <a:latin typeface="Calibri"/>
              </a:rPr>
              <a:t>We own POPIA-compliant verified-worker and work-record data no feed can replicate.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852160"/>
            <a:ext cx="12191695" cy="54864"/>
          </a:xfrm>
          <a:prstGeom prst="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66928"/>
            <a:ext cx="5486400" cy="365760"/>
          </a:xfrm>
          <a:prstGeom prst="rect">
            <a:avLst/>
          </a:prstGeom>
          <a:noFill/>
        </p:spPr>
        <p:txBody>
          <a:bodyPr wrap="square" anchor="t">
            <a:spAutoFit/>
          </a:bodyPr>
          <a:lstStyle/>
          <a:p>
            <a:pPr algn="l">
              <a:lnSpc>
                <a:spcPct val="105000"/>
              </a:lnSpc>
              <a:spcBef>
                <a:spcPts val="0"/>
              </a:spcBef>
              <a:spcAft>
                <a:spcPts val="600"/>
              </a:spcAft>
            </a:pPr>
            <a:r>
              <a:rPr sz="1500" b="1" i="0">
                <a:solidFill>
                  <a:srgbClr val="D97742"/>
                </a:solidFill>
                <a:latin typeface="Calibri"/>
              </a:rPr>
              <a:t>IMPACT &amp; VISION</a:t>
            </a:r>
          </a:p>
        </p:txBody>
      </p:sp>
      <p:sp>
        <p:nvSpPr>
          <p:cNvPr id="6" name="TextBox 5"/>
          <p:cNvSpPr txBox="1"/>
          <p:nvPr/>
        </p:nvSpPr>
        <p:spPr>
          <a:xfrm>
            <a:off x="548640" y="960120"/>
            <a:ext cx="11064240" cy="1097280"/>
          </a:xfrm>
          <a:prstGeom prst="rect">
            <a:avLst/>
          </a:prstGeom>
          <a:noFill/>
        </p:spPr>
        <p:txBody>
          <a:bodyPr wrap="square" anchor="t">
            <a:spAutoFit/>
          </a:bodyPr>
          <a:lstStyle/>
          <a:p>
            <a:pPr algn="l">
              <a:lnSpc>
                <a:spcPct val="100000"/>
              </a:lnSpc>
              <a:spcBef>
                <a:spcPts val="0"/>
              </a:spcBef>
              <a:spcAft>
                <a:spcPts val="600"/>
              </a:spcAft>
            </a:pPr>
            <a:r>
              <a:rPr sz="3000" b="1" i="0">
                <a:solidFill>
                  <a:srgbClr val="FAF4EC"/>
                </a:solidFill>
                <a:latin typeface="Calibri"/>
              </a:rPr>
              <a:t>From Gauteng to the whole country.</a:t>
            </a:r>
          </a:p>
        </p:txBody>
      </p:sp>
      <p:sp>
        <p:nvSpPr>
          <p:cNvPr id="7" name="TextBox 6"/>
          <p:cNvSpPr txBox="1"/>
          <p:nvPr/>
        </p:nvSpPr>
        <p:spPr>
          <a:xfrm>
            <a:off x="548640" y="1828800"/>
            <a:ext cx="2194560" cy="1005840"/>
          </a:xfrm>
          <a:prstGeom prst="rect">
            <a:avLst/>
          </a:prstGeom>
          <a:noFill/>
        </p:spPr>
        <p:txBody>
          <a:bodyPr wrap="square" anchor="t">
            <a:spAutoFit/>
          </a:bodyPr>
          <a:lstStyle/>
          <a:p>
            <a:pPr algn="l">
              <a:lnSpc>
                <a:spcPct val="100000"/>
              </a:lnSpc>
              <a:spcBef>
                <a:spcPts val="0"/>
              </a:spcBef>
              <a:spcAft>
                <a:spcPts val="200"/>
              </a:spcAft>
            </a:pPr>
            <a:r>
              <a:rPr sz="4000" b="1" i="0">
                <a:solidFill>
                  <a:srgbClr val="D97742"/>
                </a:solidFill>
                <a:latin typeface="Calibri"/>
              </a:rPr>
              <a:t>140+</a:t>
            </a:r>
          </a:p>
          <a:p>
            <a:pPr algn="l">
              <a:lnSpc>
                <a:spcPct val="100000"/>
              </a:lnSpc>
              <a:spcBef>
                <a:spcPts val="0"/>
              </a:spcBef>
              <a:spcAft>
                <a:spcPts val="200"/>
              </a:spcAft>
            </a:pPr>
            <a:r>
              <a:rPr sz="1400" b="0" i="0">
                <a:solidFill>
                  <a:srgbClr val="F5DBB5"/>
                </a:solidFill>
                <a:latin typeface="Calibri"/>
              </a:rPr>
              <a:t>users</a:t>
            </a:r>
          </a:p>
        </p:txBody>
      </p:sp>
      <p:sp>
        <p:nvSpPr>
          <p:cNvPr id="8" name="TextBox 7"/>
          <p:cNvSpPr txBox="1"/>
          <p:nvPr/>
        </p:nvSpPr>
        <p:spPr>
          <a:xfrm>
            <a:off x="2880360" y="1828800"/>
            <a:ext cx="2194560" cy="1005840"/>
          </a:xfrm>
          <a:prstGeom prst="rect">
            <a:avLst/>
          </a:prstGeom>
          <a:noFill/>
        </p:spPr>
        <p:txBody>
          <a:bodyPr wrap="square" anchor="t">
            <a:spAutoFit/>
          </a:bodyPr>
          <a:lstStyle/>
          <a:p>
            <a:pPr algn="l">
              <a:lnSpc>
                <a:spcPct val="100000"/>
              </a:lnSpc>
              <a:spcBef>
                <a:spcPts val="0"/>
              </a:spcBef>
              <a:spcAft>
                <a:spcPts val="200"/>
              </a:spcAft>
            </a:pPr>
            <a:r>
              <a:rPr sz="4000" b="1" i="0">
                <a:solidFill>
                  <a:srgbClr val="D97742"/>
                </a:solidFill>
                <a:latin typeface="Calibri"/>
              </a:rPr>
              <a:t>110+</a:t>
            </a:r>
          </a:p>
          <a:p>
            <a:pPr algn="l">
              <a:lnSpc>
                <a:spcPct val="100000"/>
              </a:lnSpc>
              <a:spcBef>
                <a:spcPts val="0"/>
              </a:spcBef>
              <a:spcAft>
                <a:spcPts val="200"/>
              </a:spcAft>
            </a:pPr>
            <a:r>
              <a:rPr sz="1400" b="0" i="0">
                <a:solidFill>
                  <a:srgbClr val="F5DBB5"/>
                </a:solidFill>
                <a:latin typeface="Calibri"/>
              </a:rPr>
              <a:t>workers</a:t>
            </a:r>
          </a:p>
        </p:txBody>
      </p:sp>
      <p:sp>
        <p:nvSpPr>
          <p:cNvPr id="9" name="TextBox 8"/>
          <p:cNvSpPr txBox="1"/>
          <p:nvPr/>
        </p:nvSpPr>
        <p:spPr>
          <a:xfrm>
            <a:off x="5212079" y="1828800"/>
            <a:ext cx="2194560" cy="1005840"/>
          </a:xfrm>
          <a:prstGeom prst="rect">
            <a:avLst/>
          </a:prstGeom>
          <a:noFill/>
        </p:spPr>
        <p:txBody>
          <a:bodyPr wrap="square" anchor="t">
            <a:spAutoFit/>
          </a:bodyPr>
          <a:lstStyle/>
          <a:p>
            <a:pPr algn="l">
              <a:lnSpc>
                <a:spcPct val="100000"/>
              </a:lnSpc>
              <a:spcBef>
                <a:spcPts val="0"/>
              </a:spcBef>
              <a:spcAft>
                <a:spcPts val="200"/>
              </a:spcAft>
            </a:pPr>
            <a:r>
              <a:rPr sz="4000" b="1" i="0">
                <a:solidFill>
                  <a:srgbClr val="D97742"/>
                </a:solidFill>
                <a:latin typeface="Calibri"/>
              </a:rPr>
              <a:t>25+</a:t>
            </a:r>
          </a:p>
          <a:p>
            <a:pPr algn="l">
              <a:lnSpc>
                <a:spcPct val="100000"/>
              </a:lnSpc>
              <a:spcBef>
                <a:spcPts val="0"/>
              </a:spcBef>
              <a:spcAft>
                <a:spcPts val="200"/>
              </a:spcAft>
            </a:pPr>
            <a:r>
              <a:rPr sz="1400" b="0" i="0">
                <a:solidFill>
                  <a:srgbClr val="F5DBB5"/>
                </a:solidFill>
                <a:latin typeface="Calibri"/>
              </a:rPr>
              <a:t>ID-verified</a:t>
            </a:r>
          </a:p>
        </p:txBody>
      </p:sp>
      <p:sp>
        <p:nvSpPr>
          <p:cNvPr id="10" name="TextBox 9"/>
          <p:cNvSpPr txBox="1"/>
          <p:nvPr/>
        </p:nvSpPr>
        <p:spPr>
          <a:xfrm>
            <a:off x="548640" y="3017520"/>
            <a:ext cx="7315200" cy="365760"/>
          </a:xfrm>
          <a:prstGeom prst="rect">
            <a:avLst/>
          </a:prstGeom>
          <a:noFill/>
        </p:spPr>
        <p:txBody>
          <a:bodyPr wrap="square" anchor="t">
            <a:spAutoFit/>
          </a:bodyPr>
          <a:lstStyle/>
          <a:p>
            <a:pPr algn="l">
              <a:lnSpc>
                <a:spcPct val="105000"/>
              </a:lnSpc>
              <a:spcBef>
                <a:spcPts val="0"/>
              </a:spcBef>
              <a:spcAft>
                <a:spcPts val="600"/>
              </a:spcAft>
            </a:pPr>
            <a:r>
              <a:rPr sz="1200" b="0" i="1">
                <a:solidFill>
                  <a:srgbClr val="8A7A6A"/>
                </a:solidFill>
                <a:latin typeface="Calibri"/>
              </a:rPr>
              <a:t>Real accounts in Gauteng (demo/seed data excluded) — and growing weekly.</a:t>
            </a:r>
          </a:p>
        </p:txBody>
      </p:sp>
      <p:sp>
        <p:nvSpPr>
          <p:cNvPr id="11" name="TextBox 10"/>
          <p:cNvSpPr txBox="1"/>
          <p:nvPr/>
        </p:nvSpPr>
        <p:spPr>
          <a:xfrm>
            <a:off x="548640" y="3611880"/>
            <a:ext cx="6949440" cy="4572000"/>
          </a:xfrm>
          <a:prstGeom prst="rect">
            <a:avLst/>
          </a:prstGeom>
          <a:noFill/>
        </p:spPr>
        <p:txBody>
          <a:bodyPr wrap="square" anchor="t">
            <a:spAutoFit/>
          </a:bodyPr>
          <a:lstStyle/>
          <a:p>
            <a:pPr algn="l">
              <a:lnSpc>
                <a:spcPct val="104000"/>
              </a:lnSpc>
              <a:spcBef>
                <a:spcPts val="0"/>
              </a:spcBef>
              <a:spcAft>
                <a:spcPts val="1100"/>
              </a:spcAft>
            </a:pPr>
            <a:r>
              <a:rPr sz="1500" b="1" i="0">
                <a:solidFill>
                  <a:srgbClr val="D97742"/>
                </a:solidFill>
                <a:latin typeface="Calibri"/>
              </a:rPr>
              <a:t>▸  </a:t>
            </a:r>
            <a:r>
              <a:rPr sz="1500" b="1" i="0">
                <a:solidFill>
                  <a:srgbClr val="1F1612"/>
                </a:solidFill>
                <a:latin typeface="Calibri"/>
              </a:rPr>
              <a:t>12-month target.  </a:t>
            </a:r>
            <a:r>
              <a:rPr sz="1500" b="0" i="0">
                <a:solidFill>
                  <a:srgbClr val="4A3A30"/>
                </a:solidFill>
                <a:latin typeface="Calibri"/>
              </a:rPr>
              <a:t>3,000 verified workers · 1,500 job posters · 1,500 completed jobs.</a:t>
            </a:r>
          </a:p>
          <a:p>
            <a:pPr algn="l">
              <a:lnSpc>
                <a:spcPct val="104000"/>
              </a:lnSpc>
              <a:spcBef>
                <a:spcPts val="0"/>
              </a:spcBef>
              <a:spcAft>
                <a:spcPts val="1100"/>
              </a:spcAft>
            </a:pPr>
            <a:r>
              <a:rPr sz="1500" b="1" i="0">
                <a:solidFill>
                  <a:srgbClr val="D97742"/>
                </a:solidFill>
                <a:latin typeface="Calibri"/>
              </a:rPr>
              <a:t>▸  </a:t>
            </a:r>
            <a:r>
              <a:rPr sz="1500" b="1" i="0">
                <a:solidFill>
                  <a:srgbClr val="1F1612"/>
                </a:solidFill>
                <a:latin typeface="Calibri"/>
              </a:rPr>
              <a:t>Roadmap.  </a:t>
            </a:r>
            <a:r>
              <a:rPr sz="1500" b="0" i="0">
                <a:solidFill>
                  <a:srgbClr val="4A3A30"/>
                </a:solidFill>
                <a:latin typeface="Calibri"/>
              </a:rPr>
              <a:t>Province-by-province rollout · BluLever artisan pipeline · employer/SME accounts.</a:t>
            </a:r>
          </a:p>
          <a:p>
            <a:pPr algn="l">
              <a:lnSpc>
                <a:spcPct val="104000"/>
              </a:lnSpc>
              <a:spcBef>
                <a:spcPts val="0"/>
              </a:spcBef>
              <a:spcAft>
                <a:spcPts val="1100"/>
              </a:spcAft>
            </a:pPr>
            <a:r>
              <a:rPr sz="1500" b="1" i="0">
                <a:solidFill>
                  <a:srgbClr val="D97742"/>
                </a:solidFill>
                <a:latin typeface="Calibri"/>
              </a:rPr>
              <a:t>▸  </a:t>
            </a:r>
            <a:r>
              <a:rPr sz="1500" b="1" i="0">
                <a:solidFill>
                  <a:srgbClr val="1F1612"/>
                </a:solidFill>
                <a:latin typeface="Calibri"/>
              </a:rPr>
              <a:t>Every verified job  </a:t>
            </a:r>
            <a:r>
              <a:rPr sz="1500" b="0" i="0">
                <a:solidFill>
                  <a:srgbClr val="4A3A30"/>
                </a:solidFill>
                <a:latin typeface="Calibri"/>
              </a:rPr>
              <a:t>is a young person one step closer to stable income.</a:t>
            </a:r>
          </a:p>
        </p:txBody>
      </p:sp>
      <p:sp>
        <p:nvSpPr>
          <p:cNvPr id="12" name="Rounded Rectangle 11"/>
          <p:cNvSpPr/>
          <p:nvPr/>
        </p:nvSpPr>
        <p:spPr>
          <a:xfrm>
            <a:off x="7772400" y="3611880"/>
            <a:ext cx="3840480" cy="1828800"/>
          </a:xfrm>
          <a:prstGeom prst="roundRect">
            <a:avLst/>
          </a:prstGeom>
          <a:solidFill>
            <a:srgbClr val="D97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611880"/>
            <a:ext cx="3840480" cy="1828800"/>
          </a:xfrm>
          <a:prstGeom prst="rect">
            <a:avLst/>
          </a:prstGeom>
          <a:noFill/>
        </p:spPr>
        <p:txBody>
          <a:bodyPr wrap="square" anchor="ctr">
            <a:spAutoFit/>
          </a:bodyPr>
          <a:lstStyle/>
          <a:p>
            <a:pPr algn="ctr">
              <a:lnSpc>
                <a:spcPct val="105000"/>
              </a:lnSpc>
              <a:spcBef>
                <a:spcPts val="0"/>
              </a:spcBef>
              <a:spcAft>
                <a:spcPts val="600"/>
              </a:spcAft>
            </a:pPr>
            <a:r>
              <a:rPr sz="1400" b="1" i="0">
                <a:solidFill>
                  <a:srgbClr val="1F1612"/>
                </a:solidFill>
                <a:latin typeface="Calibri"/>
              </a:rPr>
              <a:t>Demo video</a:t>
            </a:r>
          </a:p>
          <a:p>
            <a:pPr algn="ctr">
              <a:lnSpc>
                <a:spcPct val="105000"/>
              </a:lnSpc>
              <a:spcBef>
                <a:spcPts val="0"/>
              </a:spcBef>
              <a:spcAft>
                <a:spcPts val="600"/>
              </a:spcAft>
            </a:pPr>
            <a:r>
              <a:rPr sz="1500" b="1" i="0">
                <a:solidFill>
                  <a:srgbClr val="1F1612"/>
                </a:solidFill>
                <a:latin typeface="Calibri"/>
              </a:rPr>
              <a:t>[ PASTE LINK ]</a:t>
            </a:r>
          </a:p>
          <a:p>
            <a:pPr algn="ctr">
              <a:lnSpc>
                <a:spcPct val="105000"/>
              </a:lnSpc>
              <a:spcBef>
                <a:spcPts val="0"/>
              </a:spcBef>
              <a:spcAft>
                <a:spcPts val="600"/>
              </a:spcAft>
            </a:pPr>
            <a:r>
              <a:rPr sz="1200" b="0" i="0">
                <a:solidFill>
                  <a:srgbClr val="1F1612"/>
                </a:solidFill>
                <a:latin typeface="Calibri"/>
              </a:rPr>
              <a:t>workitsa.co.za · Team Workitsa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