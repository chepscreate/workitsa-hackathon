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slides/slide14.xml" ContentType="application/vnd.openxmlformats-officedocument.presentationml.slide+xml"/>
  <Override PartName="/ppt/slides/slide15.xml" ContentType="application/vnd.openxmlformats-officedocument.presentationml.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6.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5.xml"/><Relationship Id="rId20" Type="http://schemas.openxmlformats.org/officeDocument/2006/relationships/slide" Target="slides/slide7.xml"/>  <Relationship Id="rId21" Type="http://schemas.openxmlformats.org/officeDocument/2006/relationships/slide" Target="slides/slide14.xml"/>
  <Relationship Id="rId22" Type="http://schemas.openxmlformats.org/officeDocument/2006/relationships/slide" Target="slides/slide15.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Workit is a live, two-sided gig-work marketplace for everyday work in South Africa, entered under Youth employment &amp; work readiness. Solo entry, Team Workitsa, live today at workitsa.co.za. Judges can log in and try it now (box on this slide; full details on the 'Try it yourself' slide). Our hackathon build this weekend: the WhatsApp Job Channel — get work with no app and no data. [Presentation]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Context: ~45% youth unemployment (StatsSA QLFS) — nearly half of South Africans aged 15-34 can't find work. The barrier isn't willingness; it's a trusted, low-data bridge to the next job. Entry-level jobseekers often lack data, a smartphone, a CV and trust signals; informal employers struggle to find vetted help nearby. Workit closes that gap. [Impact]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solution, live today: employers post everyday jobs (cleaning, gardening, trades, deliveries, errands); nearby VERIFIED workers accept or counter-offer; work gets done, paid cash/EFT; both sides rate each other. A real PWA for low-end Android, launching in Gauteng, in en/af/zu. The screenshot is the real product, not a mock-up. [Product, Usability]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hackathon feature: the WhatsApp Job Channel. A jobseeker with no app and no data registers in a chat, gets matched to nearby verified jobs, texts to apply or name a price, and the employer hires with ACCEPT — all inside WhatsApp. Safety is built in: doorstep start-code, live location check-ins, SOS, and a shareable Work Record as proof of work. This is our creative edge and satisfies the rule to build at least one feature during the hackathon. [Creativity, Product]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Required User Journey Story — Thabo's first R450: sign up free (or via WhatsApp) -&gt; verify once (real-person ID) -&gt; get alerted to a nearby job -&gt; reply ACCEPT -&gt; do the work and mark DONE with a time-stamped photo -&gt; get paid &amp; rated, keeping a verifiable record for next time. Low-friction, trust at every step. [Presentation, Usability]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Judges can log in right now. Two pre-approved, pre-verified demo accounts (employer + worker) so you can see both sides of the marketplace. It is seeded with real Gauteng activity so it is never empty. The worker WhatsApp flow is shown in the demo video because the Meta sandbox number limits who can text in; the production number is being provisioned. [Presentation]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Jarvis — a Gemini-powered co-pilot in the admin console: a morning digest, dispute &amp; anomaly alerts, and ask-anything over live Firestore data, reachable over WhatsApp. Live Pulse gives real-time operations. This is applied AI that runs the marketplace, not a bolt-on. [Intelligence]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Technical architecture (required): Next.js PWA (static export) · Firebase Auth (phone OTP / email / Google) · Firestore + Cloud Storage · Cloud Functions in africa-south1 · FCM push · WhatsApp Cloud API · Gemini. Security &amp; SSDLC: TOTP MFA enforced for admins, real-person ID verification before you can trade, tested Firestore security rules, POPIA-aligned handling, and data resident in africa-south1. [Product, Usability]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Sustainability: free at launch to build liquidity (workers + jobs first), then a clear path to revenue — 8% service fee paid by the job poster, R49 Gold verification badge, R20 boosted posts, R199/month business plan. Running cost is about R14,100/month; unit economics improve as completed jobs grow. [Sustainability]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Impact &amp; vision: real traction in Gauteng — 140+ users, 110+ workers, 25+ ID-verified (demo/seed excluded) and growing weekly. 12-month target: 3,000 verified workers, 1,500 job posters, 1,500 completed jobs. Roadmap: province-by-province rollout. Vision: a national bridge to income for South African youth. [Impact]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Summary for scoring: this slide maps Workit directly to the seven judging dimensions (Product, Creativity, Usability, Sustainability, Impact, Presentation, Intelligence) so the panel can score at a glance.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hackathon build log: everything here shipped Friday–Sunday on the live production stack (real commits, logged in CHANGELOG). Headline features: employer-accept-over-WhatsApp and app-less worker onboarding into the real approval &amp; verification pipeline. [Product, Creativity]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Trust is the whole model. Real-person ID verification gates trading; a doorstep start-code confirms the right worker; live location check-ins and SOS protect people on the job; admins require TOTP MFA; POPIA-aligned with data resident in africa-south1 and an erasure runbook. [Usability, Impact]</a:t>
            </a:r>
          </a:p>
        </p:txBody>
      </p:sp>
      <p:sp>
        <p:nvSpPr>
          <p:cNvPr id="4" name="Slide Number Placeholder 3"/>
          <p:cNvSpPr>
            <a:spLocks noGrp="1"/>
          </p:cNvSpPr>
          <p:nvPr>
            <p:ph type="sldNum" idx="5" sz="quarter"/>
          </p:nvPr>
        </p:nvSpPr>
        <p:spPr/>
      </p:sp>
    </p:spTree>
  </p:cSld>
  <p:clrMapOvr>
    <a:masterClrMapping/>
  </p:clrMapOvr>
</p:notes>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9" r:id="rId21"/>
    <p:sldId id="270" r:id="rId22"/>
    <p:sldId id="267" r:id="rId19"/>
    <p:sldId id="260" r:id="rId12"/>
    <p:sldId id="268" r:id="rId20"/>
    <p:sldId id="261" r:id="rId13"/>
    <p:sldId id="262" r:id="rId14"/>
    <p:sldId id="263" r:id="rId15"/>
    <p:sldId id="264" r:id="rId16"/>
    <p:sldId id="265" r:id="rId17"/>
    <p:sldId id="266"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png"/><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5.png"/><Relationship Id="rId4"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3" Type="http://schemas.openxmlformats.org/officeDocument/2006/relationships/image" Target="../media/image7.jpg"/><Relationship Id="rId4" Type="http://schemas.openxmlformats.org/officeDocument/2006/relationships/image" Target="../media/image8.jpg"/><Relationship Id="rId5" Type="http://schemas.openxmlformats.org/officeDocument/2006/relationships/image" Target="../media/image9.jpg"/><Relationship Id="rId6" Type="http://schemas.openxmlformats.org/officeDocument/2006/relationships/image" Target="../media/image10.jpg"/><Relationship Id="rId7" Type="http://schemas.openxmlformats.org/officeDocument/2006/relationships/image" Target="../media/image11.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3" Type="http://schemas.openxmlformats.org/officeDocument/2006/relationships/image" Target="../media/image1.png"/><Relationship Id="rId4"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16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320040" cy="6858000"/>
          </a:xfrm>
          <a:prstGeom prst="rect">
            <a:avLst/>
          </a:prstGeom>
          <a:solidFill>
            <a:srgbClr val="D97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5074920"/>
            <a:ext cx="12191695" cy="54864"/>
          </a:xfrm>
          <a:prstGeom prst="rect">
            <a:avLst/>
          </a:prstGeom>
          <a:solidFill>
            <a:srgbClr val="D97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371600"/>
            <a:ext cx="10515600" cy="1463040"/>
          </a:xfrm>
          <a:prstGeom prst="rect">
            <a:avLst/>
          </a:prstGeom>
          <a:noFill/>
        </p:spPr>
        <p:txBody>
          <a:bodyPr wrap="square" anchor="t">
            <a:spAutoFit/>
          </a:bodyPr>
          <a:lstStyle/>
          <a:p>
            <a:pPr algn="l">
              <a:lnSpc>
                <a:spcPct val="100000"/>
              </a:lnSpc>
              <a:spcBef>
                <a:spcPts val="0"/>
              </a:spcBef>
              <a:spcAft>
                <a:spcPts val="600"/>
              </a:spcAft>
            </a:pPr>
            <a:r>
              <a:rPr sz="7200" b="1" i="0">
                <a:solidFill>
                  <a:srgbClr val="FAF4EC"/>
                </a:solidFill>
                <a:latin typeface="Calibri"/>
              </a:rPr>
              <a:t>Workit</a:t>
            </a:r>
            <a:r>
              <a:rPr sz="7200" b="1" i="0">
                <a:solidFill>
                  <a:srgbClr val="D97742"/>
                </a:solidFill>
                <a:latin typeface="Calibri"/>
              </a:rPr>
              <a:t>SA</a:t>
            </a:r>
          </a:p>
        </p:txBody>
      </p:sp>
      <p:sp>
        <p:nvSpPr>
          <p:cNvPr id="6" name="TextBox 5"/>
          <p:cNvSpPr txBox="1"/>
          <p:nvPr/>
        </p:nvSpPr>
        <p:spPr>
          <a:xfrm>
            <a:off x="868680" y="2697480"/>
            <a:ext cx="10515600" cy="822960"/>
          </a:xfrm>
          <a:prstGeom prst="rect">
            <a:avLst/>
          </a:prstGeom>
          <a:noFill/>
        </p:spPr>
        <p:txBody>
          <a:bodyPr wrap="square" anchor="t">
            <a:spAutoFit/>
          </a:bodyPr>
          <a:lstStyle/>
          <a:p>
            <a:pPr algn="l">
              <a:lnSpc>
                <a:spcPct val="105000"/>
              </a:lnSpc>
              <a:spcBef>
                <a:spcPts val="0"/>
              </a:spcBef>
              <a:spcAft>
                <a:spcPts val="600"/>
              </a:spcAft>
            </a:pPr>
            <a:r>
              <a:rPr sz="2400" b="0" i="0">
                <a:solidFill>
                  <a:srgbClr val="F5DBB5"/>
                </a:solidFill>
                <a:latin typeface="Calibri"/>
              </a:rPr>
              <a:t>Everyday work, found nearby — verified, trusted, low-data.</a:t>
            </a:r>
          </a:p>
        </p:txBody>
      </p:sp>
      <p:sp>
        <p:nvSpPr>
          <p:cNvPr id="7" name="Rounded Rectangle 6"/>
          <p:cNvSpPr/>
          <p:nvPr/>
        </p:nvSpPr>
        <p:spPr>
          <a:xfrm>
            <a:off x="868680" y="3794760"/>
            <a:ext cx="4315968" cy="329184"/>
          </a:xfrm>
          <a:prstGeom prst="roundRect">
            <a:avLst/>
          </a:prstGeom>
          <a:solidFill>
            <a:srgbClr val="D9774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18288" bIns="18288"/>
          <a:lstStyle/>
          <a:p>
            <a:pPr algn="ctr"/>
            <a:r>
              <a:rPr sz="1300" b="1">
                <a:solidFill>
                  <a:srgbClr val="FFFFFF"/>
                </a:solidFill>
                <a:latin typeface="Calibri"/>
              </a:rPr>
              <a:t>Challenge: Youth employment &amp; work readiness</a:t>
            </a:r>
          </a:p>
        </p:txBody>
      </p:sp>
      <p:sp>
        <p:nvSpPr>
          <p:cNvPr id="8" name="Rounded Rectangle 7"/>
          <p:cNvSpPr/>
          <p:nvPr/>
        </p:nvSpPr>
        <p:spPr>
          <a:xfrm>
            <a:off x="6309360" y="3794760"/>
            <a:ext cx="1339596" cy="329184"/>
          </a:xfrm>
          <a:prstGeom prst="roundRect">
            <a:avLst/>
          </a:prstGeom>
          <a:solidFill>
            <a:srgbClr val="A9322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18288" bIns="18288"/>
          <a:lstStyle/>
          <a:p>
            <a:pPr algn="ctr"/>
            <a:r>
              <a:rPr sz="1300" b="1">
                <a:solidFill>
                  <a:srgbClr val="FFFFFF"/>
                </a:solidFill>
                <a:latin typeface="Calibri"/>
              </a:rPr>
              <a:t>#FNBHackathon</a:t>
            </a:r>
          </a:p>
        </p:txBody>
      </p:sp>
      <p:sp>
        <p:nvSpPr>
          <p:cNvPr id="9" name="TextBox 8"/>
          <p:cNvSpPr txBox="1"/>
          <p:nvPr/>
        </p:nvSpPr>
        <p:spPr>
          <a:xfrm>
            <a:off x="868680" y="5394960"/>
            <a:ext cx="10515600" cy="1188720"/>
          </a:xfrm>
          <a:prstGeom prst="rect">
            <a:avLst/>
          </a:prstGeom>
          <a:noFill/>
        </p:spPr>
        <p:txBody>
          <a:bodyPr wrap="square" anchor="t">
            <a:spAutoFit/>
          </a:bodyPr>
          <a:lstStyle/>
          <a:p>
            <a:pPr algn="l">
              <a:lnSpc>
                <a:spcPct val="105000"/>
              </a:lnSpc>
              <a:spcBef>
                <a:spcPts val="0"/>
              </a:spcBef>
              <a:spcAft>
                <a:spcPts val="400"/>
              </a:spcAft>
            </a:pPr>
            <a:r>
              <a:rPr sz="1600" b="1" i="0">
                <a:solidFill>
                  <a:srgbClr val="FAF4EC"/>
                </a:solidFill>
                <a:latin typeface="Calibri"/>
              </a:rPr>
              <a:t>Team Workitsa</a:t>
            </a:r>
            <a:r>
              <a:rPr sz="1600" b="0" i="0">
                <a:solidFill>
                  <a:srgbClr val="F5DBB5"/>
                </a:solidFill>
                <a:latin typeface="Calibri"/>
              </a:rPr>
              <a:t>   ·   solo entry   ·   live at workitsa.co.za</a:t>
            </a:r>
          </a:p>
          <a:p>
            <a:pPr algn="l">
              <a:lnSpc>
                <a:spcPct val="105000"/>
              </a:lnSpc>
              <a:spcBef>
                <a:spcPts val="0"/>
              </a:spcBef>
              <a:spcAft>
                <a:spcPts val="400"/>
              </a:spcAft>
            </a:pPr>
            <a:r>
              <a:rPr sz="1300" b="0" i="0">
                <a:solidFill>
                  <a:srgbClr val="F5DBB5"/>
                </a:solidFill>
                <a:latin typeface="Calibri"/>
              </a:rPr>
              <a:t>Tshepo Joshia Moyo</a:t>
            </a:r>
            <a:r>
              <a:rPr sz="1300" b="0" i="0">
                <a:solidFill>
                  <a:srgbClr val="8A7A6A"/>
                </a:solidFill>
                <a:latin typeface="Calibri"/>
              </a:rPr>
              <a:t>   ·   Futhersky Solutions (Pty) Ltd   ·   FNB App of the Year Hackathon 2026</a:t>
            </a:r>
          </a:p>
        </p:txBody>
      </p:sp>
      <p:sp>
        <p:nvSpPr>
          <p:cNvPr id="10" name="Rounded Rectangle 9"/>
          <p:cNvSpPr/>
          <p:nvPr/>
        </p:nvSpPr>
        <p:spPr>
          <a:xfrm>
            <a:off x="868680" y="4315968"/>
            <a:ext cx="10451592" cy="603504"/>
          </a:xfrm>
          <a:prstGeom prst="roundRect">
            <a:avLst/>
          </a:prstGeom>
          <a:solidFill>
            <a:srgbClr val="2A1F18"/>
          </a:solidFill>
          <a:ln w="12700">
            <a:solidFill>
              <a:srgbClr val="D97742"/>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36576" bIns="36576"/>
          <a:lstStyle/>
          <a:p>
            <a:pPr algn="ctr"/>
            <a:r>
              <a:rPr b="1" sz="1200">
                <a:solidFill>
                  <a:srgbClr val="D97742"/>
                </a:solidFill>
              </a:rPr>
              <a:t>JUDGES — TRY IT NOW   </a:t>
            </a:r>
            <a:r>
              <a:rPr b="1" sz="1200">
                <a:solidFill>
                  <a:srgbClr val="FAF4EC"/>
                </a:solidFill>
              </a:rPr>
              <a:t>workitsa.co.za</a:t>
            </a:r>
          </a:p>
          <a:p>
            <a:r>
              <a:rPr sz="1050">
                <a:solidFill>
                  <a:srgbClr val="F5DBB5"/>
                </a:solidFill>
              </a:rPr>
              <a:t>Employer  judges2610@gmail.com      Worker  judges2610+worker@gmail.com      password  Judges2026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566928"/>
            <a:ext cx="457200" cy="82296"/>
          </a:xfrm>
          <a:prstGeom prst="rect">
            <a:avLst/>
          </a:prstGeom>
          <a:solidFill>
            <a:srgbClr val="D97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713232"/>
            <a:ext cx="10058400" cy="365760"/>
          </a:xfrm>
          <a:prstGeom prst="rect">
            <a:avLst/>
          </a:prstGeom>
          <a:noFill/>
        </p:spPr>
        <p:txBody>
          <a:bodyPr wrap="square" anchor="t">
            <a:spAutoFit/>
          </a:bodyPr>
          <a:lstStyle/>
          <a:p>
            <a:pPr algn="l">
              <a:lnSpc>
                <a:spcPct val="105000"/>
              </a:lnSpc>
              <a:spcBef>
                <a:spcPts val="0"/>
              </a:spcBef>
              <a:spcAft>
                <a:spcPts val="600"/>
              </a:spcAft>
            </a:pPr>
            <a:r>
              <a:rPr sz="1500" b="1" i="0">
                <a:solidFill>
                  <a:srgbClr val="B45A2C"/>
                </a:solidFill>
                <a:latin typeface="Calibri"/>
              </a:rPr>
              <a:t>THE PROBLEM</a:t>
            </a:r>
          </a:p>
        </p:txBody>
      </p:sp>
      <p:sp>
        <p:nvSpPr>
          <p:cNvPr id="5" name="TextBox 4"/>
          <p:cNvSpPr txBox="1"/>
          <p:nvPr/>
        </p:nvSpPr>
        <p:spPr>
          <a:xfrm>
            <a:off x="548640" y="1024128"/>
            <a:ext cx="11064240" cy="1097280"/>
          </a:xfrm>
          <a:prstGeom prst="rect">
            <a:avLst/>
          </a:prstGeom>
          <a:noFill/>
        </p:spPr>
        <p:txBody>
          <a:bodyPr wrap="square" anchor="t">
            <a:spAutoFit/>
          </a:bodyPr>
          <a:lstStyle/>
          <a:p>
            <a:pPr algn="l">
              <a:lnSpc>
                <a:spcPct val="100000"/>
              </a:lnSpc>
              <a:spcBef>
                <a:spcPts val="0"/>
              </a:spcBef>
              <a:spcAft>
                <a:spcPts val="600"/>
              </a:spcAft>
            </a:pPr>
            <a:r>
              <a:rPr sz="3000" b="1" i="0">
                <a:solidFill>
                  <a:srgbClr val="1F1612"/>
                </a:solidFill>
                <a:latin typeface="Calibri"/>
              </a:rPr>
              <a:t>The willingness is there. The bridge to income isn't.</a:t>
            </a:r>
          </a:p>
        </p:txBody>
      </p:sp>
      <p:sp>
        <p:nvSpPr>
          <p:cNvPr id="6" name="TextBox 5"/>
          <p:cNvSpPr txBox="1"/>
          <p:nvPr/>
        </p:nvSpPr>
        <p:spPr>
          <a:xfrm>
            <a:off x="548640" y="1874519"/>
            <a:ext cx="6492240" cy="4572000"/>
          </a:xfrm>
          <a:prstGeom prst="rect">
            <a:avLst/>
          </a:prstGeom>
          <a:noFill/>
        </p:spPr>
        <p:txBody>
          <a:bodyPr wrap="square" anchor="t">
            <a:spAutoFit/>
          </a:bodyPr>
          <a:lstStyle/>
          <a:p>
            <a:pPr algn="l">
              <a:lnSpc>
                <a:spcPct val="104000"/>
              </a:lnSpc>
              <a:spcBef>
                <a:spcPts val="0"/>
              </a:spcBef>
              <a:spcAft>
                <a:spcPts val="1400"/>
              </a:spcAft>
            </a:pPr>
            <a:r>
              <a:rPr sz="1500" b="1" i="0">
                <a:solidFill>
                  <a:srgbClr val="D97742"/>
                </a:solidFill>
                <a:latin typeface="Calibri"/>
              </a:rPr>
              <a:t>▸  </a:t>
            </a:r>
            <a:r>
              <a:rPr sz="1500" b="1" i="0">
                <a:solidFill>
                  <a:srgbClr val="1F1612"/>
                </a:solidFill>
                <a:latin typeface="Calibri"/>
              </a:rPr>
              <a:t>Youth unemployment ~45%.  </a:t>
            </a:r>
            <a:r>
              <a:rPr sz="1500" b="0" i="0">
                <a:solidFill>
                  <a:srgbClr val="4A3A30"/>
                </a:solidFill>
                <a:latin typeface="Calibri"/>
              </a:rPr>
              <a:t>Nearly half of young South Africans (15–34) can't find work. [StatsSA QLFS]</a:t>
            </a:r>
          </a:p>
          <a:p>
            <a:pPr algn="l">
              <a:lnSpc>
                <a:spcPct val="104000"/>
              </a:lnSpc>
              <a:spcBef>
                <a:spcPts val="0"/>
              </a:spcBef>
              <a:spcAft>
                <a:spcPts val="1400"/>
              </a:spcAft>
            </a:pPr>
            <a:r>
              <a:rPr sz="1500" b="1" i="0">
                <a:solidFill>
                  <a:srgbClr val="D97742"/>
                </a:solidFill>
                <a:latin typeface="Calibri"/>
              </a:rPr>
              <a:t>▸  </a:t>
            </a:r>
            <a:r>
              <a:rPr sz="1500" b="1" i="0">
                <a:solidFill>
                  <a:srgbClr val="1F1612"/>
                </a:solidFill>
                <a:latin typeface="Calibri"/>
              </a:rPr>
              <a:t>Skills don't translate to income.  </a:t>
            </a:r>
            <a:r>
              <a:rPr sz="1500" b="0" i="0">
                <a:solidFill>
                  <a:srgbClr val="4A3A30"/>
                </a:solidFill>
                <a:latin typeface="Calibri"/>
              </a:rPr>
              <a:t>Millions have real, practical skills but no credible way to prove them to a stranger.</a:t>
            </a:r>
          </a:p>
          <a:p>
            <a:pPr algn="l">
              <a:lnSpc>
                <a:spcPct val="104000"/>
              </a:lnSpc>
              <a:spcBef>
                <a:spcPts val="0"/>
              </a:spcBef>
              <a:spcAft>
                <a:spcPts val="1400"/>
              </a:spcAft>
            </a:pPr>
            <a:r>
              <a:rPr sz="1500" b="1" i="0">
                <a:solidFill>
                  <a:srgbClr val="D97742"/>
                </a:solidFill>
                <a:latin typeface="Calibri"/>
              </a:rPr>
              <a:t>▸  </a:t>
            </a:r>
            <a:r>
              <a:rPr sz="1500" b="1" i="0">
                <a:solidFill>
                  <a:srgbClr val="1F1612"/>
                </a:solidFill>
                <a:latin typeface="Calibri"/>
              </a:rPr>
              <a:t>Looking for work costs money.  </a:t>
            </a:r>
            <a:r>
              <a:rPr sz="1500" b="0" i="0">
                <a:solidFill>
                  <a:srgbClr val="4A3A30"/>
                </a:solidFill>
                <a:latin typeface="Calibri"/>
              </a:rPr>
              <a:t>Job seekers burn scarce airtime, data and taxi fare chasing work that may not even exist.</a:t>
            </a:r>
          </a:p>
          <a:p>
            <a:pPr algn="l">
              <a:lnSpc>
                <a:spcPct val="104000"/>
              </a:lnSpc>
              <a:spcBef>
                <a:spcPts val="0"/>
              </a:spcBef>
              <a:spcAft>
                <a:spcPts val="1400"/>
              </a:spcAft>
            </a:pPr>
            <a:r>
              <a:rPr sz="1500" b="1" i="0">
                <a:solidFill>
                  <a:srgbClr val="D97742"/>
                </a:solidFill>
                <a:latin typeface="Calibri"/>
              </a:rPr>
              <a:t>▸  </a:t>
            </a:r>
            <a:r>
              <a:rPr sz="1500" b="1" i="0">
                <a:solidFill>
                  <a:srgbClr val="1F1612"/>
                </a:solidFill>
                <a:latin typeface="Calibri"/>
              </a:rPr>
              <a:t>Trust is the blocker.  </a:t>
            </a:r>
            <a:r>
              <a:rPr sz="1500" b="0" i="0">
                <a:solidFill>
                  <a:srgbClr val="4A3A30"/>
                </a:solidFill>
                <a:latin typeface="Calibri"/>
              </a:rPr>
              <a:t>Employers can't tell who's reliable or nearby, so informal work stays stuck in word-of-mouth.</a:t>
            </a:r>
          </a:p>
        </p:txBody>
      </p:sp>
      <p:sp>
        <p:nvSpPr>
          <p:cNvPr id="7" name="Rounded Rectangle 6"/>
          <p:cNvSpPr/>
          <p:nvPr/>
        </p:nvSpPr>
        <p:spPr>
          <a:xfrm>
            <a:off x="7315200" y="2011680"/>
            <a:ext cx="4297680" cy="3017520"/>
          </a:xfrm>
          <a:prstGeom prst="roundRect">
            <a:avLst/>
          </a:prstGeom>
          <a:solidFill>
            <a:srgbClr val="1F16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0" y="2011680"/>
            <a:ext cx="4297680" cy="3017520"/>
          </a:xfrm>
          <a:prstGeom prst="rect">
            <a:avLst/>
          </a:prstGeom>
          <a:noFill/>
        </p:spPr>
        <p:txBody>
          <a:bodyPr wrap="square" anchor="ctr">
            <a:spAutoFit/>
          </a:bodyPr>
          <a:lstStyle/>
          <a:p>
            <a:pPr algn="ctr">
              <a:lnSpc>
                <a:spcPct val="105000"/>
              </a:lnSpc>
              <a:spcBef>
                <a:spcPts val="0"/>
              </a:spcBef>
              <a:spcAft>
                <a:spcPts val="800"/>
              </a:spcAft>
            </a:pPr>
            <a:r>
              <a:rPr sz="4000" b="1" i="0">
                <a:solidFill>
                  <a:srgbClr val="D97742"/>
                </a:solidFill>
                <a:latin typeface="Calibri"/>
              </a:rPr>
              <a:t>“</a:t>
            </a:r>
          </a:p>
          <a:p>
            <a:pPr algn="ctr">
              <a:lnSpc>
                <a:spcPct val="105000"/>
              </a:lnSpc>
              <a:spcBef>
                <a:spcPts val="0"/>
              </a:spcBef>
              <a:spcAft>
                <a:spcPts val="800"/>
              </a:spcAft>
            </a:pPr>
            <a:r>
              <a:rPr sz="2000" b="1" i="0">
                <a:solidFill>
                  <a:srgbClr val="FAF4EC"/>
                </a:solidFill>
                <a:latin typeface="Calibri"/>
              </a:rPr>
              <a:t>The gap isn't effort.</a:t>
            </a:r>
          </a:p>
          <a:p>
            <a:pPr algn="ctr">
              <a:lnSpc>
                <a:spcPct val="105000"/>
              </a:lnSpc>
              <a:spcBef>
                <a:spcPts val="0"/>
              </a:spcBef>
              <a:spcAft>
                <a:spcPts val="800"/>
              </a:spcAft>
            </a:pPr>
            <a:r>
              <a:rPr sz="1800" b="0" i="0">
                <a:solidFill>
                  <a:srgbClr val="F5DBB5"/>
                </a:solidFill>
                <a:latin typeface="Calibri"/>
              </a:rPr>
              <a:t>It's a trusted, low-data bridge between a worker and the next job.</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566928"/>
            <a:ext cx="457200" cy="82296"/>
          </a:xfrm>
          <a:prstGeom prst="rect">
            <a:avLst/>
          </a:prstGeom>
          <a:solidFill>
            <a:srgbClr val="D97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713232"/>
            <a:ext cx="10058400" cy="365760"/>
          </a:xfrm>
          <a:prstGeom prst="rect">
            <a:avLst/>
          </a:prstGeom>
          <a:noFill/>
        </p:spPr>
        <p:txBody>
          <a:bodyPr wrap="square" anchor="t">
            <a:spAutoFit/>
          </a:bodyPr>
          <a:lstStyle/>
          <a:p>
            <a:pPr algn="l">
              <a:lnSpc>
                <a:spcPct val="105000"/>
              </a:lnSpc>
              <a:spcBef>
                <a:spcPts val="0"/>
              </a:spcBef>
              <a:spcAft>
                <a:spcPts val="600"/>
              </a:spcAft>
            </a:pPr>
            <a:r>
              <a:rPr sz="1500" b="1" i="0">
                <a:solidFill>
                  <a:srgbClr val="B45A2C"/>
                </a:solidFill>
                <a:latin typeface="Calibri"/>
              </a:rPr>
              <a:t>THE SOLUTION — LIVE TODAY</a:t>
            </a:r>
          </a:p>
        </p:txBody>
      </p:sp>
      <p:sp>
        <p:nvSpPr>
          <p:cNvPr id="5" name="TextBox 4"/>
          <p:cNvSpPr txBox="1"/>
          <p:nvPr/>
        </p:nvSpPr>
        <p:spPr>
          <a:xfrm>
            <a:off x="548640" y="1024128"/>
            <a:ext cx="11064240" cy="1097280"/>
          </a:xfrm>
          <a:prstGeom prst="rect">
            <a:avLst/>
          </a:prstGeom>
          <a:noFill/>
        </p:spPr>
        <p:txBody>
          <a:bodyPr wrap="square" anchor="t">
            <a:spAutoFit/>
          </a:bodyPr>
          <a:lstStyle/>
          <a:p>
            <a:pPr algn="l">
              <a:lnSpc>
                <a:spcPct val="100000"/>
              </a:lnSpc>
              <a:spcBef>
                <a:spcPts val="0"/>
              </a:spcBef>
              <a:spcAft>
                <a:spcPts val="600"/>
              </a:spcAft>
            </a:pPr>
            <a:r>
              <a:rPr sz="3000" b="1" i="0">
                <a:solidFill>
                  <a:srgbClr val="1F1612"/>
                </a:solidFill>
                <a:latin typeface="Calibri"/>
              </a:rPr>
              <a:t>A verified, two-sided marketplace for everyday work.</a:t>
            </a:r>
          </a:p>
        </p:txBody>
      </p:sp>
      <p:sp>
        <p:nvSpPr>
          <p:cNvPr id="6" name="TextBox 5"/>
          <p:cNvSpPr txBox="1"/>
          <p:nvPr/>
        </p:nvSpPr>
        <p:spPr>
          <a:xfrm>
            <a:off x="548640" y="1828800"/>
            <a:ext cx="5943600" cy="4572000"/>
          </a:xfrm>
          <a:prstGeom prst="rect">
            <a:avLst/>
          </a:prstGeom>
          <a:noFill/>
        </p:spPr>
        <p:txBody>
          <a:bodyPr wrap="square" anchor="t">
            <a:spAutoFit/>
          </a:bodyPr>
          <a:lstStyle/>
          <a:p>
            <a:pPr algn="l">
              <a:lnSpc>
                <a:spcPct val="104000"/>
              </a:lnSpc>
              <a:spcBef>
                <a:spcPts val="0"/>
              </a:spcBef>
              <a:spcAft>
                <a:spcPts val="1100"/>
              </a:spcAft>
            </a:pPr>
            <a:r>
              <a:rPr sz="1450" b="1" i="0">
                <a:solidFill>
                  <a:srgbClr val="D97742"/>
                </a:solidFill>
                <a:latin typeface="Calibri"/>
              </a:rPr>
              <a:t>▸  </a:t>
            </a:r>
            <a:r>
              <a:rPr sz="1450" b="1" i="0">
                <a:solidFill>
                  <a:srgbClr val="1F1612"/>
                </a:solidFill>
                <a:latin typeface="Calibri"/>
              </a:rPr>
              <a:t>Post a job.  </a:t>
            </a:r>
            <a:r>
              <a:rPr sz="1450" b="0" i="0">
                <a:solidFill>
                  <a:srgbClr val="4A3A30"/>
                </a:solidFill>
                <a:latin typeface="Calibri"/>
              </a:rPr>
              <a:t>Employers post everyday work — cleaning, gardening, trades, deliveries, errands.</a:t>
            </a:r>
          </a:p>
          <a:p>
            <a:pPr algn="l">
              <a:lnSpc>
                <a:spcPct val="104000"/>
              </a:lnSpc>
              <a:spcBef>
                <a:spcPts val="0"/>
              </a:spcBef>
              <a:spcAft>
                <a:spcPts val="1100"/>
              </a:spcAft>
            </a:pPr>
            <a:r>
              <a:rPr sz="1450" b="1" i="0">
                <a:solidFill>
                  <a:srgbClr val="D97742"/>
                </a:solidFill>
                <a:latin typeface="Calibri"/>
              </a:rPr>
              <a:t>▸  </a:t>
            </a:r>
            <a:r>
              <a:rPr sz="1450" b="1" i="0">
                <a:solidFill>
                  <a:srgbClr val="1F1612"/>
                </a:solidFill>
                <a:latin typeface="Calibri"/>
              </a:rPr>
              <a:t>Get matched.  </a:t>
            </a:r>
            <a:r>
              <a:rPr sz="1450" b="0" i="0">
                <a:solidFill>
                  <a:srgbClr val="4A3A30"/>
                </a:solidFill>
                <a:latin typeface="Calibri"/>
              </a:rPr>
              <a:t>Nearby verified workers are alerted; they accept or counter-offer.</a:t>
            </a:r>
          </a:p>
          <a:p>
            <a:pPr algn="l">
              <a:lnSpc>
                <a:spcPct val="104000"/>
              </a:lnSpc>
              <a:spcBef>
                <a:spcPts val="0"/>
              </a:spcBef>
              <a:spcAft>
                <a:spcPts val="1100"/>
              </a:spcAft>
            </a:pPr>
            <a:r>
              <a:rPr sz="1450" b="1" i="0">
                <a:solidFill>
                  <a:srgbClr val="D97742"/>
                </a:solidFill>
                <a:latin typeface="Calibri"/>
              </a:rPr>
              <a:t>▸  </a:t>
            </a:r>
            <a:r>
              <a:rPr sz="1450" b="1" i="0">
                <a:solidFill>
                  <a:srgbClr val="1F1612"/>
                </a:solidFill>
                <a:latin typeface="Calibri"/>
              </a:rPr>
              <a:t>Get it done, get paid.  </a:t>
            </a:r>
            <a:r>
              <a:rPr sz="1450" b="0" i="0">
                <a:solidFill>
                  <a:srgbClr val="4A3A30"/>
                </a:solidFill>
                <a:latin typeface="Calibri"/>
              </a:rPr>
              <a:t>Work happens, paid in cash/EFT, both sides rate each other.</a:t>
            </a:r>
          </a:p>
          <a:p>
            <a:pPr algn="l">
              <a:lnSpc>
                <a:spcPct val="104000"/>
              </a:lnSpc>
              <a:spcBef>
                <a:spcPts val="0"/>
              </a:spcBef>
              <a:spcAft>
                <a:spcPts val="1100"/>
              </a:spcAft>
            </a:pPr>
            <a:r>
              <a:rPr sz="1450" b="1" i="0">
                <a:solidFill>
                  <a:srgbClr val="D97742"/>
                </a:solidFill>
                <a:latin typeface="Calibri"/>
              </a:rPr>
              <a:t>▸  </a:t>
            </a:r>
            <a:r>
              <a:rPr sz="1450" b="1" i="0">
                <a:solidFill>
                  <a:srgbClr val="1F1612"/>
                </a:solidFill>
                <a:latin typeface="Calibri"/>
              </a:rPr>
              <a:t>Build a record.  </a:t>
            </a:r>
            <a:r>
              <a:rPr sz="1450" b="0" i="0">
                <a:solidFill>
                  <a:srgbClr val="4A3A30"/>
                </a:solidFill>
                <a:latin typeface="Calibri"/>
              </a:rPr>
              <a:t>Every completed job becomes a portable, verifiable work history.</a:t>
            </a:r>
          </a:p>
          <a:p>
            <a:pPr algn="l">
              <a:lnSpc>
                <a:spcPct val="104000"/>
              </a:lnSpc>
              <a:spcBef>
                <a:spcPts val="0"/>
              </a:spcBef>
              <a:spcAft>
                <a:spcPts val="1100"/>
              </a:spcAft>
            </a:pPr>
            <a:r>
              <a:rPr sz="1450" b="1" i="0">
                <a:solidFill>
                  <a:srgbClr val="D97742"/>
                </a:solidFill>
                <a:latin typeface="Calibri"/>
              </a:rPr>
              <a:t>▸  </a:t>
            </a:r>
            <a:r>
              <a:rPr sz="1450" b="1" i="0">
                <a:solidFill>
                  <a:srgbClr val="1F1612"/>
                </a:solidFill>
                <a:latin typeface="Calibri"/>
              </a:rPr>
              <a:t>Trust-first.  </a:t>
            </a:r>
            <a:r>
              <a:rPr sz="1450" b="0" i="0">
                <a:solidFill>
                  <a:srgbClr val="4A3A30"/>
                </a:solidFill>
                <a:latin typeface="Calibri"/>
              </a:rPr>
              <a:t>Real-person ID checks, ratings, and time-stamped proof-of-work photos.</a:t>
            </a:r>
          </a:p>
        </p:txBody>
      </p:sp>
      <p:sp>
        <p:nvSpPr>
          <p:cNvPr id="9" name="Rounded Rectangle 8"/>
          <p:cNvSpPr/>
          <p:nvPr/>
        </p:nvSpPr>
        <p:spPr>
          <a:xfrm>
            <a:off x="548640" y="5943600"/>
            <a:ext cx="4988051" cy="329184"/>
          </a:xfrm>
          <a:prstGeom prst="roundRect">
            <a:avLst/>
          </a:prstGeom>
          <a:solidFill>
            <a:srgbClr val="2F8F83"/>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18288" bIns="18288"/>
          <a:lstStyle/>
          <a:p>
            <a:pPr algn="ctr"/>
            <a:r>
              <a:rPr sz="1200" b="1">
                <a:solidFill>
                  <a:srgbClr val="FFFFFF"/>
                </a:solidFill>
                <a:latin typeface="Calibri"/>
              </a:rPr>
              <a:t>Live PWA · Gauteng · low-end Android · en / af / zu</a:t>
            </a:r>
          </a:p>
        </p:txBody>
      </p:sp>
      <p:pic>
        <p:nvPicPr>
          <p:cNvPr id="10" name="Picture 9" descr="homepage-marketplace.png"/>
          <p:cNvPicPr>
            <a:picLocks noChangeAspect="1"/>
          </p:cNvPicPr>
          <p:nvPr/>
        </p:nvPicPr>
        <p:blipFill>
          <a:blip r:embed="rId3"/>
          <a:stretch>
            <a:fillRect/>
          </a:stretch>
        </p:blipFill>
        <p:spPr>
          <a:xfrm>
            <a:off x="6583680" y="2697480"/>
            <a:ext cx="5029200" cy="2828571"/>
          </a:xfrm>
          <a:prstGeom prst="rect">
            <a:avLst/>
          </a:prstGeom>
          <a:ln w="15875">
            <a:solidFill>
              <a:srgbClr val="FAF4EC"/>
            </a:solidFill>
          </a:ln>
        </p:spPr>
      </p:pic>
      <p:sp>
        <p:nvSpPr>
          <p:cNvPr id="11" name="TextBox 10"/>
          <p:cNvSpPr txBox="1"/>
          <p:nvPr/>
        </p:nvSpPr>
        <p:spPr>
          <a:xfrm>
            <a:off x="6583680" y="5599203"/>
            <a:ext cx="5029200" cy="365760"/>
          </a:xfrm>
          <a:prstGeom prst="rect">
            <a:avLst/>
          </a:prstGeom>
          <a:noFill/>
        </p:spPr>
        <p:txBody>
          <a:bodyPr wrap="square">
            <a:spAutoFit/>
          </a:bodyPr>
          <a:lstStyle/>
          <a:p>
            <a:pPr algn="ctr"/>
            <a:r>
              <a:rPr sz="1100" i="1">
                <a:solidFill>
                  <a:srgbClr val="D8CFC4"/>
                </a:solidFill>
              </a:rPr>
              <a:t>Live at workitsa.co.za — real jobs, verified workers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16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320040" cy="6858000"/>
          </a:xfrm>
          <a:prstGeom prst="rect">
            <a:avLst/>
          </a:prstGeom>
          <a:solidFill>
            <a:srgbClr val="D97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566928"/>
            <a:ext cx="5486400" cy="365760"/>
          </a:xfrm>
          <a:prstGeom prst="rect">
            <a:avLst/>
          </a:prstGeom>
          <a:noFill/>
        </p:spPr>
        <p:txBody>
          <a:bodyPr wrap="square" anchor="t">
            <a:spAutoFit/>
          </a:bodyPr>
          <a:lstStyle/>
          <a:p>
            <a:pPr algn="l">
              <a:lnSpc>
                <a:spcPct val="105000"/>
              </a:lnSpc>
              <a:spcBef>
                <a:spcPts val="0"/>
              </a:spcBef>
              <a:spcAft>
                <a:spcPts val="600"/>
              </a:spcAft>
            </a:pPr>
            <a:r>
              <a:rPr sz="1500" b="1" i="0">
                <a:solidFill>
                  <a:srgbClr val="D97742"/>
                </a:solidFill>
                <a:latin typeface="Calibri"/>
              </a:rPr>
              <a:t>BUILT AT THE HACKATHON</a:t>
            </a:r>
          </a:p>
        </p:txBody>
      </p:sp>
      <p:sp>
        <p:nvSpPr>
          <p:cNvPr id="5" name="TextBox 4"/>
          <p:cNvSpPr txBox="1"/>
          <p:nvPr/>
        </p:nvSpPr>
        <p:spPr>
          <a:xfrm>
            <a:off x="548640" y="960120"/>
            <a:ext cx="11064240" cy="1097280"/>
          </a:xfrm>
          <a:prstGeom prst="rect">
            <a:avLst/>
          </a:prstGeom>
          <a:noFill/>
        </p:spPr>
        <p:txBody>
          <a:bodyPr wrap="square" anchor="t">
            <a:spAutoFit/>
          </a:bodyPr>
          <a:lstStyle/>
          <a:p>
            <a:pPr algn="l">
              <a:lnSpc>
                <a:spcPct val="100000"/>
              </a:lnSpc>
              <a:spcBef>
                <a:spcPts val="0"/>
              </a:spcBef>
              <a:spcAft>
                <a:spcPts val="600"/>
              </a:spcAft>
            </a:pPr>
            <a:r>
              <a:rPr sz="2900" b="1" i="0">
                <a:solidFill>
                  <a:srgbClr val="FAF4EC"/>
                </a:solidFill>
                <a:latin typeface="Calibri"/>
              </a:rPr>
              <a:t>The WhatsApp Job Channel — no app, no data needed.</a:t>
            </a:r>
          </a:p>
        </p:txBody>
      </p:sp>
      <p:sp>
        <p:nvSpPr>
          <p:cNvPr id="6" name="TextBox 5"/>
          <p:cNvSpPr txBox="1"/>
          <p:nvPr/>
        </p:nvSpPr>
        <p:spPr>
          <a:xfrm>
            <a:off x="548640" y="1920240"/>
            <a:ext cx="6400800" cy="4572000"/>
          </a:xfrm>
          <a:prstGeom prst="rect">
            <a:avLst/>
          </a:prstGeom>
          <a:noFill/>
        </p:spPr>
        <p:txBody>
          <a:bodyPr wrap="square" anchor="t">
            <a:spAutoFit/>
          </a:bodyPr>
          <a:lstStyle/>
          <a:p>
            <a:pPr algn="l">
              <a:lnSpc>
                <a:spcPct val="104000"/>
              </a:lnSpc>
              <a:spcBef>
                <a:spcPts val="0"/>
              </a:spcBef>
              <a:spcAft>
                <a:spcPts val="900"/>
              </a:spcAft>
            </a:pPr>
            <a:r>
              <a:rPr sz="1450" b="1" i="0">
                <a:solidFill>
                  <a:srgbClr val="D97742"/>
                </a:solidFill>
                <a:latin typeface="Calibri"/>
              </a:rPr>
              <a:t>▸  </a:t>
            </a:r>
            <a:r>
              <a:rPr sz="1450" b="1" i="0">
                <a:solidFill>
                  <a:srgbClr val="FAF4EC"/>
                </a:solidFill>
                <a:latin typeface="Calibri"/>
              </a:rPr>
              <a:t>Register in a chat.  </a:t>
            </a:r>
            <a:r>
              <a:rPr sz="1450" b="0" i="0">
                <a:solidFill>
                  <a:srgbClr val="D8CFC4"/>
                </a:solidFill>
                <a:latin typeface="Calibri"/>
              </a:rPr>
              <a:t>A jobseeker with no app and no data signs up over WhatsApp — name, area, skills, consent.</a:t>
            </a:r>
          </a:p>
          <a:p>
            <a:pPr algn="l">
              <a:lnSpc>
                <a:spcPct val="104000"/>
              </a:lnSpc>
              <a:spcBef>
                <a:spcPts val="0"/>
              </a:spcBef>
              <a:spcAft>
                <a:spcPts val="900"/>
              </a:spcAft>
            </a:pPr>
            <a:r>
              <a:rPr sz="1450" b="1" i="0">
                <a:solidFill>
                  <a:srgbClr val="D97742"/>
                </a:solidFill>
                <a:latin typeface="Calibri"/>
              </a:rPr>
              <a:t>▸  </a:t>
            </a:r>
            <a:r>
              <a:rPr sz="1450" b="1" i="0">
                <a:solidFill>
                  <a:srgbClr val="FAF4EC"/>
                </a:solidFill>
                <a:latin typeface="Calibri"/>
              </a:rPr>
              <a:t>Get matched.  </a:t>
            </a:r>
            <a:r>
              <a:rPr sz="1450" b="0" i="0">
                <a:solidFill>
                  <a:srgbClr val="D8CFC4"/>
                </a:solidFill>
                <a:latin typeface="Calibri"/>
              </a:rPr>
              <a:t>We WhatsApp them when a verified job appears nearby, in their line of work.</a:t>
            </a:r>
          </a:p>
          <a:p>
            <a:pPr algn="l">
              <a:lnSpc>
                <a:spcPct val="104000"/>
              </a:lnSpc>
              <a:spcBef>
                <a:spcPts val="0"/>
              </a:spcBef>
              <a:spcAft>
                <a:spcPts val="900"/>
              </a:spcAft>
            </a:pPr>
            <a:r>
              <a:rPr sz="1450" b="1" i="0">
                <a:solidFill>
                  <a:srgbClr val="D97742"/>
                </a:solidFill>
                <a:latin typeface="Calibri"/>
              </a:rPr>
              <a:t>▸  </a:t>
            </a:r>
            <a:r>
              <a:rPr sz="1450" b="1" i="0">
                <a:solidFill>
                  <a:srgbClr val="FAF4EC"/>
                </a:solidFill>
                <a:latin typeface="Calibri"/>
              </a:rPr>
              <a:t>Find &amp; offer.  </a:t>
            </a:r>
            <a:r>
              <a:rPr sz="1450" b="0" i="0">
                <a:solidFill>
                  <a:srgbClr val="D8CFC4"/>
                </a:solidFill>
                <a:latin typeface="Calibri"/>
              </a:rPr>
              <a:t>Text JOBS to see work; reply a number to apply, or name your own price.</a:t>
            </a:r>
          </a:p>
          <a:p>
            <a:pPr algn="l">
              <a:lnSpc>
                <a:spcPct val="104000"/>
              </a:lnSpc>
              <a:spcBef>
                <a:spcPts val="0"/>
              </a:spcBef>
              <a:spcAft>
                <a:spcPts val="900"/>
              </a:spcAft>
            </a:pPr>
            <a:r>
              <a:rPr sz="1450" b="1" i="0">
                <a:solidFill>
                  <a:srgbClr val="D97742"/>
                </a:solidFill>
                <a:latin typeface="Calibri"/>
              </a:rPr>
              <a:t>▸  </a:t>
            </a:r>
            <a:r>
              <a:rPr sz="1450" b="1" i="0">
                <a:solidFill>
                  <a:srgbClr val="FAF4EC"/>
                </a:solidFill>
                <a:latin typeface="Calibri"/>
              </a:rPr>
              <a:t>Get hired.  </a:t>
            </a:r>
            <a:r>
              <a:rPr sz="1450" b="0" i="0">
                <a:solidFill>
                  <a:srgbClr val="D8CFC4"/>
                </a:solidFill>
                <a:latin typeface="Calibri"/>
              </a:rPr>
              <a:t>The employer reviews offers and hires with ACCEPT — both sides stay in WhatsApp.</a:t>
            </a:r>
          </a:p>
          <a:p>
            <a:pPr algn="l">
              <a:lnSpc>
                <a:spcPct val="104000"/>
              </a:lnSpc>
              <a:spcBef>
                <a:spcPts val="0"/>
              </a:spcBef>
              <a:spcAft>
                <a:spcPts val="900"/>
              </a:spcAft>
            </a:pPr>
            <a:r>
              <a:rPr sz="1450" b="1" i="0">
                <a:solidFill>
                  <a:srgbClr val="D97742"/>
                </a:solidFill>
                <a:latin typeface="Calibri"/>
              </a:rPr>
              <a:t>▸  </a:t>
            </a:r>
            <a:r>
              <a:rPr sz="1450" b="1" i="0">
                <a:solidFill>
                  <a:srgbClr val="FAF4EC"/>
                </a:solidFill>
                <a:latin typeface="Calibri"/>
              </a:rPr>
              <a:t>Work safely.  </a:t>
            </a:r>
            <a:r>
              <a:rPr sz="1450" b="0" i="0">
                <a:solidFill>
                  <a:srgbClr val="D8CFC4"/>
                </a:solidFill>
                <a:latin typeface="Calibri"/>
              </a:rPr>
              <a:t>Doorstep start-code, live location check-ins, and SOS straight to our safety team.</a:t>
            </a:r>
          </a:p>
          <a:p>
            <a:pPr algn="l">
              <a:lnSpc>
                <a:spcPct val="104000"/>
              </a:lnSpc>
              <a:spcBef>
                <a:spcPts val="0"/>
              </a:spcBef>
              <a:spcAft>
                <a:spcPts val="900"/>
              </a:spcAft>
            </a:pPr>
            <a:r>
              <a:rPr sz="1450" b="1" i="0">
                <a:solidFill>
                  <a:srgbClr val="D97742"/>
                </a:solidFill>
                <a:latin typeface="Calibri"/>
              </a:rPr>
              <a:t>▸  </a:t>
            </a:r>
            <a:r>
              <a:rPr sz="1450" b="1" i="0">
                <a:solidFill>
                  <a:srgbClr val="FAF4EC"/>
                </a:solidFill>
                <a:latin typeface="Calibri"/>
              </a:rPr>
              <a:t>Proof of work.  </a:t>
            </a:r>
            <a:r>
              <a:rPr sz="1450" b="0" i="0">
                <a:solidFill>
                  <a:srgbClr val="D8CFC4"/>
                </a:solidFill>
                <a:latin typeface="Calibri"/>
              </a:rPr>
              <a:t>Every finished job builds a shareable Work Record — real work readiness, not just a payout.</a:t>
            </a:r>
          </a:p>
        </p:txBody>
      </p:sp>
      <p:pic>
        <p:nvPicPr>
          <p:cNvPr id="7" name="Picture 6" descr="wa-jobs-offer.png"/>
          <p:cNvPicPr>
            <a:picLocks noChangeAspect="1"/>
          </p:cNvPicPr>
          <p:nvPr/>
        </p:nvPicPr>
        <p:blipFill>
          <a:blip r:embed="rId3"/>
          <a:stretch>
            <a:fillRect/>
          </a:stretch>
        </p:blipFill>
        <p:spPr>
          <a:xfrm>
            <a:off x="7468372" y="2148840"/>
            <a:ext cx="1922515" cy="4160520"/>
          </a:xfrm>
          <a:prstGeom prst="rect">
            <a:avLst/>
          </a:prstGeom>
          <a:ln w="12700">
            <a:solidFill>
              <a:srgbClr val="C9BCAF"/>
            </a:solidFill>
          </a:ln>
        </p:spPr>
      </p:pic>
      <p:pic>
        <p:nvPicPr>
          <p:cNvPr id="8" name="Picture 7" descr="wa-full-arc.png"/>
          <p:cNvPicPr>
            <a:picLocks noChangeAspect="1"/>
          </p:cNvPicPr>
          <p:nvPr/>
        </p:nvPicPr>
        <p:blipFill>
          <a:blip r:embed="rId4"/>
          <a:stretch>
            <a:fillRect/>
          </a:stretch>
        </p:blipFill>
        <p:spPr>
          <a:xfrm>
            <a:off x="9518904" y="2148840"/>
            <a:ext cx="1922515" cy="4160520"/>
          </a:xfrm>
          <a:prstGeom prst="rect">
            <a:avLst/>
          </a:prstGeom>
          <a:ln w="12700">
            <a:solidFill>
              <a:srgbClr val="C9BCAF"/>
            </a:solidFill>
          </a:ln>
        </p:spPr>
      </p:pic>
      <p:sp>
        <p:nvSpPr>
          <p:cNvPr id="9" name="TextBox 8"/>
          <p:cNvSpPr txBox="1"/>
          <p:nvPr/>
        </p:nvSpPr>
        <p:spPr>
          <a:xfrm>
            <a:off x="7376932" y="6336792"/>
            <a:ext cx="2105395" cy="274320"/>
          </a:xfrm>
          <a:prstGeom prst="rect">
            <a:avLst/>
          </a:prstGeom>
          <a:noFill/>
        </p:spPr>
        <p:txBody>
          <a:bodyPr wrap="square">
            <a:spAutoFit/>
          </a:bodyPr>
          <a:lstStyle/>
          <a:p>
            <a:pPr algn="ctr"/>
            <a:r>
              <a:rPr sz="1000" i="1">
                <a:solidFill>
                  <a:srgbClr val="D8CFC4"/>
                </a:solidFill>
              </a:rPr>
              <a:t>Find &amp; offer</a:t>
            </a:r>
          </a:p>
        </p:txBody>
      </p:sp>
      <p:sp>
        <p:nvSpPr>
          <p:cNvPr id="10" name="TextBox 9"/>
          <p:cNvSpPr txBox="1"/>
          <p:nvPr/>
        </p:nvSpPr>
        <p:spPr>
          <a:xfrm>
            <a:off x="9427464" y="6336792"/>
            <a:ext cx="2105395" cy="274320"/>
          </a:xfrm>
          <a:prstGeom prst="rect">
            <a:avLst/>
          </a:prstGeom>
          <a:noFill/>
        </p:spPr>
        <p:txBody>
          <a:bodyPr wrap="square">
            <a:spAutoFit/>
          </a:bodyPr>
          <a:lstStyle/>
          <a:p>
            <a:pPr algn="ctr"/>
            <a:r>
              <a:rPr sz="1000" i="1">
                <a:solidFill>
                  <a:srgbClr val="D8CFC4"/>
                </a:solidFill>
              </a:rPr>
              <a:t>Do it &amp; get paid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16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320040" cy="6858000"/>
          </a:xfrm>
          <a:prstGeom prst="rect">
            <a:avLst/>
          </a:prstGeom>
          <a:solidFill>
            <a:srgbClr val="D977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548640"/>
            <a:ext cx="8229600" cy="365760"/>
          </a:xfrm>
          <a:prstGeom prst="rect">
            <a:avLst/>
          </a:prstGeom>
          <a:noFill/>
        </p:spPr>
        <p:txBody>
          <a:bodyPr wrap="none">
            <a:spAutoFit/>
          </a:bodyPr>
          <a:lstStyle/>
          <a:p>
            <a:r>
              <a:rPr sz="1500" b="1">
                <a:solidFill>
                  <a:srgbClr val="D97742"/>
                </a:solidFill>
              </a:rPr>
              <a:t>SHIPPED THIS WEEKEND</a:t>
            </a:r>
          </a:p>
        </p:txBody>
      </p:sp>
      <p:sp>
        <p:nvSpPr>
          <p:cNvPr id="5" name="TextBox 4"/>
          <p:cNvSpPr txBox="1"/>
          <p:nvPr/>
        </p:nvSpPr>
        <p:spPr>
          <a:xfrm>
            <a:off x="548640" y="932688"/>
            <a:ext cx="11064240" cy="914400"/>
          </a:xfrm>
          <a:prstGeom prst="rect">
            <a:avLst/>
          </a:prstGeom>
          <a:noFill/>
        </p:spPr>
        <p:txBody>
          <a:bodyPr wrap="none">
            <a:spAutoFit/>
          </a:bodyPr>
          <a:lstStyle/>
          <a:p>
            <a:r>
              <a:rPr sz="2900" b="1">
                <a:solidFill>
                  <a:srgbClr val="FAF4EC"/>
                </a:solidFill>
              </a:rPr>
              <a:t>What we built at the hackathon.</a:t>
            </a:r>
          </a:p>
        </p:txBody>
      </p:sp>
      <p:sp>
        <p:nvSpPr>
          <p:cNvPr id="6" name="TextBox 5"/>
          <p:cNvSpPr txBox="1"/>
          <p:nvPr/>
        </p:nvSpPr>
        <p:spPr>
          <a:xfrm>
            <a:off x="548640" y="1874519"/>
            <a:ext cx="11155680" cy="4206240"/>
          </a:xfrm>
          <a:prstGeom prst="rect">
            <a:avLst/>
          </a:prstGeom>
          <a:noFill/>
        </p:spPr>
        <p:txBody>
          <a:bodyPr wrap="square">
            <a:spAutoFit/>
          </a:bodyPr>
          <a:lstStyle/>
          <a:p>
            <a:pPr>
              <a:spcAft>
                <a:spcPts val="900"/>
              </a:spcAft>
            </a:pPr>
            <a:r>
              <a:rPr sz="1300" b="1">
                <a:solidFill>
                  <a:srgbClr val="D97742"/>
                </a:solidFill>
              </a:rPr>
              <a:t>▸  </a:t>
            </a:r>
            <a:r>
              <a:rPr sz="1300" b="1">
                <a:solidFill>
                  <a:srgbClr val="FAF4EC"/>
                </a:solidFill>
              </a:rPr>
              <a:t>Employer hire over WhatsApp.  </a:t>
            </a:r>
            <a:r>
              <a:rPr sz="1250">
                <a:solidFill>
                  <a:srgbClr val="F5DBB5"/>
                </a:solidFill>
              </a:rPr>
              <a:t>Employers reply OFFERS to see applicants and ACCEPT to hire — the whole deal closes inside WhatsApp.</a:t>
            </a:r>
          </a:p>
          <a:p>
            <a:pPr>
              <a:spcAft>
                <a:spcPts val="900"/>
              </a:spcAft>
            </a:pPr>
            <a:r>
              <a:rPr sz="1300" b="1">
                <a:solidFill>
                  <a:srgbClr val="D97742"/>
                </a:solidFill>
              </a:rPr>
              <a:t>▸  </a:t>
            </a:r>
            <a:r>
              <a:rPr sz="1300" b="1">
                <a:solidFill>
                  <a:srgbClr val="FAF4EC"/>
                </a:solidFill>
              </a:rPr>
              <a:t>App-less worker onboarding.  </a:t>
            </a:r>
            <a:r>
              <a:rPr sz="1250">
                <a:solidFill>
                  <a:srgbClr val="F5DBB5"/>
                </a:solidFill>
              </a:rPr>
              <a:t>A WhatsApp sign-up flow that feeds the real approval + verification pipeline — no auto-approval shortcuts.</a:t>
            </a:r>
          </a:p>
          <a:p>
            <a:pPr>
              <a:spcAft>
                <a:spcPts val="900"/>
              </a:spcAft>
            </a:pPr>
            <a:r>
              <a:rPr sz="1300" b="1">
                <a:solidFill>
                  <a:srgbClr val="D97742"/>
                </a:solidFill>
              </a:rPr>
              <a:t>▸  </a:t>
            </a:r>
            <a:r>
              <a:rPr sz="1300" b="1">
                <a:solidFill>
                  <a:srgbClr val="FAF4EC"/>
                </a:solidFill>
              </a:rPr>
              <a:t>HELP / MENU command.  </a:t>
            </a:r>
            <a:r>
              <a:rPr sz="1250">
                <a:solidFill>
                  <a:srgbClr val="F5DBB5"/>
                </a:solidFill>
              </a:rPr>
              <a:t>First-time users can always ask what to text, so nobody gets stuck.</a:t>
            </a:r>
          </a:p>
          <a:p>
            <a:pPr>
              <a:spcAft>
                <a:spcPts val="900"/>
              </a:spcAft>
            </a:pPr>
            <a:r>
              <a:rPr sz="1300" b="1">
                <a:solidFill>
                  <a:srgbClr val="D97742"/>
                </a:solidFill>
              </a:rPr>
              <a:t>▸  </a:t>
            </a:r>
            <a:r>
              <a:rPr sz="1300" b="1">
                <a:solidFill>
                  <a:srgbClr val="FAF4EC"/>
                </a:solidFill>
              </a:rPr>
              <a:t>Cold-window templates.  </a:t>
            </a:r>
            <a:r>
              <a:rPr sz="1250">
                <a:solidFill>
                  <a:srgbClr val="F5DBB5"/>
                </a:solidFill>
              </a:rPr>
              <a:t>Approved offer_received / offer_accepted templates so notifications still land outside the 24-hour window.</a:t>
            </a:r>
          </a:p>
          <a:p>
            <a:pPr>
              <a:spcAft>
                <a:spcPts val="900"/>
              </a:spcAft>
            </a:pPr>
            <a:r>
              <a:rPr sz="1300" b="1">
                <a:solidFill>
                  <a:srgbClr val="D97742"/>
                </a:solidFill>
              </a:rPr>
              <a:t>▸  </a:t>
            </a:r>
            <a:r>
              <a:rPr sz="1300" b="1">
                <a:solidFill>
                  <a:srgbClr val="FAF4EC"/>
                </a:solidFill>
              </a:rPr>
              <a:t>Hardened reliability.  </a:t>
            </a:r>
            <a:r>
              <a:rPr sz="1250">
                <a:solidFill>
                  <a:srgbClr val="F5DBB5"/>
                </a:solidFill>
              </a:rPr>
              <a:t>Traced and fixed a live messaging-number fault; webhook, database and send path verified end-to-end.</a:t>
            </a:r>
          </a:p>
          <a:p>
            <a:pPr>
              <a:spcAft>
                <a:spcPts val="900"/>
              </a:spcAft>
            </a:pPr>
            <a:r>
              <a:rPr sz="1300" b="1">
                <a:solidFill>
                  <a:srgbClr val="D97742"/>
                </a:solidFill>
              </a:rPr>
              <a:t>▸  </a:t>
            </a:r>
            <a:r>
              <a:rPr sz="1300" b="1">
                <a:solidFill>
                  <a:srgbClr val="FAF4EC"/>
                </a:solidFill>
              </a:rPr>
              <a:t>One app, one webhook.  </a:t>
            </a:r>
            <a:r>
              <a:rPr sz="1250">
                <a:solidFill>
                  <a:srgbClr val="F5DBB5"/>
                </a:solidFill>
              </a:rPr>
              <a:t>Jarvis, support and the Job Channel run on a single Meta app and webhook — clean to operate and scale.</a:t>
            </a:r>
          </a:p>
        </p:txBody>
      </p:sp>
      <p:sp>
        <p:nvSpPr>
          <p:cNvPr id="7" name="TextBox 6"/>
          <p:cNvSpPr txBox="1"/>
          <p:nvPr/>
        </p:nvSpPr>
        <p:spPr>
          <a:xfrm>
            <a:off x="548640" y="6199632"/>
            <a:ext cx="11064240" cy="411480"/>
          </a:xfrm>
          <a:prstGeom prst="rect">
            <a:avLst/>
          </a:prstGeom>
          <a:noFill/>
        </p:spPr>
        <p:txBody>
          <a:bodyPr wrap="none">
            <a:spAutoFit/>
          </a:bodyPr>
          <a:lstStyle/>
          <a:p>
            <a:r>
              <a:rPr sz="1250" i="1">
                <a:solidFill>
                  <a:srgbClr val="A7C5A0"/>
                </a:solidFill>
              </a:rPr>
              <a:t>Shipped Friday–Sunday on the live production stack — real commits, logged in CHANGELOG.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566928"/>
            <a:ext cx="457200" cy="82296"/>
          </a:xfrm>
          <a:prstGeom prst="rect">
            <a:avLst/>
          </a:prstGeom>
          <a:solidFill>
            <a:srgbClr val="D97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713232"/>
            <a:ext cx="10058400" cy="365760"/>
          </a:xfrm>
          <a:prstGeom prst="rect">
            <a:avLst/>
          </a:prstGeom>
          <a:noFill/>
        </p:spPr>
        <p:txBody>
          <a:bodyPr wrap="square" anchor="t">
            <a:spAutoFit/>
          </a:bodyPr>
          <a:lstStyle/>
          <a:p>
            <a:pPr algn="l">
              <a:lnSpc>
                <a:spcPct val="105000"/>
              </a:lnSpc>
              <a:spcBef>
                <a:spcPts val="0"/>
              </a:spcBef>
              <a:spcAft>
                <a:spcPts val="600"/>
              </a:spcAft>
            </a:pPr>
            <a:r>
              <a:rPr sz="1500" b="1" i="0">
                <a:solidFill>
                  <a:srgbClr val="B45A2C"/>
                </a:solidFill>
                <a:latin typeface="Calibri"/>
              </a:rPr>
              <a:t>USER JOURNEY</a:t>
            </a:r>
          </a:p>
        </p:txBody>
      </p:sp>
      <p:sp>
        <p:nvSpPr>
          <p:cNvPr id="5" name="TextBox 4"/>
          <p:cNvSpPr txBox="1"/>
          <p:nvPr/>
        </p:nvSpPr>
        <p:spPr>
          <a:xfrm>
            <a:off x="548640" y="1024128"/>
            <a:ext cx="11064240" cy="1097280"/>
          </a:xfrm>
          <a:prstGeom prst="rect">
            <a:avLst/>
          </a:prstGeom>
          <a:noFill/>
        </p:spPr>
        <p:txBody>
          <a:bodyPr wrap="square" anchor="t">
            <a:spAutoFit/>
          </a:bodyPr>
          <a:lstStyle/>
          <a:p>
            <a:pPr algn="l">
              <a:lnSpc>
                <a:spcPct val="100000"/>
              </a:lnSpc>
              <a:spcBef>
                <a:spcPts val="0"/>
              </a:spcBef>
              <a:spcAft>
                <a:spcPts val="600"/>
              </a:spcAft>
            </a:pPr>
            <a:r>
              <a:rPr sz="3000" b="1" i="0">
                <a:solidFill>
                  <a:srgbClr val="1F1612"/>
                </a:solidFill>
                <a:latin typeface="Calibri"/>
              </a:rPr>
              <a:t>Thabo's first R450.</a:t>
            </a:r>
          </a:p>
        </p:txBody>
      </p:sp>
      <p:sp>
        <p:nvSpPr>
          <p:cNvPr id="6" name="Rounded Rectangle 5"/>
          <p:cNvSpPr/>
          <p:nvPr/>
        </p:nvSpPr>
        <p:spPr>
          <a:xfrm>
            <a:off x="548640" y="1920240"/>
            <a:ext cx="3520440" cy="1600200"/>
          </a:xfrm>
          <a:prstGeom prst="roundRect">
            <a:avLst/>
          </a:prstGeom>
          <a:solidFill>
            <a:srgbClr val="FFFFFF"/>
          </a:solidFill>
          <a:ln w="15875">
            <a:solidFill>
              <a:srgbClr val="F5DBB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31520" y="2103120"/>
            <a:ext cx="457200" cy="457200"/>
          </a:xfrm>
          <a:prstGeom prst="ellipse">
            <a:avLst/>
          </a:prstGeom>
          <a:solidFill>
            <a:srgbClr val="D97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FFFFFF"/>
                </a:solidFill>
              </a:rPr>
              <a:t>1</a:t>
            </a:r>
          </a:p>
        </p:txBody>
      </p:sp>
      <p:sp>
        <p:nvSpPr>
          <p:cNvPr id="8" name="TextBox 7"/>
          <p:cNvSpPr txBox="1"/>
          <p:nvPr/>
        </p:nvSpPr>
        <p:spPr>
          <a:xfrm>
            <a:off x="731520" y="2633472"/>
            <a:ext cx="3154680" cy="777240"/>
          </a:xfrm>
          <a:prstGeom prst="rect">
            <a:avLst/>
          </a:prstGeom>
          <a:noFill/>
        </p:spPr>
        <p:txBody>
          <a:bodyPr wrap="square" anchor="t">
            <a:spAutoFit/>
          </a:bodyPr>
          <a:lstStyle/>
          <a:p>
            <a:pPr algn="l">
              <a:lnSpc>
                <a:spcPct val="100000"/>
              </a:lnSpc>
              <a:spcBef>
                <a:spcPts val="0"/>
              </a:spcBef>
              <a:spcAft>
                <a:spcPts val="300"/>
              </a:spcAft>
            </a:pPr>
            <a:r>
              <a:rPr sz="1600" b="1" i="0">
                <a:solidFill>
                  <a:srgbClr val="1F1612"/>
                </a:solidFill>
                <a:latin typeface="Calibri"/>
              </a:rPr>
              <a:t>Sign up free</a:t>
            </a:r>
          </a:p>
          <a:p>
            <a:pPr algn="l">
              <a:lnSpc>
                <a:spcPct val="100000"/>
              </a:lnSpc>
              <a:spcBef>
                <a:spcPts val="0"/>
              </a:spcBef>
              <a:spcAft>
                <a:spcPts val="300"/>
              </a:spcAft>
            </a:pPr>
            <a:r>
              <a:rPr sz="1250" b="0" i="0">
                <a:solidFill>
                  <a:srgbClr val="4A3A30"/>
                </a:solidFill>
                <a:latin typeface="Calibri"/>
              </a:rPr>
              <a:t>on his phone — or straight from WhatsApp.</a:t>
            </a:r>
          </a:p>
        </p:txBody>
      </p:sp>
      <p:sp>
        <p:nvSpPr>
          <p:cNvPr id="9" name="Rounded Rectangle 8"/>
          <p:cNvSpPr/>
          <p:nvPr/>
        </p:nvSpPr>
        <p:spPr>
          <a:xfrm>
            <a:off x="4224528" y="1920240"/>
            <a:ext cx="3520440" cy="1600200"/>
          </a:xfrm>
          <a:prstGeom prst="roundRect">
            <a:avLst/>
          </a:prstGeom>
          <a:solidFill>
            <a:srgbClr val="FFFFFF"/>
          </a:solidFill>
          <a:ln w="15875">
            <a:solidFill>
              <a:srgbClr val="F5DBB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4407408" y="2103120"/>
            <a:ext cx="457200" cy="457200"/>
          </a:xfrm>
          <a:prstGeom prst="ellipse">
            <a:avLst/>
          </a:prstGeom>
          <a:solidFill>
            <a:srgbClr val="D97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FFFFFF"/>
                </a:solidFill>
              </a:rPr>
              <a:t>2</a:t>
            </a:r>
          </a:p>
        </p:txBody>
      </p:sp>
      <p:sp>
        <p:nvSpPr>
          <p:cNvPr id="11" name="TextBox 10"/>
          <p:cNvSpPr txBox="1"/>
          <p:nvPr/>
        </p:nvSpPr>
        <p:spPr>
          <a:xfrm>
            <a:off x="4407408" y="2633472"/>
            <a:ext cx="3154680" cy="777240"/>
          </a:xfrm>
          <a:prstGeom prst="rect">
            <a:avLst/>
          </a:prstGeom>
          <a:noFill/>
        </p:spPr>
        <p:txBody>
          <a:bodyPr wrap="square" anchor="t">
            <a:spAutoFit/>
          </a:bodyPr>
          <a:lstStyle/>
          <a:p>
            <a:pPr algn="l">
              <a:lnSpc>
                <a:spcPct val="100000"/>
              </a:lnSpc>
              <a:spcBef>
                <a:spcPts val="0"/>
              </a:spcBef>
              <a:spcAft>
                <a:spcPts val="300"/>
              </a:spcAft>
            </a:pPr>
            <a:r>
              <a:rPr sz="1600" b="1" i="0">
                <a:solidFill>
                  <a:srgbClr val="1F1612"/>
                </a:solidFill>
                <a:latin typeface="Calibri"/>
              </a:rPr>
              <a:t>Verify once</a:t>
            </a:r>
          </a:p>
          <a:p>
            <a:pPr algn="l">
              <a:lnSpc>
                <a:spcPct val="100000"/>
              </a:lnSpc>
              <a:spcBef>
                <a:spcPts val="0"/>
              </a:spcBef>
              <a:spcAft>
                <a:spcPts val="300"/>
              </a:spcAft>
            </a:pPr>
            <a:r>
              <a:rPr sz="1250" b="0" i="0">
                <a:solidFill>
                  <a:srgbClr val="4A3A30"/>
                </a:solidFill>
                <a:latin typeface="Calibri"/>
              </a:rPr>
              <a:t>ID checked by a real person.</a:t>
            </a:r>
          </a:p>
        </p:txBody>
      </p:sp>
      <p:sp>
        <p:nvSpPr>
          <p:cNvPr id="12" name="Rounded Rectangle 11"/>
          <p:cNvSpPr/>
          <p:nvPr/>
        </p:nvSpPr>
        <p:spPr>
          <a:xfrm>
            <a:off x="7900416" y="1920240"/>
            <a:ext cx="3520440" cy="1600200"/>
          </a:xfrm>
          <a:prstGeom prst="roundRect">
            <a:avLst/>
          </a:prstGeom>
          <a:solidFill>
            <a:srgbClr val="FFFFFF"/>
          </a:solidFill>
          <a:ln w="15875">
            <a:solidFill>
              <a:srgbClr val="F5DBB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8083296" y="2103120"/>
            <a:ext cx="457200" cy="457200"/>
          </a:xfrm>
          <a:prstGeom prst="ellipse">
            <a:avLst/>
          </a:prstGeom>
          <a:solidFill>
            <a:srgbClr val="D97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FFFFFF"/>
                </a:solidFill>
              </a:rPr>
              <a:t>3</a:t>
            </a:r>
          </a:p>
        </p:txBody>
      </p:sp>
      <p:sp>
        <p:nvSpPr>
          <p:cNvPr id="14" name="TextBox 13"/>
          <p:cNvSpPr txBox="1"/>
          <p:nvPr/>
        </p:nvSpPr>
        <p:spPr>
          <a:xfrm>
            <a:off x="8083296" y="2633472"/>
            <a:ext cx="3154680" cy="777240"/>
          </a:xfrm>
          <a:prstGeom prst="rect">
            <a:avLst/>
          </a:prstGeom>
          <a:noFill/>
        </p:spPr>
        <p:txBody>
          <a:bodyPr wrap="square" anchor="t">
            <a:spAutoFit/>
          </a:bodyPr>
          <a:lstStyle/>
          <a:p>
            <a:pPr algn="l">
              <a:lnSpc>
                <a:spcPct val="100000"/>
              </a:lnSpc>
              <a:spcBef>
                <a:spcPts val="0"/>
              </a:spcBef>
              <a:spcAft>
                <a:spcPts val="300"/>
              </a:spcAft>
            </a:pPr>
            <a:r>
              <a:rPr sz="1600" b="1" i="0">
                <a:solidFill>
                  <a:srgbClr val="1F1612"/>
                </a:solidFill>
                <a:latin typeface="Calibri"/>
              </a:rPr>
              <a:t>Get alerted</a:t>
            </a:r>
          </a:p>
          <a:p>
            <a:pPr algn="l">
              <a:lnSpc>
                <a:spcPct val="100000"/>
              </a:lnSpc>
              <a:spcBef>
                <a:spcPts val="0"/>
              </a:spcBef>
              <a:spcAft>
                <a:spcPts val="300"/>
              </a:spcAft>
            </a:pPr>
            <a:r>
              <a:rPr sz="1250" b="0" i="0">
                <a:solidFill>
                  <a:srgbClr val="4A3A30"/>
                </a:solidFill>
                <a:latin typeface="Calibri"/>
              </a:rPr>
              <a:t>“Fix a leaking tap · R450 · Alberton.”</a:t>
            </a:r>
          </a:p>
        </p:txBody>
      </p:sp>
      <p:sp>
        <p:nvSpPr>
          <p:cNvPr id="15" name="Rounded Rectangle 14"/>
          <p:cNvSpPr/>
          <p:nvPr/>
        </p:nvSpPr>
        <p:spPr>
          <a:xfrm>
            <a:off x="548640" y="3794760"/>
            <a:ext cx="3520440" cy="1600200"/>
          </a:xfrm>
          <a:prstGeom prst="roundRect">
            <a:avLst/>
          </a:prstGeom>
          <a:solidFill>
            <a:srgbClr val="FFFFFF"/>
          </a:solidFill>
          <a:ln w="15875">
            <a:solidFill>
              <a:srgbClr val="F5DBB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31520" y="3977640"/>
            <a:ext cx="457200" cy="457200"/>
          </a:xfrm>
          <a:prstGeom prst="ellipse">
            <a:avLst/>
          </a:prstGeom>
          <a:solidFill>
            <a:srgbClr val="D97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FFFFFF"/>
                </a:solidFill>
              </a:rPr>
              <a:t>4</a:t>
            </a:r>
          </a:p>
        </p:txBody>
      </p:sp>
      <p:sp>
        <p:nvSpPr>
          <p:cNvPr id="17" name="TextBox 16"/>
          <p:cNvSpPr txBox="1"/>
          <p:nvPr/>
        </p:nvSpPr>
        <p:spPr>
          <a:xfrm>
            <a:off x="731520" y="4507992"/>
            <a:ext cx="3154680" cy="777240"/>
          </a:xfrm>
          <a:prstGeom prst="rect">
            <a:avLst/>
          </a:prstGeom>
          <a:noFill/>
        </p:spPr>
        <p:txBody>
          <a:bodyPr wrap="square" anchor="t">
            <a:spAutoFit/>
          </a:bodyPr>
          <a:lstStyle/>
          <a:p>
            <a:pPr algn="l">
              <a:lnSpc>
                <a:spcPct val="100000"/>
              </a:lnSpc>
              <a:spcBef>
                <a:spcPts val="0"/>
              </a:spcBef>
              <a:spcAft>
                <a:spcPts val="300"/>
              </a:spcAft>
            </a:pPr>
            <a:r>
              <a:rPr sz="1600" b="1" i="0">
                <a:solidFill>
                  <a:srgbClr val="1F1612"/>
                </a:solidFill>
                <a:latin typeface="Calibri"/>
              </a:rPr>
              <a:t>Accept</a:t>
            </a:r>
          </a:p>
          <a:p>
            <a:pPr algn="l">
              <a:lnSpc>
                <a:spcPct val="100000"/>
              </a:lnSpc>
              <a:spcBef>
                <a:spcPts val="0"/>
              </a:spcBef>
              <a:spcAft>
                <a:spcPts val="300"/>
              </a:spcAft>
            </a:pPr>
            <a:r>
              <a:rPr sz="1250" b="0" i="0">
                <a:solidFill>
                  <a:srgbClr val="4A3A30"/>
                </a:solidFill>
                <a:latin typeface="Calibri"/>
              </a:rPr>
              <a:t>replies ACCEPT — offer reaches the employer.</a:t>
            </a:r>
          </a:p>
        </p:txBody>
      </p:sp>
      <p:sp>
        <p:nvSpPr>
          <p:cNvPr id="18" name="Rounded Rectangle 17"/>
          <p:cNvSpPr/>
          <p:nvPr/>
        </p:nvSpPr>
        <p:spPr>
          <a:xfrm>
            <a:off x="4224528" y="3794760"/>
            <a:ext cx="3520440" cy="1600200"/>
          </a:xfrm>
          <a:prstGeom prst="roundRect">
            <a:avLst/>
          </a:prstGeom>
          <a:solidFill>
            <a:srgbClr val="FFFFFF"/>
          </a:solidFill>
          <a:ln w="15875">
            <a:solidFill>
              <a:srgbClr val="F5DBB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4407408" y="3977640"/>
            <a:ext cx="457200" cy="457200"/>
          </a:xfrm>
          <a:prstGeom prst="ellipse">
            <a:avLst/>
          </a:prstGeom>
          <a:solidFill>
            <a:srgbClr val="D97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FFFFFF"/>
                </a:solidFill>
              </a:rPr>
              <a:t>5</a:t>
            </a:r>
          </a:p>
        </p:txBody>
      </p:sp>
      <p:sp>
        <p:nvSpPr>
          <p:cNvPr id="20" name="TextBox 19"/>
          <p:cNvSpPr txBox="1"/>
          <p:nvPr/>
        </p:nvSpPr>
        <p:spPr>
          <a:xfrm>
            <a:off x="4407408" y="4507992"/>
            <a:ext cx="3154680" cy="777240"/>
          </a:xfrm>
          <a:prstGeom prst="rect">
            <a:avLst/>
          </a:prstGeom>
          <a:noFill/>
        </p:spPr>
        <p:txBody>
          <a:bodyPr wrap="square" anchor="t">
            <a:spAutoFit/>
          </a:bodyPr>
          <a:lstStyle/>
          <a:p>
            <a:pPr algn="l">
              <a:lnSpc>
                <a:spcPct val="100000"/>
              </a:lnSpc>
              <a:spcBef>
                <a:spcPts val="0"/>
              </a:spcBef>
              <a:spcAft>
                <a:spcPts val="300"/>
              </a:spcAft>
            </a:pPr>
            <a:r>
              <a:rPr sz="1600" b="1" i="0">
                <a:solidFill>
                  <a:srgbClr val="1F1612"/>
                </a:solidFill>
                <a:latin typeface="Calibri"/>
              </a:rPr>
              <a:t>Do the work</a:t>
            </a:r>
          </a:p>
          <a:p>
            <a:pPr algn="l">
              <a:lnSpc>
                <a:spcPct val="100000"/>
              </a:lnSpc>
              <a:spcBef>
                <a:spcPts val="0"/>
              </a:spcBef>
              <a:spcAft>
                <a:spcPts val="300"/>
              </a:spcAft>
            </a:pPr>
            <a:r>
              <a:rPr sz="1250" b="0" i="0">
                <a:solidFill>
                  <a:srgbClr val="4A3A30"/>
                </a:solidFill>
                <a:latin typeface="Calibri"/>
              </a:rPr>
              <a:t>marks DONE, uploads a time-stamped photo.</a:t>
            </a:r>
          </a:p>
        </p:txBody>
      </p:sp>
      <p:sp>
        <p:nvSpPr>
          <p:cNvPr id="21" name="Rounded Rectangle 20"/>
          <p:cNvSpPr/>
          <p:nvPr/>
        </p:nvSpPr>
        <p:spPr>
          <a:xfrm>
            <a:off x="7900416" y="3794760"/>
            <a:ext cx="3520440" cy="1600200"/>
          </a:xfrm>
          <a:prstGeom prst="roundRect">
            <a:avLst/>
          </a:prstGeom>
          <a:solidFill>
            <a:srgbClr val="FFFFFF"/>
          </a:solidFill>
          <a:ln w="15875">
            <a:solidFill>
              <a:srgbClr val="F5DBB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8083296" y="3977640"/>
            <a:ext cx="457200" cy="457200"/>
          </a:xfrm>
          <a:prstGeom prst="ellipse">
            <a:avLst/>
          </a:prstGeom>
          <a:solidFill>
            <a:srgbClr val="D97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FFFFFF"/>
                </a:solidFill>
              </a:rPr>
              <a:t>6</a:t>
            </a:r>
          </a:p>
        </p:txBody>
      </p:sp>
      <p:sp>
        <p:nvSpPr>
          <p:cNvPr id="23" name="TextBox 22"/>
          <p:cNvSpPr txBox="1"/>
          <p:nvPr/>
        </p:nvSpPr>
        <p:spPr>
          <a:xfrm>
            <a:off x="8083296" y="4507992"/>
            <a:ext cx="3154680" cy="777240"/>
          </a:xfrm>
          <a:prstGeom prst="rect">
            <a:avLst/>
          </a:prstGeom>
          <a:noFill/>
        </p:spPr>
        <p:txBody>
          <a:bodyPr wrap="square" anchor="t">
            <a:spAutoFit/>
          </a:bodyPr>
          <a:lstStyle/>
          <a:p>
            <a:pPr algn="l">
              <a:lnSpc>
                <a:spcPct val="100000"/>
              </a:lnSpc>
              <a:spcBef>
                <a:spcPts val="0"/>
              </a:spcBef>
              <a:spcAft>
                <a:spcPts val="300"/>
              </a:spcAft>
            </a:pPr>
            <a:r>
              <a:rPr sz="1600" b="1" i="0">
                <a:solidFill>
                  <a:srgbClr val="1F1612"/>
                </a:solidFill>
                <a:latin typeface="Calibri"/>
              </a:rPr>
              <a:t>Get paid &amp; rated</a:t>
            </a:r>
          </a:p>
          <a:p>
            <a:pPr algn="l">
              <a:lnSpc>
                <a:spcPct val="100000"/>
              </a:lnSpc>
              <a:spcBef>
                <a:spcPts val="0"/>
              </a:spcBef>
              <a:spcAft>
                <a:spcPts val="300"/>
              </a:spcAft>
            </a:pPr>
            <a:r>
              <a:rPr sz="1250" b="0" i="0">
                <a:solidFill>
                  <a:srgbClr val="4A3A30"/>
                </a:solidFill>
                <a:latin typeface="Calibri"/>
              </a:rPr>
              <a:t>and keeps a verifiable record for next time.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4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320040" cy="6858000"/>
          </a:xfrm>
          <a:prstGeom prst="rect">
            <a:avLst/>
          </a:prstGeom>
          <a:solidFill>
            <a:srgbClr val="D977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548640"/>
            <a:ext cx="8229600" cy="365760"/>
          </a:xfrm>
          <a:prstGeom prst="rect">
            <a:avLst/>
          </a:prstGeom>
          <a:noFill/>
        </p:spPr>
        <p:txBody>
          <a:bodyPr wrap="none">
            <a:spAutoFit/>
          </a:bodyPr>
          <a:lstStyle/>
          <a:p>
            <a:r>
              <a:rPr sz="1500" b="1">
                <a:solidFill>
                  <a:srgbClr val="D97742"/>
                </a:solidFill>
              </a:rPr>
              <a:t>TRUST &amp; SAFETY</a:t>
            </a:r>
          </a:p>
        </p:txBody>
      </p:sp>
      <p:sp>
        <p:nvSpPr>
          <p:cNvPr id="5" name="TextBox 4"/>
          <p:cNvSpPr txBox="1"/>
          <p:nvPr/>
        </p:nvSpPr>
        <p:spPr>
          <a:xfrm>
            <a:off x="548640" y="932688"/>
            <a:ext cx="11064240" cy="914400"/>
          </a:xfrm>
          <a:prstGeom prst="rect">
            <a:avLst/>
          </a:prstGeom>
          <a:noFill/>
        </p:spPr>
        <p:txBody>
          <a:bodyPr wrap="none">
            <a:spAutoFit/>
          </a:bodyPr>
          <a:lstStyle/>
          <a:p>
            <a:r>
              <a:rPr sz="2900" b="1">
                <a:solidFill>
                  <a:srgbClr val="1F1612"/>
                </a:solidFill>
              </a:rPr>
              <a:t>Safe to meet, safe to get paid.</a:t>
            </a:r>
          </a:p>
        </p:txBody>
      </p:sp>
      <p:sp>
        <p:nvSpPr>
          <p:cNvPr id="6" name="TextBox 5"/>
          <p:cNvSpPr txBox="1"/>
          <p:nvPr/>
        </p:nvSpPr>
        <p:spPr>
          <a:xfrm>
            <a:off x="548640" y="1874519"/>
            <a:ext cx="11155680" cy="4206240"/>
          </a:xfrm>
          <a:prstGeom prst="rect">
            <a:avLst/>
          </a:prstGeom>
          <a:noFill/>
        </p:spPr>
        <p:txBody>
          <a:bodyPr wrap="square">
            <a:spAutoFit/>
          </a:bodyPr>
          <a:lstStyle/>
          <a:p>
            <a:pPr>
              <a:spcAft>
                <a:spcPts val="900"/>
              </a:spcAft>
            </a:pPr>
            <a:r>
              <a:rPr sz="1300" b="1">
                <a:solidFill>
                  <a:srgbClr val="D97742"/>
                </a:solidFill>
              </a:rPr>
              <a:t>▸  </a:t>
            </a:r>
            <a:r>
              <a:rPr sz="1300" b="1">
                <a:solidFill>
                  <a:srgbClr val="1F1612"/>
                </a:solidFill>
              </a:rPr>
              <a:t>Real-person ID verification.  </a:t>
            </a:r>
            <a:r>
              <a:rPr sz="1250">
                <a:solidFill>
                  <a:srgbClr val="4A3A30"/>
                </a:solidFill>
              </a:rPr>
              <a:t>SA ID + selfie checked before anyone can trade, earning a Verified badge both sides can see.</a:t>
            </a:r>
          </a:p>
          <a:p>
            <a:pPr>
              <a:spcAft>
                <a:spcPts val="900"/>
              </a:spcAft>
            </a:pPr>
            <a:r>
              <a:rPr sz="1300" b="1">
                <a:solidFill>
                  <a:srgbClr val="D97742"/>
                </a:solidFill>
              </a:rPr>
              <a:t>▸  </a:t>
            </a:r>
            <a:r>
              <a:rPr sz="1300" b="1">
                <a:solidFill>
                  <a:srgbClr val="1F1612"/>
                </a:solidFill>
              </a:rPr>
              <a:t>Doorstep start-code.  </a:t>
            </a:r>
            <a:r>
              <a:rPr sz="1250">
                <a:solidFill>
                  <a:srgbClr val="4A3A30"/>
                </a:solidFill>
              </a:rPr>
              <a:t>The worker enters a one-time PIN at the job so the employer knows the right person started.</a:t>
            </a:r>
          </a:p>
          <a:p>
            <a:pPr>
              <a:spcAft>
                <a:spcPts val="900"/>
              </a:spcAft>
            </a:pPr>
            <a:r>
              <a:rPr sz="1300" b="1">
                <a:solidFill>
                  <a:srgbClr val="D97742"/>
                </a:solidFill>
              </a:rPr>
              <a:t>▸  </a:t>
            </a:r>
            <a:r>
              <a:rPr sz="1300" b="1">
                <a:solidFill>
                  <a:srgbClr val="1F1612"/>
                </a:solidFill>
              </a:rPr>
              <a:t>Live location check-ins.  </a:t>
            </a:r>
            <a:r>
              <a:rPr sz="1250">
                <a:solidFill>
                  <a:srgbClr val="4A3A30"/>
                </a:solidFill>
              </a:rPr>
              <a:t>Optional location sharing while a job is underway, visible to a trusted contact.</a:t>
            </a:r>
          </a:p>
          <a:p>
            <a:pPr>
              <a:spcAft>
                <a:spcPts val="900"/>
              </a:spcAft>
            </a:pPr>
            <a:r>
              <a:rPr sz="1300" b="1">
                <a:solidFill>
                  <a:srgbClr val="D97742"/>
                </a:solidFill>
              </a:rPr>
              <a:t>▸  </a:t>
            </a:r>
            <a:r>
              <a:rPr sz="1300" b="1">
                <a:solidFill>
                  <a:srgbClr val="1F1612"/>
                </a:solidFill>
              </a:rPr>
              <a:t>SOS to our safety team.  </a:t>
            </a:r>
            <a:r>
              <a:rPr sz="1250">
                <a:solidFill>
                  <a:srgbClr val="4A3A30"/>
                </a:solidFill>
              </a:rPr>
              <a:t>One tap or text raises an alert with location if something feels wrong.</a:t>
            </a:r>
          </a:p>
          <a:p>
            <a:pPr>
              <a:spcAft>
                <a:spcPts val="900"/>
              </a:spcAft>
            </a:pPr>
            <a:r>
              <a:rPr sz="1300" b="1">
                <a:solidFill>
                  <a:srgbClr val="D97742"/>
                </a:solidFill>
              </a:rPr>
              <a:t>▸  </a:t>
            </a:r>
            <a:r>
              <a:rPr sz="1300" b="1">
                <a:solidFill>
                  <a:srgbClr val="1F1612"/>
                </a:solidFill>
              </a:rPr>
              <a:t>Admin MFA enforced.  </a:t>
            </a:r>
            <a:r>
              <a:rPr sz="1250">
                <a:solidFill>
                  <a:srgbClr val="4A3A30"/>
                </a:solidFill>
              </a:rPr>
              <a:t>Every admin account requires TOTP two-factor — no exceptions.</a:t>
            </a:r>
          </a:p>
          <a:p>
            <a:pPr>
              <a:spcAft>
                <a:spcPts val="900"/>
              </a:spcAft>
            </a:pPr>
            <a:r>
              <a:rPr sz="1300" b="1">
                <a:solidFill>
                  <a:srgbClr val="D97742"/>
                </a:solidFill>
              </a:rPr>
              <a:t>▸  </a:t>
            </a:r>
            <a:r>
              <a:rPr sz="1300" b="1">
                <a:solidFill>
                  <a:srgbClr val="1F1612"/>
                </a:solidFill>
              </a:rPr>
              <a:t>POPIA-aligned by design.  </a:t>
            </a:r>
            <a:r>
              <a:rPr sz="1250">
                <a:solidFill>
                  <a:srgbClr val="4A3A30"/>
                </a:solidFill>
              </a:rPr>
              <a:t>Consent captured at signup, data resident in africa-south1, and a documented erasure runbook.</a:t>
            </a:r>
          </a:p>
        </p:txBody>
      </p:sp>
      <p:sp>
        <p:nvSpPr>
          <p:cNvPr id="7" name="TextBox 6"/>
          <p:cNvSpPr txBox="1"/>
          <p:nvPr/>
        </p:nvSpPr>
        <p:spPr>
          <a:xfrm>
            <a:off x="548640" y="6199632"/>
            <a:ext cx="11064240" cy="411480"/>
          </a:xfrm>
          <a:prstGeom prst="rect">
            <a:avLst/>
          </a:prstGeom>
          <a:noFill/>
        </p:spPr>
        <p:txBody>
          <a:bodyPr wrap="none">
            <a:spAutoFit/>
          </a:bodyPr>
          <a:lstStyle/>
          <a:p>
            <a:r>
              <a:rPr sz="1250" i="1">
                <a:solidFill>
                  <a:srgbClr val="6A5A4E"/>
                </a:solidFill>
              </a:rPr>
              <a:t>Trust first — the whole marketplace depends on both sides feeling safe.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16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320040" cy="6858000"/>
          </a:xfrm>
          <a:prstGeom prst="rect">
            <a:avLst/>
          </a:prstGeom>
          <a:solidFill>
            <a:srgbClr val="D97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566928"/>
            <a:ext cx="5486400" cy="365760"/>
          </a:xfrm>
          <a:prstGeom prst="rect">
            <a:avLst/>
          </a:prstGeom>
          <a:noFill/>
        </p:spPr>
        <p:txBody>
          <a:bodyPr wrap="square" anchor="t">
            <a:spAutoFit/>
          </a:bodyPr>
          <a:lstStyle/>
          <a:p>
            <a:pPr algn="l">
              <a:lnSpc>
                <a:spcPct val="105000"/>
              </a:lnSpc>
              <a:spcBef>
                <a:spcPts val="0"/>
              </a:spcBef>
              <a:spcAft>
                <a:spcPts val="600"/>
              </a:spcAft>
            </a:pPr>
            <a:r>
              <a:rPr sz="1500" b="1" i="0">
                <a:solidFill>
                  <a:srgbClr val="D97742"/>
                </a:solidFill>
                <a:latin typeface="Calibri"/>
              </a:rPr>
              <a:t>TRY IT YOURSELF</a:t>
            </a:r>
          </a:p>
        </p:txBody>
      </p:sp>
      <p:sp>
        <p:nvSpPr>
          <p:cNvPr id="5" name="TextBox 4"/>
          <p:cNvSpPr txBox="1"/>
          <p:nvPr/>
        </p:nvSpPr>
        <p:spPr>
          <a:xfrm>
            <a:off x="548640" y="960120"/>
            <a:ext cx="11064240" cy="1097280"/>
          </a:xfrm>
          <a:prstGeom prst="rect">
            <a:avLst/>
          </a:prstGeom>
          <a:noFill/>
        </p:spPr>
        <p:txBody>
          <a:bodyPr wrap="square" anchor="t">
            <a:spAutoFit/>
          </a:bodyPr>
          <a:lstStyle/>
          <a:p>
            <a:pPr algn="l">
              <a:lnSpc>
                <a:spcPct val="100000"/>
              </a:lnSpc>
              <a:spcBef>
                <a:spcPts val="0"/>
              </a:spcBef>
              <a:spcAft>
                <a:spcPts val="600"/>
              </a:spcAft>
            </a:pPr>
            <a:r>
              <a:rPr sz="2900" b="1" i="0">
                <a:solidFill>
                  <a:srgbClr val="FAF4EC"/>
                </a:solidFill>
                <a:latin typeface="Calibri"/>
              </a:rPr>
              <a:t>Demo details for the judges.</a:t>
            </a:r>
          </a:p>
        </p:txBody>
      </p:sp>
      <p:sp>
        <p:nvSpPr>
          <p:cNvPr id="6" name="Rounded Rectangle 5"/>
          <p:cNvSpPr/>
          <p:nvPr/>
        </p:nvSpPr>
        <p:spPr>
          <a:xfrm>
            <a:off x="548640" y="1965960"/>
            <a:ext cx="2834640" cy="621792"/>
          </a:xfrm>
          <a:prstGeom prst="roundRect">
            <a:avLst/>
          </a:prstGeom>
          <a:solidFill>
            <a:srgbClr val="D97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965960"/>
            <a:ext cx="2834640" cy="621792"/>
          </a:xfrm>
          <a:prstGeom prst="rect">
            <a:avLst/>
          </a:prstGeom>
          <a:noFill/>
        </p:spPr>
        <p:txBody>
          <a:bodyPr wrap="square" anchor="ctr">
            <a:spAutoFit/>
          </a:bodyPr>
          <a:lstStyle/>
          <a:p>
            <a:pPr algn="ctr">
              <a:lnSpc>
                <a:spcPct val="105000"/>
              </a:lnSpc>
              <a:spcBef>
                <a:spcPts val="0"/>
              </a:spcBef>
              <a:spcAft>
                <a:spcPts val="600"/>
              </a:spcAft>
            </a:pPr>
            <a:r>
              <a:rPr sz="1500" b="1" i="0">
                <a:solidFill>
                  <a:srgbClr val="1F1612"/>
                </a:solidFill>
                <a:latin typeface="Calibri"/>
              </a:rPr>
              <a:t>Live app</a:t>
            </a:r>
          </a:p>
        </p:txBody>
      </p:sp>
      <p:sp>
        <p:nvSpPr>
          <p:cNvPr id="8" name="Rounded Rectangle 7"/>
          <p:cNvSpPr/>
          <p:nvPr/>
        </p:nvSpPr>
        <p:spPr>
          <a:xfrm>
            <a:off x="3474720" y="1965960"/>
            <a:ext cx="4572000" cy="621792"/>
          </a:xfrm>
          <a:prstGeom prst="roundRect">
            <a:avLst/>
          </a:prstGeom>
          <a:solidFill>
            <a:srgbClr val="FA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11880" y="1965960"/>
            <a:ext cx="4389120" cy="621792"/>
          </a:xfrm>
          <a:prstGeom prst="rect">
            <a:avLst/>
          </a:prstGeom>
          <a:noFill/>
        </p:spPr>
        <p:txBody>
          <a:bodyPr wrap="square" anchor="ctr">
            <a:spAutoFit/>
          </a:bodyPr>
          <a:lstStyle/>
          <a:p>
            <a:pPr algn="l">
              <a:lnSpc>
                <a:spcPct val="105000"/>
              </a:lnSpc>
              <a:spcBef>
                <a:spcPts val="0"/>
              </a:spcBef>
              <a:spcAft>
                <a:spcPts val="600"/>
              </a:spcAft>
            </a:pPr>
            <a:r>
              <a:rPr sz="1350" b="0" i="0">
                <a:solidFill>
                  <a:srgbClr val="1F1612"/>
                </a:solidFill>
                <a:latin typeface="Calibri"/>
              </a:rPr>
              <a:t>https://workitsa.co.za</a:t>
            </a:r>
          </a:p>
        </p:txBody>
      </p:sp>
      <p:sp>
        <p:nvSpPr>
          <p:cNvPr id="10" name="Rounded Rectangle 9"/>
          <p:cNvSpPr/>
          <p:nvPr/>
        </p:nvSpPr>
        <p:spPr>
          <a:xfrm>
            <a:off x="548640" y="2788920"/>
            <a:ext cx="2834640" cy="621792"/>
          </a:xfrm>
          <a:prstGeom prst="roundRect">
            <a:avLst/>
          </a:prstGeom>
          <a:solidFill>
            <a:srgbClr val="D97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2788920"/>
            <a:ext cx="2834640" cy="621792"/>
          </a:xfrm>
          <a:prstGeom prst="rect">
            <a:avLst/>
          </a:prstGeom>
          <a:noFill/>
        </p:spPr>
        <p:txBody>
          <a:bodyPr wrap="square" anchor="ctr">
            <a:spAutoFit/>
          </a:bodyPr>
          <a:lstStyle/>
          <a:p>
            <a:pPr algn="ctr">
              <a:lnSpc>
                <a:spcPct val="105000"/>
              </a:lnSpc>
              <a:spcBef>
                <a:spcPts val="0"/>
              </a:spcBef>
              <a:spcAft>
                <a:spcPts val="600"/>
              </a:spcAft>
            </a:pPr>
            <a:r>
              <a:rPr sz="1500" b="1" i="0">
                <a:solidFill>
                  <a:srgbClr val="1F1612"/>
                </a:solidFill>
                <a:latin typeface="Calibri"/>
              </a:rPr>
              <a:t>Judge logins</a:t>
            </a:r>
          </a:p>
        </p:txBody>
      </p:sp>
      <p:sp>
        <p:nvSpPr>
          <p:cNvPr id="12" name="Rounded Rectangle 11"/>
          <p:cNvSpPr/>
          <p:nvPr/>
        </p:nvSpPr>
        <p:spPr>
          <a:xfrm>
            <a:off x="3474720" y="2788920"/>
            <a:ext cx="4572000" cy="621792"/>
          </a:xfrm>
          <a:prstGeom prst="roundRect">
            <a:avLst/>
          </a:prstGeom>
          <a:solidFill>
            <a:srgbClr val="FA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11880" y="2788920"/>
            <a:ext cx="4389120" cy="621792"/>
          </a:xfrm>
          <a:prstGeom prst="rect">
            <a:avLst/>
          </a:prstGeom>
          <a:noFill/>
        </p:spPr>
        <p:txBody>
          <a:bodyPr wrap="square" anchor="ctr">
            <a:spAutoFit/>
          </a:bodyPr>
          <a:lstStyle/>
          <a:p>
            <a:pPr algn="l">
              <a:lnSpc>
                <a:spcPct val="105000"/>
              </a:lnSpc>
              <a:spcBef>
                <a:spcPts val="0"/>
              </a:spcBef>
              <a:spcAft>
                <a:spcPts val="600"/>
              </a:spcAft>
            </a:pPr>
            <a:r>
              <a:rPr sz="1000" b="0" i="0">
                <a:solidFill>
                  <a:srgbClr val="1F1612"/>
                </a:solidFill>
                <a:latin typeface="Calibri"/>
              </a:rPr>
              <a:t>Employer  ·  judges2610@gmail.com  ·  password  Judges2026</a:t>
            </a:r>
          </a:p>
          <a:p>
            <a:r>
              <a:rPr sz="1000" b="0">
                <a:solidFill>
                  <a:srgbClr val="1F1612"/>
                </a:solidFill>
              </a:rPr>
              <a:t>Worker  ·  judges2610+worker@gmail.com  ·  password  Judges2026</a:t>
            </a:r>
          </a:p>
        </p:txBody>
      </p:sp>
      <p:sp>
        <p:nvSpPr>
          <p:cNvPr id="14" name="Rounded Rectangle 13"/>
          <p:cNvSpPr/>
          <p:nvPr/>
        </p:nvSpPr>
        <p:spPr>
          <a:xfrm>
            <a:off x="548640" y="3611880"/>
            <a:ext cx="2834640" cy="621792"/>
          </a:xfrm>
          <a:prstGeom prst="roundRect">
            <a:avLst/>
          </a:prstGeom>
          <a:solidFill>
            <a:srgbClr val="D97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8640" y="3611880"/>
            <a:ext cx="2834640" cy="621792"/>
          </a:xfrm>
          <a:prstGeom prst="rect">
            <a:avLst/>
          </a:prstGeom>
          <a:noFill/>
        </p:spPr>
        <p:txBody>
          <a:bodyPr wrap="square" anchor="ctr">
            <a:spAutoFit/>
          </a:bodyPr>
          <a:lstStyle/>
          <a:p>
            <a:pPr algn="ctr">
              <a:lnSpc>
                <a:spcPct val="105000"/>
              </a:lnSpc>
              <a:spcBef>
                <a:spcPts val="0"/>
              </a:spcBef>
              <a:spcAft>
                <a:spcPts val="600"/>
              </a:spcAft>
            </a:pPr>
            <a:r>
              <a:rPr sz="1500" b="1" i="0">
                <a:solidFill>
                  <a:srgbClr val="1F1612"/>
                </a:solidFill>
                <a:latin typeface="Calibri"/>
              </a:rPr>
              <a:t>WhatsApp demo</a:t>
            </a:r>
          </a:p>
        </p:txBody>
      </p:sp>
      <p:sp>
        <p:nvSpPr>
          <p:cNvPr id="16" name="Rounded Rectangle 15"/>
          <p:cNvSpPr/>
          <p:nvPr/>
        </p:nvSpPr>
        <p:spPr>
          <a:xfrm>
            <a:off x="3474720" y="3611880"/>
            <a:ext cx="4572000" cy="621792"/>
          </a:xfrm>
          <a:prstGeom prst="roundRect">
            <a:avLst/>
          </a:prstGeom>
          <a:solidFill>
            <a:srgbClr val="FA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11880" y="3611880"/>
            <a:ext cx="4389120" cy="621792"/>
          </a:xfrm>
          <a:prstGeom prst="rect">
            <a:avLst/>
          </a:prstGeom>
          <a:noFill/>
        </p:spPr>
        <p:txBody>
          <a:bodyPr wrap="square" anchor="ctr">
            <a:spAutoFit/>
          </a:bodyPr>
          <a:lstStyle/>
          <a:p>
            <a:pPr algn="l">
              <a:lnSpc>
                <a:spcPct val="105000"/>
              </a:lnSpc>
              <a:spcBef>
                <a:spcPts val="0"/>
              </a:spcBef>
              <a:spcAft>
                <a:spcPts val="600"/>
              </a:spcAft>
            </a:pPr>
            <a:r>
              <a:rPr sz="1350" b="0" i="0">
                <a:solidFill>
                  <a:srgbClr val="1F1612"/>
                </a:solidFill>
                <a:latin typeface="Calibri"/>
              </a:rPr>
              <a:t>Text HI to +27 74 320 7131 — full onboarding in WhatsApp</a:t>
            </a:r>
          </a:p>
        </p:txBody>
      </p:sp>
      <p:sp>
        <p:nvSpPr>
          <p:cNvPr id="18" name="Rounded Rectangle 17"/>
          <p:cNvSpPr/>
          <p:nvPr/>
        </p:nvSpPr>
        <p:spPr>
          <a:xfrm>
            <a:off x="548640" y="4434840"/>
            <a:ext cx="2834640" cy="621792"/>
          </a:xfrm>
          <a:prstGeom prst="roundRect">
            <a:avLst/>
          </a:prstGeom>
          <a:solidFill>
            <a:srgbClr val="D97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8640" y="4434840"/>
            <a:ext cx="2834640" cy="621792"/>
          </a:xfrm>
          <a:prstGeom prst="rect">
            <a:avLst/>
          </a:prstGeom>
          <a:noFill/>
        </p:spPr>
        <p:txBody>
          <a:bodyPr wrap="square" anchor="ctr">
            <a:spAutoFit/>
          </a:bodyPr>
          <a:lstStyle/>
          <a:p>
            <a:pPr algn="ctr">
              <a:lnSpc>
                <a:spcPct val="105000"/>
              </a:lnSpc>
              <a:spcBef>
                <a:spcPts val="0"/>
              </a:spcBef>
              <a:spcAft>
                <a:spcPts val="600"/>
              </a:spcAft>
            </a:pPr>
            <a:r>
              <a:rPr sz="1500" b="1" i="0">
                <a:solidFill>
                  <a:srgbClr val="1F1612"/>
                </a:solidFill>
                <a:latin typeface="Calibri"/>
              </a:rPr>
              <a:t>Demo video (&lt;=90s)</a:t>
            </a:r>
          </a:p>
        </p:txBody>
      </p:sp>
      <p:sp>
        <p:nvSpPr>
          <p:cNvPr id="20" name="Rounded Rectangle 19"/>
          <p:cNvSpPr/>
          <p:nvPr/>
        </p:nvSpPr>
        <p:spPr>
          <a:xfrm>
            <a:off x="3474720" y="4434840"/>
            <a:ext cx="4572000" cy="621792"/>
          </a:xfrm>
          <a:prstGeom prst="roundRect">
            <a:avLst/>
          </a:prstGeom>
          <a:solidFill>
            <a:srgbClr val="FA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611880" y="4434840"/>
            <a:ext cx="4389120" cy="621792"/>
          </a:xfrm>
          <a:prstGeom prst="rect">
            <a:avLst/>
          </a:prstGeom>
          <a:noFill/>
        </p:spPr>
        <p:txBody>
          <a:bodyPr wrap="square" anchor="ctr">
            <a:spAutoFit/>
          </a:bodyPr>
          <a:lstStyle/>
          <a:p>
            <a:pPr algn="l">
              <a:lnSpc>
                <a:spcPct val="105000"/>
              </a:lnSpc>
              <a:spcBef>
                <a:spcPts val="0"/>
              </a:spcBef>
              <a:spcAft>
                <a:spcPts val="600"/>
              </a:spcAft>
            </a:pPr>
            <a:r>
              <a:rPr sz="1350" b="0" i="0">
                <a:solidFill>
                  <a:srgbClr val="1F1612"/>
                </a:solidFill>
                <a:latin typeface="Calibri"/>
              </a:rPr>
              <a:t>[ PASTE VIDEO LINK HERE ]</a:t>
            </a:r>
          </a:p>
        </p:txBody>
      </p:sp>
      <p:sp>
        <p:nvSpPr>
          <p:cNvPr id="24" name="TextBox 23"/>
          <p:cNvSpPr txBox="1"/>
          <p:nvPr/>
        </p:nvSpPr>
        <p:spPr>
          <a:xfrm>
            <a:off x="548640" y="5532120"/>
            <a:ext cx="10972800" cy="457200"/>
          </a:xfrm>
          <a:prstGeom prst="rect">
            <a:avLst/>
          </a:prstGeom>
          <a:noFill/>
        </p:spPr>
        <p:txBody>
          <a:bodyPr wrap="square" anchor="t">
            <a:spAutoFit/>
          </a:bodyPr>
          <a:lstStyle/>
          <a:p>
            <a:pPr algn="l">
              <a:lnSpc>
                <a:spcPct val="105000"/>
              </a:lnSpc>
              <a:spcBef>
                <a:spcPts val="0"/>
              </a:spcBef>
              <a:spcAft>
                <a:spcPts val="600"/>
              </a:spcAft>
            </a:pPr>
            <a:r>
              <a:rPr sz="1300" b="0" i="0">
                <a:solidFill>
                  <a:srgbClr val="F5DBB5"/>
                </a:solidFill>
                <a:latin typeface="Calibri"/>
              </a:rPr>
              <a:t>Seeded with real Alberton activity so the marketplace is never empty when judges open it.</a:t>
            </a:r>
          </a:p>
        </p:txBody>
      </p:sp>
      <p:pic>
        <p:nvPicPr>
          <p:cNvPr id="25" name="Picture 24" descr="work-record.png"/>
          <p:cNvPicPr>
            <a:picLocks noChangeAspect="1"/>
          </p:cNvPicPr>
          <p:nvPr/>
        </p:nvPicPr>
        <p:blipFill>
          <a:blip r:embed="rId3"/>
          <a:stretch>
            <a:fillRect/>
          </a:stretch>
        </p:blipFill>
        <p:spPr>
          <a:xfrm>
            <a:off x="8321040" y="2103120"/>
            <a:ext cx="3291840" cy="2057400"/>
          </a:xfrm>
          <a:prstGeom prst="rect">
            <a:avLst/>
          </a:prstGeom>
          <a:ln w="12700">
            <a:solidFill>
              <a:srgbClr val="C9BCAF"/>
            </a:solidFill>
          </a:ln>
        </p:spPr>
      </p:pic>
      <p:sp>
        <p:nvSpPr>
          <p:cNvPr id="26" name="TextBox 25"/>
          <p:cNvSpPr txBox="1"/>
          <p:nvPr/>
        </p:nvSpPr>
        <p:spPr>
          <a:xfrm>
            <a:off x="8321040" y="4233672"/>
            <a:ext cx="3291840" cy="457200"/>
          </a:xfrm>
          <a:prstGeom prst="rect">
            <a:avLst/>
          </a:prstGeom>
          <a:noFill/>
        </p:spPr>
        <p:txBody>
          <a:bodyPr wrap="square">
            <a:spAutoFit/>
          </a:bodyPr>
          <a:lstStyle/>
          <a:p>
            <a:pPr algn="ctr"/>
            <a:r>
              <a:rPr sz="1100" i="1">
                <a:solidFill>
                  <a:srgbClr val="A7C5A0"/>
                </a:solidFill>
              </a:rPr>
              <a:t>Shareable Work Record — proof of work</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566928"/>
            <a:ext cx="457200" cy="82296"/>
          </a:xfrm>
          <a:prstGeom prst="rect">
            <a:avLst/>
          </a:prstGeom>
          <a:solidFill>
            <a:srgbClr val="D97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713232"/>
            <a:ext cx="10058400" cy="365760"/>
          </a:xfrm>
          <a:prstGeom prst="rect">
            <a:avLst/>
          </a:prstGeom>
          <a:noFill/>
        </p:spPr>
        <p:txBody>
          <a:bodyPr wrap="square" anchor="t">
            <a:spAutoFit/>
          </a:bodyPr>
          <a:lstStyle/>
          <a:p>
            <a:pPr algn="l">
              <a:lnSpc>
                <a:spcPct val="105000"/>
              </a:lnSpc>
              <a:spcBef>
                <a:spcPts val="0"/>
              </a:spcBef>
              <a:spcAft>
                <a:spcPts val="600"/>
              </a:spcAft>
            </a:pPr>
            <a:r>
              <a:rPr sz="1500" b="1" i="0">
                <a:solidFill>
                  <a:srgbClr val="B45A2C"/>
                </a:solidFill>
                <a:latin typeface="Calibri"/>
              </a:rPr>
              <a:t>INTELLIGENCE</a:t>
            </a:r>
          </a:p>
        </p:txBody>
      </p:sp>
      <p:sp>
        <p:nvSpPr>
          <p:cNvPr id="5" name="TextBox 4"/>
          <p:cNvSpPr txBox="1"/>
          <p:nvPr/>
        </p:nvSpPr>
        <p:spPr>
          <a:xfrm>
            <a:off x="548640" y="1024128"/>
            <a:ext cx="11064240" cy="1097280"/>
          </a:xfrm>
          <a:prstGeom prst="rect">
            <a:avLst/>
          </a:prstGeom>
          <a:noFill/>
        </p:spPr>
        <p:txBody>
          <a:bodyPr wrap="square" anchor="t">
            <a:spAutoFit/>
          </a:bodyPr>
          <a:lstStyle/>
          <a:p>
            <a:pPr algn="l">
              <a:lnSpc>
                <a:spcPct val="100000"/>
              </a:lnSpc>
              <a:spcBef>
                <a:spcPts val="0"/>
              </a:spcBef>
              <a:spcAft>
                <a:spcPts val="600"/>
              </a:spcAft>
            </a:pPr>
            <a:r>
              <a:rPr sz="3000" b="1" i="0">
                <a:solidFill>
                  <a:srgbClr val="1F1612"/>
                </a:solidFill>
                <a:latin typeface="Calibri"/>
              </a:rPr>
              <a:t>An app that thinks.</a:t>
            </a:r>
          </a:p>
        </p:txBody>
      </p:sp>
      <p:sp>
        <p:nvSpPr>
          <p:cNvPr id="6" name="TextBox 5"/>
          <p:cNvSpPr txBox="1"/>
          <p:nvPr/>
        </p:nvSpPr>
        <p:spPr>
          <a:xfrm>
            <a:off x="548640" y="1828800"/>
            <a:ext cx="6035040" cy="4572000"/>
          </a:xfrm>
          <a:prstGeom prst="rect">
            <a:avLst/>
          </a:prstGeom>
          <a:noFill/>
        </p:spPr>
        <p:txBody>
          <a:bodyPr wrap="square" anchor="t">
            <a:spAutoFit/>
          </a:bodyPr>
          <a:lstStyle/>
          <a:p>
            <a:pPr algn="l">
              <a:lnSpc>
                <a:spcPct val="104000"/>
              </a:lnSpc>
              <a:spcBef>
                <a:spcPts val="0"/>
              </a:spcBef>
              <a:spcAft>
                <a:spcPts val="1400"/>
              </a:spcAft>
            </a:pPr>
            <a:r>
              <a:rPr sz="1500" b="1" i="0">
                <a:solidFill>
                  <a:srgbClr val="D97742"/>
                </a:solidFill>
                <a:latin typeface="Calibri"/>
              </a:rPr>
              <a:t>▸  </a:t>
            </a:r>
            <a:r>
              <a:rPr sz="1500" b="1" i="0">
                <a:solidFill>
                  <a:srgbClr val="1F1612"/>
                </a:solidFill>
                <a:latin typeface="Calibri"/>
              </a:rPr>
              <a:t>Jarvis.  </a:t>
            </a:r>
            <a:r>
              <a:rPr sz="1500" b="0" i="0">
                <a:solidFill>
                  <a:srgbClr val="4A3A30"/>
                </a:solidFill>
                <a:latin typeface="Calibri"/>
              </a:rPr>
              <a:t>A Gemini-powered co-pilot: morning digest, dispute/anomaly alerts, ask-anything over live data — even over WhatsApp.</a:t>
            </a:r>
          </a:p>
          <a:p>
            <a:pPr algn="l">
              <a:lnSpc>
                <a:spcPct val="104000"/>
              </a:lnSpc>
              <a:spcBef>
                <a:spcPts val="0"/>
              </a:spcBef>
              <a:spcAft>
                <a:spcPts val="1400"/>
              </a:spcAft>
            </a:pPr>
            <a:r>
              <a:rPr sz="1500" b="1" i="0">
                <a:solidFill>
                  <a:srgbClr val="D97742"/>
                </a:solidFill>
                <a:latin typeface="Calibri"/>
              </a:rPr>
              <a:t>▸  </a:t>
            </a:r>
            <a:r>
              <a:rPr sz="1500" b="1" i="0">
                <a:solidFill>
                  <a:srgbClr val="1F1612"/>
                </a:solidFill>
                <a:latin typeface="Calibri"/>
              </a:rPr>
              <a:t>Smart matching.  </a:t>
            </a:r>
            <a:r>
              <a:rPr sz="1500" b="0" i="0">
                <a:solidFill>
                  <a:srgbClr val="4A3A30"/>
                </a:solidFill>
                <a:latin typeface="Calibri"/>
              </a:rPr>
              <a:t>Jobs routed to the right workers by category, geo-radius (haversine) and availability — nearest first.</a:t>
            </a:r>
          </a:p>
          <a:p>
            <a:pPr algn="l">
              <a:lnSpc>
                <a:spcPct val="104000"/>
              </a:lnSpc>
              <a:spcBef>
                <a:spcPts val="0"/>
              </a:spcBef>
              <a:spcAft>
                <a:spcPts val="1400"/>
              </a:spcAft>
            </a:pPr>
            <a:r>
              <a:rPr sz="1500" b="1" i="0">
                <a:solidFill>
                  <a:srgbClr val="D97742"/>
                </a:solidFill>
                <a:latin typeface="Calibri"/>
              </a:rPr>
              <a:t>▸  </a:t>
            </a:r>
            <a:r>
              <a:rPr sz="1500" b="1" i="0">
                <a:solidFill>
                  <a:srgbClr val="1F1612"/>
                </a:solidFill>
                <a:latin typeface="Calibri"/>
              </a:rPr>
              <a:t>Live Pulse cockpit.  </a:t>
            </a:r>
            <a:r>
              <a:rPr sz="1500" b="0" i="0">
                <a:solidFill>
                  <a:srgbClr val="4A3A30"/>
                </a:solidFill>
                <a:latin typeface="Calibri"/>
              </a:rPr>
              <a:t>Real-time demand/supply heatmap that auto-zooms to the busiest suburb and surfaces offers &amp; available-now.</a:t>
            </a:r>
          </a:p>
          <a:p>
            <a:pPr algn="l">
              <a:lnSpc>
                <a:spcPct val="104000"/>
              </a:lnSpc>
              <a:spcBef>
                <a:spcPts val="0"/>
              </a:spcBef>
              <a:spcAft>
                <a:spcPts val="1400"/>
              </a:spcAft>
            </a:pPr>
            <a:r>
              <a:rPr sz="1500" b="1" i="0">
                <a:solidFill>
                  <a:srgbClr val="D97742"/>
                </a:solidFill>
                <a:latin typeface="Calibri"/>
              </a:rPr>
              <a:t>▸  </a:t>
            </a:r>
            <a:r>
              <a:rPr sz="1500" b="1" i="0">
                <a:solidFill>
                  <a:srgbClr val="1F1612"/>
                </a:solidFill>
                <a:latin typeface="Calibri"/>
              </a:rPr>
              <a:t>Fraud signals.  </a:t>
            </a:r>
            <a:r>
              <a:rPr sz="1500" b="0" i="0">
                <a:solidFill>
                  <a:srgbClr val="4A3A30"/>
                </a:solidFill>
                <a:latin typeface="Calibri"/>
              </a:rPr>
              <a:t>Duplicate-document and ban-registry checks flag risky sign-ups automatically.</a:t>
            </a:r>
          </a:p>
        </p:txBody>
      </p:sp>
      <p:pic>
        <p:nvPicPr>
          <p:cNvPr id="7" name="Picture 6" descr="s7-pulse.png"/>
          <p:cNvPicPr>
            <a:picLocks noChangeAspect="1"/>
          </p:cNvPicPr>
          <p:nvPr/>
        </p:nvPicPr>
        <p:blipFill>
          <a:blip r:embed="rId3"/>
          <a:stretch>
            <a:fillRect/>
          </a:stretch>
        </p:blipFill>
        <p:spPr>
          <a:xfrm>
            <a:off x="6812280" y="1783080"/>
            <a:ext cx="4800600" cy="1549644"/>
          </a:xfrm>
          <a:prstGeom prst="rect">
            <a:avLst/>
          </a:prstGeom>
          <a:ln w="12700">
            <a:solidFill>
              <a:srgbClr val="C9BCAF"/>
            </a:solidFill>
          </a:ln>
        </p:spPr>
      </p:pic>
      <p:pic>
        <p:nvPicPr>
          <p:cNvPr id="8" name="Picture 7" descr="s7-jarvis.png"/>
          <p:cNvPicPr>
            <a:picLocks noChangeAspect="1"/>
          </p:cNvPicPr>
          <p:nvPr/>
        </p:nvPicPr>
        <p:blipFill>
          <a:blip r:embed="rId4"/>
          <a:stretch>
            <a:fillRect/>
          </a:stretch>
        </p:blipFill>
        <p:spPr>
          <a:xfrm>
            <a:off x="6812280" y="3424100"/>
            <a:ext cx="4800600" cy="2571750"/>
          </a:xfrm>
          <a:prstGeom prst="rect">
            <a:avLst/>
          </a:prstGeom>
          <a:ln w="12700">
            <a:solidFill>
              <a:srgbClr val="C9BCAF"/>
            </a:solidFill>
          </a:ln>
        </p:spPr>
      </p:pic>
      <p:sp>
        <p:nvSpPr>
          <p:cNvPr id="9" name="TextBox 8"/>
          <p:cNvSpPr txBox="1"/>
          <p:nvPr/>
        </p:nvSpPr>
        <p:spPr>
          <a:xfrm>
            <a:off x="6812280" y="6068543"/>
            <a:ext cx="4800600" cy="274320"/>
          </a:xfrm>
          <a:prstGeom prst="rect">
            <a:avLst/>
          </a:prstGeom>
          <a:noFill/>
        </p:spPr>
        <p:txBody>
          <a:bodyPr wrap="square">
            <a:spAutoFit/>
          </a:bodyPr>
          <a:lstStyle/>
          <a:p>
            <a:pPr algn="ctr"/>
            <a:r>
              <a:rPr sz="1000" i="1">
                <a:solidFill>
                  <a:srgbClr val="D8CFC4"/>
                </a:solidFill>
              </a:rPr>
              <a:t>Live Pulse + Jarvis — the live-ops brain (/admin)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566928"/>
            <a:ext cx="457200" cy="82296"/>
          </a:xfrm>
          <a:prstGeom prst="rect">
            <a:avLst/>
          </a:prstGeom>
          <a:solidFill>
            <a:srgbClr val="D97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713232"/>
            <a:ext cx="10058400" cy="365760"/>
          </a:xfrm>
          <a:prstGeom prst="rect">
            <a:avLst/>
          </a:prstGeom>
          <a:noFill/>
        </p:spPr>
        <p:txBody>
          <a:bodyPr wrap="square" anchor="t">
            <a:spAutoFit/>
          </a:bodyPr>
          <a:lstStyle/>
          <a:p>
            <a:pPr algn="l">
              <a:lnSpc>
                <a:spcPct val="105000"/>
              </a:lnSpc>
              <a:spcBef>
                <a:spcPts val="0"/>
              </a:spcBef>
              <a:spcAft>
                <a:spcPts val="600"/>
              </a:spcAft>
            </a:pPr>
            <a:r>
              <a:rPr sz="1500" b="1" i="0">
                <a:solidFill>
                  <a:srgbClr val="B45A2C"/>
                </a:solidFill>
                <a:latin typeface="Calibri"/>
              </a:rPr>
              <a:t>ARCHITECTURE &amp; SECURITY</a:t>
            </a:r>
          </a:p>
        </p:txBody>
      </p:sp>
      <p:sp>
        <p:nvSpPr>
          <p:cNvPr id="5" name="TextBox 4"/>
          <p:cNvSpPr txBox="1"/>
          <p:nvPr/>
        </p:nvSpPr>
        <p:spPr>
          <a:xfrm>
            <a:off x="548640" y="1024128"/>
            <a:ext cx="11064240" cy="1097280"/>
          </a:xfrm>
          <a:prstGeom prst="rect">
            <a:avLst/>
          </a:prstGeom>
          <a:noFill/>
        </p:spPr>
        <p:txBody>
          <a:bodyPr wrap="square" anchor="t">
            <a:spAutoFit/>
          </a:bodyPr>
          <a:lstStyle/>
          <a:p>
            <a:pPr algn="l">
              <a:lnSpc>
                <a:spcPct val="100000"/>
              </a:lnSpc>
              <a:spcBef>
                <a:spcPts val="0"/>
              </a:spcBef>
              <a:spcAft>
                <a:spcPts val="600"/>
              </a:spcAft>
            </a:pPr>
            <a:r>
              <a:rPr sz="3000" b="1" i="0">
                <a:solidFill>
                  <a:srgbClr val="1F1612"/>
                </a:solidFill>
                <a:latin typeface="Calibri"/>
              </a:rPr>
              <a:t>Built secure, built for South Africa.</a:t>
            </a:r>
          </a:p>
        </p:txBody>
      </p:sp>
      <p:sp>
        <p:nvSpPr>
          <p:cNvPr id="6" name="TextBox 5"/>
          <p:cNvSpPr txBox="1"/>
          <p:nvPr/>
        </p:nvSpPr>
        <p:spPr>
          <a:xfrm>
            <a:off x="548640" y="1783080"/>
            <a:ext cx="5486400" cy="365760"/>
          </a:xfrm>
          <a:prstGeom prst="rect">
            <a:avLst/>
          </a:prstGeom>
          <a:noFill/>
        </p:spPr>
        <p:txBody>
          <a:bodyPr wrap="square" anchor="t">
            <a:spAutoFit/>
          </a:bodyPr>
          <a:lstStyle/>
          <a:p>
            <a:pPr algn="l">
              <a:lnSpc>
                <a:spcPct val="105000"/>
              </a:lnSpc>
              <a:spcBef>
                <a:spcPts val="0"/>
              </a:spcBef>
              <a:spcAft>
                <a:spcPts val="600"/>
              </a:spcAft>
            </a:pPr>
            <a:r>
              <a:rPr sz="1600" b="1" i="0">
                <a:solidFill>
                  <a:srgbClr val="B45A2C"/>
                </a:solidFill>
                <a:latin typeface="Calibri"/>
              </a:rPr>
              <a:t>Technical architecture</a:t>
            </a:r>
          </a:p>
        </p:txBody>
      </p:sp>
      <p:sp>
        <p:nvSpPr>
          <p:cNvPr id="7" name="Rounded Rectangle 6"/>
          <p:cNvSpPr/>
          <p:nvPr/>
        </p:nvSpPr>
        <p:spPr>
          <a:xfrm>
            <a:off x="548640" y="2240280"/>
            <a:ext cx="5212080" cy="457200"/>
          </a:xfrm>
          <a:prstGeom prst="roundRect">
            <a:avLst/>
          </a:prstGeom>
          <a:solidFill>
            <a:srgbClr val="F5DB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2240280"/>
            <a:ext cx="4937760" cy="457200"/>
          </a:xfrm>
          <a:prstGeom prst="rect">
            <a:avLst/>
          </a:prstGeom>
          <a:noFill/>
        </p:spPr>
        <p:txBody>
          <a:bodyPr wrap="square" anchor="ctr">
            <a:spAutoFit/>
          </a:bodyPr>
          <a:lstStyle/>
          <a:p>
            <a:pPr algn="l">
              <a:lnSpc>
                <a:spcPct val="105000"/>
              </a:lnSpc>
              <a:spcBef>
                <a:spcPts val="0"/>
              </a:spcBef>
              <a:spcAft>
                <a:spcPts val="600"/>
              </a:spcAft>
            </a:pPr>
            <a:r>
              <a:rPr sz="1300" b="1" i="0">
                <a:solidFill>
                  <a:srgbClr val="1F1612"/>
                </a:solidFill>
                <a:latin typeface="Calibri"/>
              </a:rPr>
              <a:t>Next.js PWA (static export)</a:t>
            </a:r>
          </a:p>
        </p:txBody>
      </p:sp>
      <p:sp>
        <p:nvSpPr>
          <p:cNvPr id="9" name="Rounded Rectangle 8"/>
          <p:cNvSpPr/>
          <p:nvPr/>
        </p:nvSpPr>
        <p:spPr>
          <a:xfrm>
            <a:off x="548640" y="2807208"/>
            <a:ext cx="5212080" cy="457200"/>
          </a:xfrm>
          <a:prstGeom prst="roundRect">
            <a:avLst/>
          </a:prstGeom>
          <a:solidFill>
            <a:srgbClr val="F5DB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2807208"/>
            <a:ext cx="4937760" cy="457200"/>
          </a:xfrm>
          <a:prstGeom prst="rect">
            <a:avLst/>
          </a:prstGeom>
          <a:noFill/>
        </p:spPr>
        <p:txBody>
          <a:bodyPr wrap="square" anchor="ctr">
            <a:spAutoFit/>
          </a:bodyPr>
          <a:lstStyle/>
          <a:p>
            <a:pPr algn="l">
              <a:lnSpc>
                <a:spcPct val="105000"/>
              </a:lnSpc>
              <a:spcBef>
                <a:spcPts val="0"/>
              </a:spcBef>
              <a:spcAft>
                <a:spcPts val="600"/>
              </a:spcAft>
            </a:pPr>
            <a:r>
              <a:rPr sz="1300" b="1" i="0">
                <a:solidFill>
                  <a:srgbClr val="1F1612"/>
                </a:solidFill>
                <a:latin typeface="Calibri"/>
              </a:rPr>
              <a:t>Firebase Auth — phone OTP / email / Google</a:t>
            </a:r>
          </a:p>
        </p:txBody>
      </p:sp>
      <p:sp>
        <p:nvSpPr>
          <p:cNvPr id="11" name="Rounded Rectangle 10"/>
          <p:cNvSpPr/>
          <p:nvPr/>
        </p:nvSpPr>
        <p:spPr>
          <a:xfrm>
            <a:off x="548640" y="3374136"/>
            <a:ext cx="5212080" cy="457200"/>
          </a:xfrm>
          <a:prstGeom prst="roundRect">
            <a:avLst/>
          </a:prstGeom>
          <a:solidFill>
            <a:srgbClr val="F5DB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3374136"/>
            <a:ext cx="4937760" cy="457200"/>
          </a:xfrm>
          <a:prstGeom prst="rect">
            <a:avLst/>
          </a:prstGeom>
          <a:noFill/>
        </p:spPr>
        <p:txBody>
          <a:bodyPr wrap="square" anchor="ctr">
            <a:spAutoFit/>
          </a:bodyPr>
          <a:lstStyle/>
          <a:p>
            <a:pPr algn="l">
              <a:lnSpc>
                <a:spcPct val="105000"/>
              </a:lnSpc>
              <a:spcBef>
                <a:spcPts val="0"/>
              </a:spcBef>
              <a:spcAft>
                <a:spcPts val="600"/>
              </a:spcAft>
            </a:pPr>
            <a:r>
              <a:rPr sz="1300" b="1" i="0">
                <a:solidFill>
                  <a:srgbClr val="1F1612"/>
                </a:solidFill>
                <a:latin typeface="Calibri"/>
              </a:rPr>
              <a:t>Firestore + Cloud Storage</a:t>
            </a:r>
          </a:p>
        </p:txBody>
      </p:sp>
      <p:sp>
        <p:nvSpPr>
          <p:cNvPr id="13" name="Rounded Rectangle 12"/>
          <p:cNvSpPr/>
          <p:nvPr/>
        </p:nvSpPr>
        <p:spPr>
          <a:xfrm>
            <a:off x="548640" y="3941064"/>
            <a:ext cx="5212080" cy="457200"/>
          </a:xfrm>
          <a:prstGeom prst="roundRect">
            <a:avLst/>
          </a:prstGeom>
          <a:solidFill>
            <a:srgbClr val="F5DB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3941064"/>
            <a:ext cx="4937760" cy="457200"/>
          </a:xfrm>
          <a:prstGeom prst="rect">
            <a:avLst/>
          </a:prstGeom>
          <a:noFill/>
        </p:spPr>
        <p:txBody>
          <a:bodyPr wrap="square" anchor="ctr">
            <a:spAutoFit/>
          </a:bodyPr>
          <a:lstStyle/>
          <a:p>
            <a:pPr algn="l">
              <a:lnSpc>
                <a:spcPct val="105000"/>
              </a:lnSpc>
              <a:spcBef>
                <a:spcPts val="0"/>
              </a:spcBef>
              <a:spcAft>
                <a:spcPts val="600"/>
              </a:spcAft>
            </a:pPr>
            <a:r>
              <a:rPr sz="1300" b="1" i="0">
                <a:solidFill>
                  <a:srgbClr val="1F1612"/>
                </a:solidFill>
                <a:latin typeface="Calibri"/>
              </a:rPr>
              <a:t>Cloud Functions (africa-south1)</a:t>
            </a:r>
          </a:p>
        </p:txBody>
      </p:sp>
      <p:sp>
        <p:nvSpPr>
          <p:cNvPr id="15" name="Rounded Rectangle 14"/>
          <p:cNvSpPr/>
          <p:nvPr/>
        </p:nvSpPr>
        <p:spPr>
          <a:xfrm>
            <a:off x="548640" y="4507992"/>
            <a:ext cx="5212080" cy="457200"/>
          </a:xfrm>
          <a:prstGeom prst="roundRect">
            <a:avLst/>
          </a:prstGeom>
          <a:solidFill>
            <a:srgbClr val="F5DB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4507992"/>
            <a:ext cx="4937760" cy="457200"/>
          </a:xfrm>
          <a:prstGeom prst="rect">
            <a:avLst/>
          </a:prstGeom>
          <a:noFill/>
        </p:spPr>
        <p:txBody>
          <a:bodyPr wrap="square" anchor="ctr">
            <a:spAutoFit/>
          </a:bodyPr>
          <a:lstStyle/>
          <a:p>
            <a:pPr algn="l">
              <a:lnSpc>
                <a:spcPct val="105000"/>
              </a:lnSpc>
              <a:spcBef>
                <a:spcPts val="0"/>
              </a:spcBef>
              <a:spcAft>
                <a:spcPts val="600"/>
              </a:spcAft>
            </a:pPr>
            <a:r>
              <a:rPr sz="1300" b="1" i="0">
                <a:solidFill>
                  <a:srgbClr val="1F1612"/>
                </a:solidFill>
                <a:latin typeface="Calibri"/>
              </a:rPr>
              <a:t>FCM push · WhatsApp Cloud API · Gemini</a:t>
            </a:r>
          </a:p>
        </p:txBody>
      </p:sp>
      <p:sp>
        <p:nvSpPr>
          <p:cNvPr id="17" name="Rounded Rectangle 16"/>
          <p:cNvSpPr/>
          <p:nvPr/>
        </p:nvSpPr>
        <p:spPr>
          <a:xfrm>
            <a:off x="548640" y="5303520"/>
            <a:ext cx="3355848" cy="329184"/>
          </a:xfrm>
          <a:prstGeom prst="roundRect">
            <a:avLst/>
          </a:prstGeom>
          <a:solidFill>
            <a:srgbClr val="2F8F83"/>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18288" bIns="18288"/>
          <a:lstStyle/>
          <a:p>
            <a:pPr algn="ctr"/>
            <a:r>
              <a:rPr sz="1200" b="1">
                <a:solidFill>
                  <a:srgbClr val="FFFFFF"/>
                </a:solidFill>
                <a:latin typeface="Calibri"/>
              </a:rPr>
              <a:t>All data resident in africa-south1</a:t>
            </a:r>
          </a:p>
        </p:txBody>
      </p:sp>
      <p:sp>
        <p:nvSpPr>
          <p:cNvPr id="18" name="TextBox 17"/>
          <p:cNvSpPr txBox="1"/>
          <p:nvPr/>
        </p:nvSpPr>
        <p:spPr>
          <a:xfrm>
            <a:off x="6309360" y="1783080"/>
            <a:ext cx="5486400" cy="365760"/>
          </a:xfrm>
          <a:prstGeom prst="rect">
            <a:avLst/>
          </a:prstGeom>
          <a:noFill/>
        </p:spPr>
        <p:txBody>
          <a:bodyPr wrap="square" anchor="t">
            <a:spAutoFit/>
          </a:bodyPr>
          <a:lstStyle/>
          <a:p>
            <a:pPr algn="l">
              <a:lnSpc>
                <a:spcPct val="105000"/>
              </a:lnSpc>
              <a:spcBef>
                <a:spcPts val="0"/>
              </a:spcBef>
              <a:spcAft>
                <a:spcPts val="600"/>
              </a:spcAft>
            </a:pPr>
            <a:r>
              <a:rPr sz="1600" b="1" i="0">
                <a:solidFill>
                  <a:srgbClr val="B45A2C"/>
                </a:solidFill>
                <a:latin typeface="Calibri"/>
              </a:rPr>
              <a:t>Security &amp; compliance</a:t>
            </a:r>
          </a:p>
        </p:txBody>
      </p:sp>
      <p:sp>
        <p:nvSpPr>
          <p:cNvPr id="19" name="TextBox 18"/>
          <p:cNvSpPr txBox="1"/>
          <p:nvPr/>
        </p:nvSpPr>
        <p:spPr>
          <a:xfrm>
            <a:off x="6309360" y="2240280"/>
            <a:ext cx="5303520" cy="4572000"/>
          </a:xfrm>
          <a:prstGeom prst="rect">
            <a:avLst/>
          </a:prstGeom>
          <a:noFill/>
        </p:spPr>
        <p:txBody>
          <a:bodyPr wrap="square" anchor="t">
            <a:spAutoFit/>
          </a:bodyPr>
          <a:lstStyle/>
          <a:p>
            <a:pPr algn="l">
              <a:lnSpc>
                <a:spcPct val="104000"/>
              </a:lnSpc>
              <a:spcBef>
                <a:spcPts val="0"/>
              </a:spcBef>
              <a:spcAft>
                <a:spcPts val="900"/>
              </a:spcAft>
            </a:pPr>
            <a:r>
              <a:rPr sz="1350" b="1" i="0">
                <a:solidFill>
                  <a:srgbClr val="A93226"/>
                </a:solidFill>
                <a:latin typeface="Calibri"/>
              </a:rPr>
              <a:t>▸  </a:t>
            </a:r>
            <a:r>
              <a:rPr sz="1350" b="0" i="0">
                <a:solidFill>
                  <a:srgbClr val="4A3A30"/>
                </a:solidFill>
                <a:latin typeface="Calibri"/>
              </a:rPr>
              <a:t>TOTP MFA enforced for all admins</a:t>
            </a:r>
          </a:p>
          <a:p>
            <a:pPr algn="l">
              <a:lnSpc>
                <a:spcPct val="104000"/>
              </a:lnSpc>
              <a:spcBef>
                <a:spcPts val="0"/>
              </a:spcBef>
              <a:spcAft>
                <a:spcPts val="900"/>
              </a:spcAft>
            </a:pPr>
            <a:r>
              <a:rPr sz="1350" b="1" i="0">
                <a:solidFill>
                  <a:srgbClr val="A93226"/>
                </a:solidFill>
                <a:latin typeface="Calibri"/>
              </a:rPr>
              <a:t>▸  </a:t>
            </a:r>
            <a:r>
              <a:rPr sz="1350" b="0" i="0">
                <a:solidFill>
                  <a:srgbClr val="4A3A30"/>
                </a:solidFill>
                <a:latin typeface="Calibri"/>
              </a:rPr>
              <a:t>Real-person ID verification before you can trade</a:t>
            </a:r>
          </a:p>
          <a:p>
            <a:pPr algn="l">
              <a:lnSpc>
                <a:spcPct val="104000"/>
              </a:lnSpc>
              <a:spcBef>
                <a:spcPts val="0"/>
              </a:spcBef>
              <a:spcAft>
                <a:spcPts val="900"/>
              </a:spcAft>
            </a:pPr>
            <a:r>
              <a:rPr sz="1350" b="1" i="0">
                <a:solidFill>
                  <a:srgbClr val="A93226"/>
                </a:solidFill>
                <a:latin typeface="Calibri"/>
              </a:rPr>
              <a:t>▸  </a:t>
            </a:r>
            <a:r>
              <a:rPr sz="1350" b="0" i="0">
                <a:solidFill>
                  <a:srgbClr val="4A3A30"/>
                </a:solidFill>
                <a:latin typeface="Calibri"/>
              </a:rPr>
              <a:t>Firestore security rules + automated rules tests</a:t>
            </a:r>
          </a:p>
          <a:p>
            <a:pPr algn="l">
              <a:lnSpc>
                <a:spcPct val="104000"/>
              </a:lnSpc>
              <a:spcBef>
                <a:spcPts val="0"/>
              </a:spcBef>
              <a:spcAft>
                <a:spcPts val="900"/>
              </a:spcAft>
            </a:pPr>
            <a:r>
              <a:rPr sz="1350" b="1" i="0">
                <a:solidFill>
                  <a:srgbClr val="A93226"/>
                </a:solidFill>
                <a:latin typeface="Calibri"/>
              </a:rPr>
              <a:t>▸  </a:t>
            </a:r>
            <a:r>
              <a:rPr sz="1350" b="0" i="0">
                <a:solidFill>
                  <a:srgbClr val="4A3A30"/>
                </a:solidFill>
                <a:latin typeface="Calibri"/>
              </a:rPr>
              <a:t>Sensitive ID docs isolated in a private subcollection</a:t>
            </a:r>
          </a:p>
          <a:p>
            <a:pPr algn="l">
              <a:lnSpc>
                <a:spcPct val="104000"/>
              </a:lnSpc>
              <a:spcBef>
                <a:spcPts val="0"/>
              </a:spcBef>
              <a:spcAft>
                <a:spcPts val="900"/>
              </a:spcAft>
            </a:pPr>
            <a:r>
              <a:rPr sz="1350" b="1" i="0">
                <a:solidFill>
                  <a:srgbClr val="A93226"/>
                </a:solidFill>
                <a:latin typeface="Calibri"/>
              </a:rPr>
              <a:t>▸  </a:t>
            </a:r>
            <a:r>
              <a:rPr sz="1350" b="0" i="0">
                <a:solidFill>
                  <a:srgbClr val="4A3A30"/>
                </a:solidFill>
                <a:latin typeface="Calibri"/>
              </a:rPr>
              <a:t>HMAC-signed WhatsApp webhook (rejects forged calls)</a:t>
            </a:r>
          </a:p>
          <a:p>
            <a:pPr algn="l">
              <a:lnSpc>
                <a:spcPct val="104000"/>
              </a:lnSpc>
              <a:spcBef>
                <a:spcPts val="0"/>
              </a:spcBef>
              <a:spcAft>
                <a:spcPts val="900"/>
              </a:spcAft>
            </a:pPr>
            <a:r>
              <a:rPr sz="1350" b="1" i="0">
                <a:solidFill>
                  <a:srgbClr val="A93226"/>
                </a:solidFill>
                <a:latin typeface="Calibri"/>
              </a:rPr>
              <a:t>▸  </a:t>
            </a:r>
            <a:r>
              <a:rPr sz="1350" b="0" i="0">
                <a:solidFill>
                  <a:srgbClr val="4A3A30"/>
                </a:solidFill>
                <a:latin typeface="Calibri"/>
              </a:rPr>
              <a:t>POPIA: consent, opt-in, and a documented erasure runbook</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566928"/>
            <a:ext cx="457200" cy="82296"/>
          </a:xfrm>
          <a:prstGeom prst="rect">
            <a:avLst/>
          </a:prstGeom>
          <a:solidFill>
            <a:srgbClr val="D97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713232"/>
            <a:ext cx="10058400" cy="365760"/>
          </a:xfrm>
          <a:prstGeom prst="rect">
            <a:avLst/>
          </a:prstGeom>
          <a:noFill/>
        </p:spPr>
        <p:txBody>
          <a:bodyPr wrap="square" anchor="t">
            <a:spAutoFit/>
          </a:bodyPr>
          <a:lstStyle/>
          <a:p>
            <a:pPr algn="l">
              <a:lnSpc>
                <a:spcPct val="105000"/>
              </a:lnSpc>
              <a:spcBef>
                <a:spcPts val="0"/>
              </a:spcBef>
              <a:spcAft>
                <a:spcPts val="600"/>
              </a:spcAft>
            </a:pPr>
            <a:r>
              <a:rPr sz="1500" b="1" i="0">
                <a:solidFill>
                  <a:srgbClr val="B45A2C"/>
                </a:solidFill>
                <a:latin typeface="Calibri"/>
              </a:rPr>
              <a:t>SUSTAINABILITY — PATH TO REVENUE</a:t>
            </a:r>
          </a:p>
        </p:txBody>
      </p:sp>
      <p:sp>
        <p:nvSpPr>
          <p:cNvPr id="5" name="TextBox 4"/>
          <p:cNvSpPr txBox="1"/>
          <p:nvPr/>
        </p:nvSpPr>
        <p:spPr>
          <a:xfrm>
            <a:off x="548640" y="1024128"/>
            <a:ext cx="11064240" cy="1097280"/>
          </a:xfrm>
          <a:prstGeom prst="rect">
            <a:avLst/>
          </a:prstGeom>
          <a:noFill/>
        </p:spPr>
        <p:txBody>
          <a:bodyPr wrap="square" anchor="t">
            <a:spAutoFit/>
          </a:bodyPr>
          <a:lstStyle/>
          <a:p>
            <a:pPr algn="l">
              <a:lnSpc>
                <a:spcPct val="100000"/>
              </a:lnSpc>
              <a:spcBef>
                <a:spcPts val="0"/>
              </a:spcBef>
              <a:spcAft>
                <a:spcPts val="600"/>
              </a:spcAft>
            </a:pPr>
            <a:r>
              <a:rPr sz="3000" b="1" i="0">
                <a:solidFill>
                  <a:srgbClr val="1F1612"/>
                </a:solidFill>
                <a:latin typeface="Calibri"/>
              </a:rPr>
              <a:t>Free to grow, then a clear path to revenue.</a:t>
            </a:r>
          </a:p>
        </p:txBody>
      </p:sp>
      <p:sp>
        <p:nvSpPr>
          <p:cNvPr id="6" name="Rounded Rectangle 5"/>
          <p:cNvSpPr/>
          <p:nvPr/>
        </p:nvSpPr>
        <p:spPr>
          <a:xfrm>
            <a:off x="548640" y="1828800"/>
            <a:ext cx="2606040" cy="1737360"/>
          </a:xfrm>
          <a:prstGeom prst="roundRect">
            <a:avLst/>
          </a:prstGeom>
          <a:solidFill>
            <a:srgbClr val="1F16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965960"/>
            <a:ext cx="2606040" cy="1554480"/>
          </a:xfrm>
          <a:prstGeom prst="rect">
            <a:avLst/>
          </a:prstGeom>
          <a:noFill/>
        </p:spPr>
        <p:txBody>
          <a:bodyPr wrap="square" anchor="t">
            <a:spAutoFit/>
          </a:bodyPr>
          <a:lstStyle/>
          <a:p>
            <a:pPr algn="ctr">
              <a:lnSpc>
                <a:spcPct val="100000"/>
              </a:lnSpc>
              <a:spcBef>
                <a:spcPts val="0"/>
              </a:spcBef>
              <a:spcAft>
                <a:spcPts val="300"/>
              </a:spcAft>
            </a:pPr>
            <a:r>
              <a:rPr sz="3400" b="1" i="0">
                <a:solidFill>
                  <a:srgbClr val="D97742"/>
                </a:solidFill>
                <a:latin typeface="Calibri"/>
              </a:rPr>
              <a:t>8%</a:t>
            </a:r>
          </a:p>
          <a:p>
            <a:pPr algn="ctr">
              <a:lnSpc>
                <a:spcPct val="100000"/>
              </a:lnSpc>
              <a:spcBef>
                <a:spcPts val="0"/>
              </a:spcBef>
              <a:spcAft>
                <a:spcPts val="300"/>
              </a:spcAft>
            </a:pPr>
            <a:r>
              <a:rPr sz="1500" b="1" i="0">
                <a:solidFill>
                  <a:srgbClr val="FAF4EC"/>
                </a:solidFill>
                <a:latin typeface="Calibri"/>
              </a:rPr>
              <a:t>service fee</a:t>
            </a:r>
          </a:p>
          <a:p>
            <a:pPr algn="ctr">
              <a:lnSpc>
                <a:spcPct val="100000"/>
              </a:lnSpc>
              <a:spcBef>
                <a:spcPts val="0"/>
              </a:spcBef>
              <a:spcAft>
                <a:spcPts val="300"/>
              </a:spcAft>
            </a:pPr>
            <a:r>
              <a:rPr sz="1200" b="0" i="0">
                <a:solidFill>
                  <a:srgbClr val="F5DBB5"/>
                </a:solidFill>
                <a:latin typeface="Calibri"/>
              </a:rPr>
              <a:t>paid by the job poster</a:t>
            </a:r>
          </a:p>
        </p:txBody>
      </p:sp>
      <p:sp>
        <p:nvSpPr>
          <p:cNvPr id="8" name="Rounded Rectangle 7"/>
          <p:cNvSpPr/>
          <p:nvPr/>
        </p:nvSpPr>
        <p:spPr>
          <a:xfrm>
            <a:off x="3364992" y="1828800"/>
            <a:ext cx="2606040" cy="1737360"/>
          </a:xfrm>
          <a:prstGeom prst="roundRect">
            <a:avLst/>
          </a:prstGeom>
          <a:solidFill>
            <a:srgbClr val="1F16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364992" y="1965960"/>
            <a:ext cx="2606040" cy="1554480"/>
          </a:xfrm>
          <a:prstGeom prst="rect">
            <a:avLst/>
          </a:prstGeom>
          <a:noFill/>
        </p:spPr>
        <p:txBody>
          <a:bodyPr wrap="square" anchor="t">
            <a:spAutoFit/>
          </a:bodyPr>
          <a:lstStyle/>
          <a:p>
            <a:pPr algn="ctr">
              <a:lnSpc>
                <a:spcPct val="100000"/>
              </a:lnSpc>
              <a:spcBef>
                <a:spcPts val="0"/>
              </a:spcBef>
              <a:spcAft>
                <a:spcPts val="300"/>
              </a:spcAft>
            </a:pPr>
            <a:r>
              <a:rPr sz="3400" b="1" i="0">
                <a:solidFill>
                  <a:srgbClr val="D97742"/>
                </a:solidFill>
                <a:latin typeface="Calibri"/>
              </a:rPr>
              <a:t>R49</a:t>
            </a:r>
          </a:p>
          <a:p>
            <a:pPr algn="ctr">
              <a:lnSpc>
                <a:spcPct val="100000"/>
              </a:lnSpc>
              <a:spcBef>
                <a:spcPts val="0"/>
              </a:spcBef>
              <a:spcAft>
                <a:spcPts val="300"/>
              </a:spcAft>
            </a:pPr>
            <a:r>
              <a:rPr sz="1500" b="1" i="0">
                <a:solidFill>
                  <a:srgbClr val="FAF4EC"/>
                </a:solidFill>
                <a:latin typeface="Calibri"/>
              </a:rPr>
              <a:t>Gold badge</a:t>
            </a:r>
          </a:p>
          <a:p>
            <a:pPr algn="ctr">
              <a:lnSpc>
                <a:spcPct val="100000"/>
              </a:lnSpc>
              <a:spcBef>
                <a:spcPts val="0"/>
              </a:spcBef>
              <a:spcAft>
                <a:spcPts val="300"/>
              </a:spcAft>
            </a:pPr>
            <a:r>
              <a:rPr sz="1200" b="0" i="0">
                <a:solidFill>
                  <a:srgbClr val="F5DBB5"/>
                </a:solidFill>
                <a:latin typeface="Calibri"/>
              </a:rPr>
              <a:t>premium verification</a:t>
            </a:r>
          </a:p>
        </p:txBody>
      </p:sp>
      <p:sp>
        <p:nvSpPr>
          <p:cNvPr id="10" name="Rounded Rectangle 9"/>
          <p:cNvSpPr/>
          <p:nvPr/>
        </p:nvSpPr>
        <p:spPr>
          <a:xfrm>
            <a:off x="6181344" y="1828800"/>
            <a:ext cx="2606040" cy="1737360"/>
          </a:xfrm>
          <a:prstGeom prst="roundRect">
            <a:avLst/>
          </a:prstGeom>
          <a:solidFill>
            <a:srgbClr val="1F16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181344" y="1965960"/>
            <a:ext cx="2606040" cy="1554480"/>
          </a:xfrm>
          <a:prstGeom prst="rect">
            <a:avLst/>
          </a:prstGeom>
          <a:noFill/>
        </p:spPr>
        <p:txBody>
          <a:bodyPr wrap="square" anchor="t">
            <a:spAutoFit/>
          </a:bodyPr>
          <a:lstStyle/>
          <a:p>
            <a:pPr algn="ctr">
              <a:lnSpc>
                <a:spcPct val="100000"/>
              </a:lnSpc>
              <a:spcBef>
                <a:spcPts val="0"/>
              </a:spcBef>
              <a:spcAft>
                <a:spcPts val="300"/>
              </a:spcAft>
            </a:pPr>
            <a:r>
              <a:rPr sz="3400" b="1" i="0">
                <a:solidFill>
                  <a:srgbClr val="D97742"/>
                </a:solidFill>
                <a:latin typeface="Calibri"/>
              </a:rPr>
              <a:t>R20</a:t>
            </a:r>
          </a:p>
          <a:p>
            <a:pPr algn="ctr">
              <a:lnSpc>
                <a:spcPct val="100000"/>
              </a:lnSpc>
              <a:spcBef>
                <a:spcPts val="0"/>
              </a:spcBef>
              <a:spcAft>
                <a:spcPts val="300"/>
              </a:spcAft>
            </a:pPr>
            <a:r>
              <a:rPr sz="1500" b="1" i="0">
                <a:solidFill>
                  <a:srgbClr val="FAF4EC"/>
                </a:solidFill>
                <a:latin typeface="Calibri"/>
              </a:rPr>
              <a:t>boosted post</a:t>
            </a:r>
          </a:p>
          <a:p>
            <a:pPr algn="ctr">
              <a:lnSpc>
                <a:spcPct val="100000"/>
              </a:lnSpc>
              <a:spcBef>
                <a:spcPts val="0"/>
              </a:spcBef>
              <a:spcAft>
                <a:spcPts val="300"/>
              </a:spcAft>
            </a:pPr>
            <a:r>
              <a:rPr sz="1200" b="0" i="0">
                <a:solidFill>
                  <a:srgbClr val="F5DBB5"/>
                </a:solidFill>
                <a:latin typeface="Calibri"/>
              </a:rPr>
              <a:t>more visibility</a:t>
            </a:r>
          </a:p>
        </p:txBody>
      </p:sp>
      <p:sp>
        <p:nvSpPr>
          <p:cNvPr id="12" name="Rounded Rectangle 11"/>
          <p:cNvSpPr/>
          <p:nvPr/>
        </p:nvSpPr>
        <p:spPr>
          <a:xfrm>
            <a:off x="8997696" y="1828800"/>
            <a:ext cx="2606040" cy="1737360"/>
          </a:xfrm>
          <a:prstGeom prst="roundRect">
            <a:avLst/>
          </a:prstGeom>
          <a:solidFill>
            <a:srgbClr val="1F16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997696" y="1965960"/>
            <a:ext cx="2606040" cy="1554480"/>
          </a:xfrm>
          <a:prstGeom prst="rect">
            <a:avLst/>
          </a:prstGeom>
          <a:noFill/>
        </p:spPr>
        <p:txBody>
          <a:bodyPr wrap="square" anchor="t">
            <a:spAutoFit/>
          </a:bodyPr>
          <a:lstStyle/>
          <a:p>
            <a:pPr algn="ctr">
              <a:lnSpc>
                <a:spcPct val="100000"/>
              </a:lnSpc>
              <a:spcBef>
                <a:spcPts val="0"/>
              </a:spcBef>
              <a:spcAft>
                <a:spcPts val="300"/>
              </a:spcAft>
            </a:pPr>
            <a:r>
              <a:rPr sz="3400" b="1" i="0">
                <a:solidFill>
                  <a:srgbClr val="D97742"/>
                </a:solidFill>
                <a:latin typeface="Calibri"/>
              </a:rPr>
              <a:t>R199</a:t>
            </a:r>
          </a:p>
          <a:p>
            <a:pPr algn="ctr">
              <a:lnSpc>
                <a:spcPct val="100000"/>
              </a:lnSpc>
              <a:spcBef>
                <a:spcPts val="0"/>
              </a:spcBef>
              <a:spcAft>
                <a:spcPts val="300"/>
              </a:spcAft>
            </a:pPr>
            <a:r>
              <a:rPr sz="1500" b="1" i="0">
                <a:solidFill>
                  <a:srgbClr val="FAF4EC"/>
                </a:solidFill>
                <a:latin typeface="Calibri"/>
              </a:rPr>
              <a:t>/ month</a:t>
            </a:r>
          </a:p>
          <a:p>
            <a:pPr algn="ctr">
              <a:lnSpc>
                <a:spcPct val="100000"/>
              </a:lnSpc>
              <a:spcBef>
                <a:spcPts val="0"/>
              </a:spcBef>
              <a:spcAft>
                <a:spcPts val="300"/>
              </a:spcAft>
            </a:pPr>
            <a:r>
              <a:rPr sz="1200" b="0" i="0">
                <a:solidFill>
                  <a:srgbClr val="F5DBB5"/>
                </a:solidFill>
                <a:latin typeface="Calibri"/>
              </a:rPr>
              <a:t>business plan</a:t>
            </a:r>
          </a:p>
        </p:txBody>
      </p:sp>
      <p:sp>
        <p:nvSpPr>
          <p:cNvPr id="14" name="TextBox 13"/>
          <p:cNvSpPr txBox="1"/>
          <p:nvPr/>
        </p:nvSpPr>
        <p:spPr>
          <a:xfrm>
            <a:off x="548640" y="3931920"/>
            <a:ext cx="10972800" cy="4572000"/>
          </a:xfrm>
          <a:prstGeom prst="rect">
            <a:avLst/>
          </a:prstGeom>
          <a:noFill/>
        </p:spPr>
        <p:txBody>
          <a:bodyPr wrap="square" anchor="t">
            <a:spAutoFit/>
          </a:bodyPr>
          <a:lstStyle/>
          <a:p>
            <a:pPr algn="l">
              <a:lnSpc>
                <a:spcPct val="104000"/>
              </a:lnSpc>
              <a:spcBef>
                <a:spcPts val="0"/>
              </a:spcBef>
              <a:spcAft>
                <a:spcPts val="1100"/>
              </a:spcAft>
            </a:pPr>
            <a:r>
              <a:rPr sz="1500" b="1" i="0">
                <a:solidFill>
                  <a:srgbClr val="D97742"/>
                </a:solidFill>
                <a:latin typeface="Calibri"/>
              </a:rPr>
              <a:t>▸  </a:t>
            </a:r>
            <a:r>
              <a:rPr sz="1500" b="1" i="0">
                <a:solidFill>
                  <a:srgbClr val="1F1612"/>
                </a:solidFill>
                <a:latin typeface="Calibri"/>
              </a:rPr>
              <a:t>Launch is free  </a:t>
            </a:r>
            <a:r>
              <a:rPr sz="1500" b="0" i="0">
                <a:solidFill>
                  <a:srgbClr val="4A3A30"/>
                </a:solidFill>
                <a:latin typeface="Calibri"/>
              </a:rPr>
              <a:t>— the priority is marketplace liquidity (workers + jobs) first.</a:t>
            </a:r>
          </a:p>
          <a:p>
            <a:pPr algn="l">
              <a:lnSpc>
                <a:spcPct val="104000"/>
              </a:lnSpc>
              <a:spcBef>
                <a:spcPts val="0"/>
              </a:spcBef>
              <a:spcAft>
                <a:spcPts val="1100"/>
              </a:spcAft>
            </a:pPr>
            <a:r>
              <a:rPr sz="1500" b="1" i="0">
                <a:solidFill>
                  <a:srgbClr val="D97742"/>
                </a:solidFill>
                <a:latin typeface="Calibri"/>
              </a:rPr>
              <a:t>▸  </a:t>
            </a:r>
            <a:r>
              <a:rPr sz="1500" b="1" i="0">
                <a:solidFill>
                  <a:srgbClr val="1F1612"/>
                </a:solidFill>
                <a:latin typeface="Calibri"/>
              </a:rPr>
              <a:t>Running cost ≈ R14,100 / month  </a:t>
            </a:r>
            <a:r>
              <a:rPr sz="1500" b="0" i="0">
                <a:solidFill>
                  <a:srgbClr val="4A3A30"/>
                </a:solidFill>
                <a:latin typeface="Calibri"/>
              </a:rPr>
              <a:t>· break-even ≈ 500 completed jobs / month.</a:t>
            </a:r>
          </a:p>
          <a:p>
            <a:pPr algn="l">
              <a:lnSpc>
                <a:spcPct val="104000"/>
              </a:lnSpc>
              <a:spcBef>
                <a:spcPts val="0"/>
              </a:spcBef>
              <a:spcAft>
                <a:spcPts val="1100"/>
              </a:spcAft>
            </a:pPr>
            <a:r>
              <a:rPr sz="1500" b="1" i="0">
                <a:solidFill>
                  <a:srgbClr val="D97742"/>
                </a:solidFill>
                <a:latin typeface="Calibri"/>
              </a:rPr>
              <a:t>▸  </a:t>
            </a:r>
            <a:r>
              <a:rPr sz="1500" b="1" i="0">
                <a:solidFill>
                  <a:srgbClr val="1F1612"/>
                </a:solidFill>
                <a:latin typeface="Calibri"/>
              </a:rPr>
              <a:t>The moat is data.  </a:t>
            </a:r>
            <a:r>
              <a:rPr sz="1500" b="0" i="0">
                <a:solidFill>
                  <a:srgbClr val="4A3A30"/>
                </a:solidFill>
                <a:latin typeface="Calibri"/>
              </a:rPr>
              <a:t>We own POPIA-compliant verified-worker and work-record data no feed can replicate.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16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320040" cy="6858000"/>
          </a:xfrm>
          <a:prstGeom prst="rect">
            <a:avLst/>
          </a:prstGeom>
          <a:solidFill>
            <a:srgbClr val="D97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5852160"/>
            <a:ext cx="12191695" cy="54864"/>
          </a:xfrm>
          <a:prstGeom prst="rect">
            <a:avLst/>
          </a:prstGeom>
          <a:solidFill>
            <a:srgbClr val="D97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566928"/>
            <a:ext cx="5486400" cy="365760"/>
          </a:xfrm>
          <a:prstGeom prst="rect">
            <a:avLst/>
          </a:prstGeom>
          <a:noFill/>
        </p:spPr>
        <p:txBody>
          <a:bodyPr wrap="square" anchor="t">
            <a:spAutoFit/>
          </a:bodyPr>
          <a:lstStyle/>
          <a:p>
            <a:pPr algn="l">
              <a:lnSpc>
                <a:spcPct val="105000"/>
              </a:lnSpc>
              <a:spcBef>
                <a:spcPts val="0"/>
              </a:spcBef>
              <a:spcAft>
                <a:spcPts val="600"/>
              </a:spcAft>
            </a:pPr>
            <a:r>
              <a:rPr sz="1500" b="1" i="0">
                <a:solidFill>
                  <a:srgbClr val="D97742"/>
                </a:solidFill>
                <a:latin typeface="Calibri"/>
              </a:rPr>
              <a:t>IMPACT &amp; VISION</a:t>
            </a:r>
          </a:p>
        </p:txBody>
      </p:sp>
      <p:sp>
        <p:nvSpPr>
          <p:cNvPr id="6" name="TextBox 5"/>
          <p:cNvSpPr txBox="1"/>
          <p:nvPr/>
        </p:nvSpPr>
        <p:spPr>
          <a:xfrm>
            <a:off x="548640" y="960120"/>
            <a:ext cx="11064240" cy="1097280"/>
          </a:xfrm>
          <a:prstGeom prst="rect">
            <a:avLst/>
          </a:prstGeom>
          <a:noFill/>
        </p:spPr>
        <p:txBody>
          <a:bodyPr wrap="square" anchor="t">
            <a:spAutoFit/>
          </a:bodyPr>
          <a:lstStyle/>
          <a:p>
            <a:pPr algn="l">
              <a:lnSpc>
                <a:spcPct val="100000"/>
              </a:lnSpc>
              <a:spcBef>
                <a:spcPts val="0"/>
              </a:spcBef>
              <a:spcAft>
                <a:spcPts val="600"/>
              </a:spcAft>
            </a:pPr>
            <a:r>
              <a:rPr sz="3000" b="1" i="0">
                <a:solidFill>
                  <a:srgbClr val="FAF4EC"/>
                </a:solidFill>
                <a:latin typeface="Calibri"/>
              </a:rPr>
              <a:t>From Gauteng to the whole country.</a:t>
            </a:r>
          </a:p>
        </p:txBody>
      </p:sp>
      <p:sp>
        <p:nvSpPr>
          <p:cNvPr id="7" name="TextBox 6"/>
          <p:cNvSpPr txBox="1"/>
          <p:nvPr/>
        </p:nvSpPr>
        <p:spPr>
          <a:xfrm>
            <a:off x="548640" y="1828800"/>
            <a:ext cx="2194560" cy="1005840"/>
          </a:xfrm>
          <a:prstGeom prst="rect">
            <a:avLst/>
          </a:prstGeom>
          <a:noFill/>
        </p:spPr>
        <p:txBody>
          <a:bodyPr wrap="square" anchor="t">
            <a:spAutoFit/>
          </a:bodyPr>
          <a:lstStyle/>
          <a:p>
            <a:pPr algn="l">
              <a:lnSpc>
                <a:spcPct val="100000"/>
              </a:lnSpc>
              <a:spcBef>
                <a:spcPts val="0"/>
              </a:spcBef>
              <a:spcAft>
                <a:spcPts val="200"/>
              </a:spcAft>
            </a:pPr>
            <a:r>
              <a:rPr sz="4000" b="1" i="0">
                <a:solidFill>
                  <a:srgbClr val="D97742"/>
                </a:solidFill>
                <a:latin typeface="Calibri"/>
              </a:rPr>
              <a:t>140+</a:t>
            </a:r>
          </a:p>
          <a:p>
            <a:pPr algn="l">
              <a:lnSpc>
                <a:spcPct val="100000"/>
              </a:lnSpc>
              <a:spcBef>
                <a:spcPts val="0"/>
              </a:spcBef>
              <a:spcAft>
                <a:spcPts val="200"/>
              </a:spcAft>
            </a:pPr>
            <a:r>
              <a:rPr sz="1400" b="0" i="0">
                <a:solidFill>
                  <a:srgbClr val="F5DBB5"/>
                </a:solidFill>
                <a:latin typeface="Calibri"/>
              </a:rPr>
              <a:t>users</a:t>
            </a:r>
          </a:p>
        </p:txBody>
      </p:sp>
      <p:sp>
        <p:nvSpPr>
          <p:cNvPr id="8" name="TextBox 7"/>
          <p:cNvSpPr txBox="1"/>
          <p:nvPr/>
        </p:nvSpPr>
        <p:spPr>
          <a:xfrm>
            <a:off x="2880360" y="1828800"/>
            <a:ext cx="2194560" cy="1005840"/>
          </a:xfrm>
          <a:prstGeom prst="rect">
            <a:avLst/>
          </a:prstGeom>
          <a:noFill/>
        </p:spPr>
        <p:txBody>
          <a:bodyPr wrap="square" anchor="t">
            <a:spAutoFit/>
          </a:bodyPr>
          <a:lstStyle/>
          <a:p>
            <a:pPr algn="l">
              <a:lnSpc>
                <a:spcPct val="100000"/>
              </a:lnSpc>
              <a:spcBef>
                <a:spcPts val="0"/>
              </a:spcBef>
              <a:spcAft>
                <a:spcPts val="200"/>
              </a:spcAft>
            </a:pPr>
            <a:r>
              <a:rPr sz="4000" b="1" i="0">
                <a:solidFill>
                  <a:srgbClr val="D97742"/>
                </a:solidFill>
                <a:latin typeface="Calibri"/>
              </a:rPr>
              <a:t>110+</a:t>
            </a:r>
          </a:p>
          <a:p>
            <a:pPr algn="l">
              <a:lnSpc>
                <a:spcPct val="100000"/>
              </a:lnSpc>
              <a:spcBef>
                <a:spcPts val="0"/>
              </a:spcBef>
              <a:spcAft>
                <a:spcPts val="200"/>
              </a:spcAft>
            </a:pPr>
            <a:r>
              <a:rPr sz="1400" b="0" i="0">
                <a:solidFill>
                  <a:srgbClr val="F5DBB5"/>
                </a:solidFill>
                <a:latin typeface="Calibri"/>
              </a:rPr>
              <a:t>workers</a:t>
            </a:r>
          </a:p>
        </p:txBody>
      </p:sp>
      <p:sp>
        <p:nvSpPr>
          <p:cNvPr id="9" name="TextBox 8"/>
          <p:cNvSpPr txBox="1"/>
          <p:nvPr/>
        </p:nvSpPr>
        <p:spPr>
          <a:xfrm>
            <a:off x="5212079" y="1828800"/>
            <a:ext cx="2194560" cy="1005840"/>
          </a:xfrm>
          <a:prstGeom prst="rect">
            <a:avLst/>
          </a:prstGeom>
          <a:noFill/>
        </p:spPr>
        <p:txBody>
          <a:bodyPr wrap="square" anchor="t">
            <a:spAutoFit/>
          </a:bodyPr>
          <a:lstStyle/>
          <a:p>
            <a:pPr algn="l">
              <a:lnSpc>
                <a:spcPct val="100000"/>
              </a:lnSpc>
              <a:spcBef>
                <a:spcPts val="0"/>
              </a:spcBef>
              <a:spcAft>
                <a:spcPts val="200"/>
              </a:spcAft>
            </a:pPr>
            <a:r>
              <a:rPr sz="4000" b="1" i="0">
                <a:solidFill>
                  <a:srgbClr val="D97742"/>
                </a:solidFill>
                <a:latin typeface="Calibri"/>
              </a:rPr>
              <a:t>25+</a:t>
            </a:r>
          </a:p>
          <a:p>
            <a:pPr algn="l">
              <a:lnSpc>
                <a:spcPct val="100000"/>
              </a:lnSpc>
              <a:spcBef>
                <a:spcPts val="0"/>
              </a:spcBef>
              <a:spcAft>
                <a:spcPts val="200"/>
              </a:spcAft>
            </a:pPr>
            <a:r>
              <a:rPr sz="1400" b="0" i="0">
                <a:solidFill>
                  <a:srgbClr val="F5DBB5"/>
                </a:solidFill>
                <a:latin typeface="Calibri"/>
              </a:rPr>
              <a:t>ID-verified</a:t>
            </a:r>
          </a:p>
        </p:txBody>
      </p:sp>
      <p:sp>
        <p:nvSpPr>
          <p:cNvPr id="10" name="TextBox 9"/>
          <p:cNvSpPr txBox="1"/>
          <p:nvPr/>
        </p:nvSpPr>
        <p:spPr>
          <a:xfrm>
            <a:off x="548640" y="3017520"/>
            <a:ext cx="7315200" cy="365760"/>
          </a:xfrm>
          <a:prstGeom prst="rect">
            <a:avLst/>
          </a:prstGeom>
          <a:noFill/>
        </p:spPr>
        <p:txBody>
          <a:bodyPr wrap="square" anchor="t">
            <a:spAutoFit/>
          </a:bodyPr>
          <a:lstStyle/>
          <a:p>
            <a:pPr algn="l">
              <a:lnSpc>
                <a:spcPct val="105000"/>
              </a:lnSpc>
              <a:spcBef>
                <a:spcPts val="0"/>
              </a:spcBef>
              <a:spcAft>
                <a:spcPts val="600"/>
              </a:spcAft>
            </a:pPr>
            <a:r>
              <a:rPr sz="1200" b="0" i="1">
                <a:solidFill>
                  <a:srgbClr val="D8CFC4"/>
                </a:solidFill>
                <a:latin typeface="Calibri"/>
              </a:rPr>
              <a:t>Real accounts in Gauteng (demo/seed data excluded) — and growing weekly.</a:t>
            </a:r>
          </a:p>
        </p:txBody>
      </p:sp>
      <p:sp>
        <p:nvSpPr>
          <p:cNvPr id="11" name="TextBox 10"/>
          <p:cNvSpPr txBox="1"/>
          <p:nvPr/>
        </p:nvSpPr>
        <p:spPr>
          <a:xfrm>
            <a:off x="548640" y="3611880"/>
            <a:ext cx="6949440" cy="4572000"/>
          </a:xfrm>
          <a:prstGeom prst="rect">
            <a:avLst/>
          </a:prstGeom>
          <a:noFill/>
        </p:spPr>
        <p:txBody>
          <a:bodyPr wrap="square" anchor="t">
            <a:spAutoFit/>
          </a:bodyPr>
          <a:lstStyle/>
          <a:p>
            <a:pPr algn="l">
              <a:lnSpc>
                <a:spcPct val="104000"/>
              </a:lnSpc>
              <a:spcBef>
                <a:spcPts val="0"/>
              </a:spcBef>
              <a:spcAft>
                <a:spcPts val="1100"/>
              </a:spcAft>
            </a:pPr>
            <a:r>
              <a:rPr sz="1500" b="1" i="0">
                <a:solidFill>
                  <a:srgbClr val="D97742"/>
                </a:solidFill>
                <a:latin typeface="Calibri"/>
              </a:rPr>
              <a:t>▸  </a:t>
            </a:r>
            <a:r>
              <a:rPr sz="1500" b="1" i="0">
                <a:solidFill>
                  <a:srgbClr val="FAF4EC"/>
                </a:solidFill>
                <a:latin typeface="Calibri"/>
              </a:rPr>
              <a:t>12-month target.  </a:t>
            </a:r>
            <a:r>
              <a:rPr sz="1500" b="0" i="0">
                <a:solidFill>
                  <a:srgbClr val="D8CFC4"/>
                </a:solidFill>
                <a:latin typeface="Calibri"/>
              </a:rPr>
              <a:t>3,000 verified workers · 1,500 job posters · 1,500 completed jobs.</a:t>
            </a:r>
          </a:p>
          <a:p>
            <a:pPr algn="l">
              <a:lnSpc>
                <a:spcPct val="104000"/>
              </a:lnSpc>
              <a:spcBef>
                <a:spcPts val="0"/>
              </a:spcBef>
              <a:spcAft>
                <a:spcPts val="1100"/>
              </a:spcAft>
            </a:pPr>
            <a:r>
              <a:rPr sz="1500" b="1" i="0">
                <a:solidFill>
                  <a:srgbClr val="D97742"/>
                </a:solidFill>
                <a:latin typeface="Calibri"/>
              </a:rPr>
              <a:t>▸  </a:t>
            </a:r>
            <a:r>
              <a:rPr sz="1500" b="1" i="0">
                <a:solidFill>
                  <a:srgbClr val="FAF4EC"/>
                </a:solidFill>
                <a:latin typeface="Calibri"/>
              </a:rPr>
              <a:t>Roadmap.  </a:t>
            </a:r>
            <a:r>
              <a:rPr sz="1500" b="0" i="0">
                <a:solidFill>
                  <a:srgbClr val="D8CFC4"/>
                </a:solidFill>
                <a:latin typeface="Calibri"/>
              </a:rPr>
              <a:t>Province-by-province rollout · BluLever artisan pipeline · employer/SME accounts.</a:t>
            </a:r>
          </a:p>
          <a:p>
            <a:pPr algn="l">
              <a:lnSpc>
                <a:spcPct val="104000"/>
              </a:lnSpc>
              <a:spcBef>
                <a:spcPts val="0"/>
              </a:spcBef>
              <a:spcAft>
                <a:spcPts val="1100"/>
              </a:spcAft>
            </a:pPr>
            <a:r>
              <a:rPr sz="1500" b="1" i="0">
                <a:solidFill>
                  <a:srgbClr val="D97742"/>
                </a:solidFill>
                <a:latin typeface="Calibri"/>
              </a:rPr>
              <a:t>▸  </a:t>
            </a:r>
            <a:r>
              <a:rPr sz="1500" b="1" i="0">
                <a:solidFill>
                  <a:srgbClr val="FAF4EC"/>
                </a:solidFill>
                <a:latin typeface="Calibri"/>
              </a:rPr>
              <a:t>Every verified job  </a:t>
            </a:r>
            <a:r>
              <a:rPr sz="1500" b="0" i="0">
                <a:solidFill>
                  <a:srgbClr val="D8CFC4"/>
                </a:solidFill>
                <a:latin typeface="Calibri"/>
              </a:rPr>
              <a:t>is a young person one step closer to stable income.</a:t>
            </a:r>
          </a:p>
        </p:txBody>
      </p:sp>
      <p:sp>
        <p:nvSpPr>
          <p:cNvPr id="12" name="Rounded Rectangle 11"/>
          <p:cNvSpPr/>
          <p:nvPr/>
        </p:nvSpPr>
        <p:spPr>
          <a:xfrm>
            <a:off x="7772400" y="3611880"/>
            <a:ext cx="3840480" cy="1828800"/>
          </a:xfrm>
          <a:prstGeom prst="roundRect">
            <a:avLst/>
          </a:prstGeom>
          <a:solidFill>
            <a:srgbClr val="D97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0" y="3611880"/>
            <a:ext cx="3840480" cy="1828800"/>
          </a:xfrm>
          <a:prstGeom prst="rect">
            <a:avLst/>
          </a:prstGeom>
          <a:noFill/>
        </p:spPr>
        <p:txBody>
          <a:bodyPr wrap="square" anchor="ctr">
            <a:spAutoFit/>
          </a:bodyPr>
          <a:lstStyle/>
          <a:p>
            <a:pPr algn="ctr">
              <a:lnSpc>
                <a:spcPct val="105000"/>
              </a:lnSpc>
              <a:spcBef>
                <a:spcPts val="0"/>
              </a:spcBef>
              <a:spcAft>
                <a:spcPts val="600"/>
              </a:spcAft>
            </a:pPr>
            <a:r>
              <a:rPr sz="1400" b="1" i="0">
                <a:solidFill>
                  <a:srgbClr val="FAF4EC"/>
                </a:solidFill>
                <a:latin typeface="Calibri"/>
              </a:rPr>
              <a:t>Demo video</a:t>
            </a:r>
          </a:p>
          <a:p>
            <a:pPr algn="ctr">
              <a:lnSpc>
                <a:spcPct val="105000"/>
              </a:lnSpc>
              <a:spcBef>
                <a:spcPts val="0"/>
              </a:spcBef>
              <a:spcAft>
                <a:spcPts val="600"/>
              </a:spcAft>
            </a:pPr>
            <a:r>
              <a:rPr sz="1500" b="1" i="0">
                <a:solidFill>
                  <a:srgbClr val="FAF4EC"/>
                </a:solidFill>
                <a:latin typeface="Calibri"/>
              </a:rPr>
              <a:t>[ PASTE LINK ]</a:t>
            </a:r>
          </a:p>
          <a:p>
            <a:pPr algn="ctr">
              <a:lnSpc>
                <a:spcPct val="105000"/>
              </a:lnSpc>
              <a:spcBef>
                <a:spcPts val="0"/>
              </a:spcBef>
              <a:spcAft>
                <a:spcPts val="600"/>
              </a:spcAft>
            </a:pPr>
            <a:r>
              <a:rPr sz="1200" b="0" i="0">
                <a:solidFill>
                  <a:srgbClr val="FAF4EC"/>
                </a:solidFill>
                <a:latin typeface="Calibri"/>
              </a:rPr>
              <a:t>workitsa.co.za · Team Workitsa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4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320040" cy="6858000"/>
          </a:xfrm>
          <a:prstGeom prst="rect">
            <a:avLst/>
          </a:prstGeom>
          <a:solidFill>
            <a:srgbClr val="D977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502920"/>
            <a:ext cx="7315200" cy="365760"/>
          </a:xfrm>
          <a:prstGeom prst="rect">
            <a:avLst/>
          </a:prstGeom>
          <a:noFill/>
        </p:spPr>
        <p:txBody>
          <a:bodyPr wrap="square" anchor="t">
            <a:spAutoFit/>
          </a:bodyPr>
          <a:lstStyle/>
          <a:p>
            <a:pPr algn="l"/>
            <a:r>
              <a:rPr sz="1500" b="1">
                <a:solidFill>
                  <a:srgbClr val="D97742"/>
                </a:solidFill>
              </a:rPr>
              <a:t>HOW WE SCORE</a:t>
            </a:r>
          </a:p>
        </p:txBody>
      </p:sp>
      <p:sp>
        <p:nvSpPr>
          <p:cNvPr id="5" name="TextBox 4"/>
          <p:cNvSpPr txBox="1"/>
          <p:nvPr/>
        </p:nvSpPr>
        <p:spPr>
          <a:xfrm>
            <a:off x="548640" y="896112"/>
            <a:ext cx="11155680" cy="822960"/>
          </a:xfrm>
          <a:prstGeom prst="rect">
            <a:avLst/>
          </a:prstGeom>
          <a:noFill/>
        </p:spPr>
        <p:txBody>
          <a:bodyPr wrap="square" anchor="t">
            <a:spAutoFit/>
          </a:bodyPr>
          <a:lstStyle/>
          <a:p>
            <a:pPr algn="l"/>
            <a:r>
              <a:rPr sz="2900" b="1">
                <a:solidFill>
                  <a:srgbClr val="1F1612"/>
                </a:solidFill>
              </a:rPr>
              <a:t>Mapped to the 7 judging criteria.</a:t>
            </a:r>
          </a:p>
        </p:txBody>
      </p:sp>
      <p:sp>
        <p:nvSpPr>
          <p:cNvPr id="6" name="Rounded Rectangle 5"/>
          <p:cNvSpPr/>
          <p:nvPr/>
        </p:nvSpPr>
        <p:spPr>
          <a:xfrm>
            <a:off x="548640" y="1783080"/>
            <a:ext cx="2148840" cy="512064"/>
          </a:xfrm>
          <a:prstGeom prst="roundRect">
            <a:avLst/>
          </a:prstGeom>
          <a:solidFill>
            <a:srgbClr val="D97742"/>
          </a:solidFill>
          <a:ln>
            <a:noFill/>
          </a:ln>
        </p:spPr>
        <p:style>
          <a:lnRef idx="1">
            <a:schemeClr val="accent1"/>
          </a:lnRef>
          <a:fillRef idx="3">
            <a:schemeClr val="accent1"/>
          </a:fillRef>
          <a:effectRef idx="2">
            <a:schemeClr val="accent1"/>
          </a:effectRef>
          <a:fontRef idx="minor">
            <a:schemeClr val="lt1"/>
          </a:fontRef>
        </p:style>
        <p:txBody>
          <a:bodyPr rtlCol="0" anchor="ctr" tIns="18288" bIns="18288"/>
          <a:lstStyle/>
          <a:p>
            <a:pPr algn="ctr"/>
            <a:r>
              <a:rPr sz="1300" b="1">
                <a:solidFill>
                  <a:srgbClr val="FAF4EC"/>
                </a:solidFill>
              </a:rPr>
              <a:t>Product</a:t>
            </a:r>
          </a:p>
        </p:txBody>
      </p:sp>
      <p:sp>
        <p:nvSpPr>
          <p:cNvPr id="7" name="TextBox 6"/>
          <p:cNvSpPr txBox="1"/>
          <p:nvPr/>
        </p:nvSpPr>
        <p:spPr>
          <a:xfrm>
            <a:off x="2880360" y="1764792"/>
            <a:ext cx="8778240" cy="548640"/>
          </a:xfrm>
          <a:prstGeom prst="rect">
            <a:avLst/>
          </a:prstGeom>
          <a:noFill/>
        </p:spPr>
        <p:txBody>
          <a:bodyPr wrap="square" anchor="ctr">
            <a:spAutoFit/>
          </a:bodyPr>
          <a:lstStyle/>
          <a:p>
            <a:pPr algn="l"/>
            <a:r>
              <a:rPr sz="1150" b="0">
                <a:solidFill>
                  <a:srgbClr val="1F1612"/>
                </a:solidFill>
              </a:rPr>
              <a:t>Live two-sided marketplace at workitsa.co.za + a WhatsApp Job Channel built this weekend. Real jobs, verified workers, working today.</a:t>
            </a:r>
          </a:p>
        </p:txBody>
      </p:sp>
      <p:sp>
        <p:nvSpPr>
          <p:cNvPr id="8" name="Rounded Rectangle 7"/>
          <p:cNvSpPr/>
          <p:nvPr/>
        </p:nvSpPr>
        <p:spPr>
          <a:xfrm>
            <a:off x="548640" y="2423160"/>
            <a:ext cx="2148840" cy="512064"/>
          </a:xfrm>
          <a:prstGeom prst="roundRect">
            <a:avLst/>
          </a:prstGeom>
          <a:solidFill>
            <a:srgbClr val="D97742"/>
          </a:solidFill>
          <a:ln>
            <a:noFill/>
          </a:ln>
        </p:spPr>
        <p:style>
          <a:lnRef idx="1">
            <a:schemeClr val="accent1"/>
          </a:lnRef>
          <a:fillRef idx="3">
            <a:schemeClr val="accent1"/>
          </a:fillRef>
          <a:effectRef idx="2">
            <a:schemeClr val="accent1"/>
          </a:effectRef>
          <a:fontRef idx="minor">
            <a:schemeClr val="lt1"/>
          </a:fontRef>
        </p:style>
        <p:txBody>
          <a:bodyPr rtlCol="0" anchor="ctr" tIns="18288" bIns="18288"/>
          <a:lstStyle/>
          <a:p>
            <a:pPr algn="ctr"/>
            <a:r>
              <a:rPr sz="1300" b="1">
                <a:solidFill>
                  <a:srgbClr val="FAF4EC"/>
                </a:solidFill>
              </a:rPr>
              <a:t>Creativity</a:t>
            </a:r>
          </a:p>
        </p:txBody>
      </p:sp>
      <p:sp>
        <p:nvSpPr>
          <p:cNvPr id="9" name="TextBox 8"/>
          <p:cNvSpPr txBox="1"/>
          <p:nvPr/>
        </p:nvSpPr>
        <p:spPr>
          <a:xfrm>
            <a:off x="2880360" y="2404872"/>
            <a:ext cx="8778240" cy="548640"/>
          </a:xfrm>
          <a:prstGeom prst="rect">
            <a:avLst/>
          </a:prstGeom>
          <a:noFill/>
        </p:spPr>
        <p:txBody>
          <a:bodyPr wrap="square" anchor="ctr">
            <a:spAutoFit/>
          </a:bodyPr>
          <a:lstStyle/>
          <a:p>
            <a:pPr algn="l"/>
            <a:r>
              <a:rPr sz="1150" b="0">
                <a:solidFill>
                  <a:srgbClr val="1F1612"/>
                </a:solidFill>
              </a:rPr>
              <a:t>App-less onboarding: register, get matched and get hired entirely inside WhatsApp — no app, no data. A path almost no marketplace offers.</a:t>
            </a:r>
          </a:p>
        </p:txBody>
      </p:sp>
      <p:sp>
        <p:nvSpPr>
          <p:cNvPr id="10" name="Rounded Rectangle 9"/>
          <p:cNvSpPr/>
          <p:nvPr/>
        </p:nvSpPr>
        <p:spPr>
          <a:xfrm>
            <a:off x="548640" y="3063239"/>
            <a:ext cx="2148840" cy="512064"/>
          </a:xfrm>
          <a:prstGeom prst="roundRect">
            <a:avLst/>
          </a:prstGeom>
          <a:solidFill>
            <a:srgbClr val="D97742"/>
          </a:solidFill>
          <a:ln>
            <a:noFill/>
          </a:ln>
        </p:spPr>
        <p:style>
          <a:lnRef idx="1">
            <a:schemeClr val="accent1"/>
          </a:lnRef>
          <a:fillRef idx="3">
            <a:schemeClr val="accent1"/>
          </a:fillRef>
          <a:effectRef idx="2">
            <a:schemeClr val="accent1"/>
          </a:effectRef>
          <a:fontRef idx="minor">
            <a:schemeClr val="lt1"/>
          </a:fontRef>
        </p:style>
        <p:txBody>
          <a:bodyPr rtlCol="0" anchor="ctr" tIns="18288" bIns="18288"/>
          <a:lstStyle/>
          <a:p>
            <a:pPr algn="ctr"/>
            <a:r>
              <a:rPr sz="1300" b="1">
                <a:solidFill>
                  <a:srgbClr val="FAF4EC"/>
                </a:solidFill>
              </a:rPr>
              <a:t>Usability</a:t>
            </a:r>
          </a:p>
        </p:txBody>
      </p:sp>
      <p:sp>
        <p:nvSpPr>
          <p:cNvPr id="11" name="TextBox 10"/>
          <p:cNvSpPr txBox="1"/>
          <p:nvPr/>
        </p:nvSpPr>
        <p:spPr>
          <a:xfrm>
            <a:off x="2880360" y="3044951"/>
            <a:ext cx="8778240" cy="548640"/>
          </a:xfrm>
          <a:prstGeom prst="rect">
            <a:avLst/>
          </a:prstGeom>
          <a:noFill/>
        </p:spPr>
        <p:txBody>
          <a:bodyPr wrap="square" anchor="ctr">
            <a:spAutoFit/>
          </a:bodyPr>
          <a:lstStyle/>
          <a:p>
            <a:pPr algn="l"/>
            <a:r>
              <a:rPr sz="1150" b="0">
                <a:solidFill>
                  <a:srgbClr val="1F1612"/>
                </a:solidFill>
              </a:rPr>
              <a:t>Low-data PWA for low-end Android, in en / af / zu, plus a zero-install WhatsApp route for anyone with just a chat.</a:t>
            </a:r>
          </a:p>
        </p:txBody>
      </p:sp>
      <p:sp>
        <p:nvSpPr>
          <p:cNvPr id="12" name="Rounded Rectangle 11"/>
          <p:cNvSpPr/>
          <p:nvPr/>
        </p:nvSpPr>
        <p:spPr>
          <a:xfrm>
            <a:off x="548640" y="3703320"/>
            <a:ext cx="2148840" cy="512064"/>
          </a:xfrm>
          <a:prstGeom prst="roundRect">
            <a:avLst/>
          </a:prstGeom>
          <a:solidFill>
            <a:srgbClr val="D97742"/>
          </a:solidFill>
          <a:ln>
            <a:noFill/>
          </a:ln>
        </p:spPr>
        <p:style>
          <a:lnRef idx="1">
            <a:schemeClr val="accent1"/>
          </a:lnRef>
          <a:fillRef idx="3">
            <a:schemeClr val="accent1"/>
          </a:fillRef>
          <a:effectRef idx="2">
            <a:schemeClr val="accent1"/>
          </a:effectRef>
          <a:fontRef idx="minor">
            <a:schemeClr val="lt1"/>
          </a:fontRef>
        </p:style>
        <p:txBody>
          <a:bodyPr rtlCol="0" anchor="ctr" tIns="18288" bIns="18288"/>
          <a:lstStyle/>
          <a:p>
            <a:pPr algn="ctr"/>
            <a:r>
              <a:rPr sz="1300" b="1">
                <a:solidFill>
                  <a:srgbClr val="FAF4EC"/>
                </a:solidFill>
              </a:rPr>
              <a:t>Sustainability</a:t>
            </a:r>
          </a:p>
        </p:txBody>
      </p:sp>
      <p:sp>
        <p:nvSpPr>
          <p:cNvPr id="13" name="TextBox 12"/>
          <p:cNvSpPr txBox="1"/>
          <p:nvPr/>
        </p:nvSpPr>
        <p:spPr>
          <a:xfrm>
            <a:off x="2880360" y="3685032"/>
            <a:ext cx="8778240" cy="548640"/>
          </a:xfrm>
          <a:prstGeom prst="rect">
            <a:avLst/>
          </a:prstGeom>
          <a:noFill/>
        </p:spPr>
        <p:txBody>
          <a:bodyPr wrap="square" anchor="ctr">
            <a:spAutoFit/>
          </a:bodyPr>
          <a:lstStyle/>
          <a:p>
            <a:pPr algn="l"/>
            <a:r>
              <a:rPr sz="1150" b="0">
                <a:solidFill>
                  <a:srgbClr val="1F1612"/>
                </a:solidFill>
              </a:rPr>
              <a:t>8% poster fee · R49 Gold verification · R20 boosted posts · R199/mo business plan. Running cost ≈ R14,100/mo; scales with completed jobs.</a:t>
            </a:r>
          </a:p>
        </p:txBody>
      </p:sp>
      <p:sp>
        <p:nvSpPr>
          <p:cNvPr id="14" name="Rounded Rectangle 13"/>
          <p:cNvSpPr/>
          <p:nvPr/>
        </p:nvSpPr>
        <p:spPr>
          <a:xfrm>
            <a:off x="548640" y="4343400"/>
            <a:ext cx="2148840" cy="512064"/>
          </a:xfrm>
          <a:prstGeom prst="roundRect">
            <a:avLst/>
          </a:prstGeom>
          <a:solidFill>
            <a:srgbClr val="D97742"/>
          </a:solidFill>
          <a:ln>
            <a:noFill/>
          </a:ln>
        </p:spPr>
        <p:style>
          <a:lnRef idx="1">
            <a:schemeClr val="accent1"/>
          </a:lnRef>
          <a:fillRef idx="3">
            <a:schemeClr val="accent1"/>
          </a:fillRef>
          <a:effectRef idx="2">
            <a:schemeClr val="accent1"/>
          </a:effectRef>
          <a:fontRef idx="minor">
            <a:schemeClr val="lt1"/>
          </a:fontRef>
        </p:style>
        <p:txBody>
          <a:bodyPr rtlCol="0" anchor="ctr" tIns="18288" bIns="18288"/>
          <a:lstStyle/>
          <a:p>
            <a:pPr algn="ctr"/>
            <a:r>
              <a:rPr sz="1300" b="1">
                <a:solidFill>
                  <a:srgbClr val="FAF4EC"/>
                </a:solidFill>
              </a:rPr>
              <a:t>Impact</a:t>
            </a:r>
          </a:p>
        </p:txBody>
      </p:sp>
      <p:sp>
        <p:nvSpPr>
          <p:cNvPr id="15" name="TextBox 14"/>
          <p:cNvSpPr txBox="1"/>
          <p:nvPr/>
        </p:nvSpPr>
        <p:spPr>
          <a:xfrm>
            <a:off x="2880360" y="4325112"/>
            <a:ext cx="8778240" cy="548640"/>
          </a:xfrm>
          <a:prstGeom prst="rect">
            <a:avLst/>
          </a:prstGeom>
          <a:noFill/>
        </p:spPr>
        <p:txBody>
          <a:bodyPr wrap="square" anchor="ctr">
            <a:spAutoFit/>
          </a:bodyPr>
          <a:lstStyle/>
          <a:p>
            <a:pPr algn="l"/>
            <a:r>
              <a:rPr sz="1150" b="0">
                <a:solidFill>
                  <a:srgbClr val="1F1612"/>
                </a:solidFill>
              </a:rPr>
              <a:t>A direct bridge to youth income: 140+ users, 110+ workers, 25+ ID-verified in Gauteng. 12-month target: 3,000 verified workers.</a:t>
            </a:r>
          </a:p>
        </p:txBody>
      </p:sp>
      <p:sp>
        <p:nvSpPr>
          <p:cNvPr id="16" name="Rounded Rectangle 15"/>
          <p:cNvSpPr/>
          <p:nvPr/>
        </p:nvSpPr>
        <p:spPr>
          <a:xfrm>
            <a:off x="548640" y="4983480"/>
            <a:ext cx="2148840" cy="512064"/>
          </a:xfrm>
          <a:prstGeom prst="roundRect">
            <a:avLst/>
          </a:prstGeom>
          <a:solidFill>
            <a:srgbClr val="D97742"/>
          </a:solidFill>
          <a:ln>
            <a:noFill/>
          </a:ln>
        </p:spPr>
        <p:style>
          <a:lnRef idx="1">
            <a:schemeClr val="accent1"/>
          </a:lnRef>
          <a:fillRef idx="3">
            <a:schemeClr val="accent1"/>
          </a:fillRef>
          <a:effectRef idx="2">
            <a:schemeClr val="accent1"/>
          </a:effectRef>
          <a:fontRef idx="minor">
            <a:schemeClr val="lt1"/>
          </a:fontRef>
        </p:style>
        <p:txBody>
          <a:bodyPr rtlCol="0" anchor="ctr" tIns="18288" bIns="18288"/>
          <a:lstStyle/>
          <a:p>
            <a:pPr algn="ctr"/>
            <a:r>
              <a:rPr sz="1300" b="1">
                <a:solidFill>
                  <a:srgbClr val="FAF4EC"/>
                </a:solidFill>
              </a:rPr>
              <a:t>Presentation</a:t>
            </a:r>
          </a:p>
        </p:txBody>
      </p:sp>
      <p:sp>
        <p:nvSpPr>
          <p:cNvPr id="17" name="TextBox 16"/>
          <p:cNvSpPr txBox="1"/>
          <p:nvPr/>
        </p:nvSpPr>
        <p:spPr>
          <a:xfrm>
            <a:off x="2880360" y="4965192"/>
            <a:ext cx="8778240" cy="548640"/>
          </a:xfrm>
          <a:prstGeom prst="rect">
            <a:avLst/>
          </a:prstGeom>
          <a:noFill/>
        </p:spPr>
        <p:txBody>
          <a:bodyPr wrap="square" anchor="ctr">
            <a:spAutoFit/>
          </a:bodyPr>
          <a:lstStyle/>
          <a:p>
            <a:pPr algn="l"/>
            <a:r>
              <a:rPr sz="1150" b="0">
                <a:solidFill>
                  <a:srgbClr val="1F1612"/>
                </a:solidFill>
              </a:rPr>
              <a:t>Live app + two judge logins + demo video, and this deck maps straight to your scorecard.</a:t>
            </a:r>
          </a:p>
        </p:txBody>
      </p:sp>
      <p:sp>
        <p:nvSpPr>
          <p:cNvPr id="18" name="Rounded Rectangle 17"/>
          <p:cNvSpPr/>
          <p:nvPr/>
        </p:nvSpPr>
        <p:spPr>
          <a:xfrm>
            <a:off x="548640" y="5623560"/>
            <a:ext cx="2148840" cy="512064"/>
          </a:xfrm>
          <a:prstGeom prst="roundRect">
            <a:avLst/>
          </a:prstGeom>
          <a:solidFill>
            <a:srgbClr val="D97742"/>
          </a:solidFill>
          <a:ln>
            <a:noFill/>
          </a:ln>
        </p:spPr>
        <p:style>
          <a:lnRef idx="1">
            <a:schemeClr val="accent1"/>
          </a:lnRef>
          <a:fillRef idx="3">
            <a:schemeClr val="accent1"/>
          </a:fillRef>
          <a:effectRef idx="2">
            <a:schemeClr val="accent1"/>
          </a:effectRef>
          <a:fontRef idx="minor">
            <a:schemeClr val="lt1"/>
          </a:fontRef>
        </p:style>
        <p:txBody>
          <a:bodyPr rtlCol="0" anchor="ctr" tIns="18288" bIns="18288"/>
          <a:lstStyle/>
          <a:p>
            <a:pPr algn="ctr"/>
            <a:r>
              <a:rPr sz="1300" b="1">
                <a:solidFill>
                  <a:srgbClr val="FAF4EC"/>
                </a:solidFill>
              </a:rPr>
              <a:t>Intelligence</a:t>
            </a:r>
          </a:p>
        </p:txBody>
      </p:sp>
      <p:sp>
        <p:nvSpPr>
          <p:cNvPr id="19" name="TextBox 18"/>
          <p:cNvSpPr txBox="1"/>
          <p:nvPr/>
        </p:nvSpPr>
        <p:spPr>
          <a:xfrm>
            <a:off x="2880360" y="5605272"/>
            <a:ext cx="8778240" cy="548640"/>
          </a:xfrm>
          <a:prstGeom prst="rect">
            <a:avLst/>
          </a:prstGeom>
          <a:noFill/>
        </p:spPr>
        <p:txBody>
          <a:bodyPr wrap="square" anchor="ctr">
            <a:spAutoFit/>
          </a:bodyPr>
          <a:lstStyle/>
          <a:p>
            <a:pPr algn="l"/>
            <a:r>
              <a:rPr sz="1150" b="0">
                <a:solidFill>
                  <a:srgbClr val="1F1612"/>
                </a:solidFill>
              </a:rPr>
              <a:t>Jarvis — a Gemini co-pilot: morning digest, dispute &amp; anomaly alerts, ask-anything over live data, reachable on WhatsApp.</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1612"/>
          </a:solidFill>
          <a:ln>
            <a:noFill/>
          </a:ln>
        </p:spPr>
        <p:txBody>
          <a:bodyPr/>
          <a:lstStyle/>
          <a:p>
            <a:endParaRPr/>
          </a:p>
        </p:txBody>
      </p:sp>
      <p:sp>
        <p:nvSpPr>
          <p:cNvPr id="3" name="Rectangle 2"/>
          <p:cNvSpPr/>
          <p:nvPr/>
        </p:nvSpPr>
        <p:spPr>
          <a:xfrm>
            <a:off x="0" y="0"/>
            <a:ext cx="320040" cy="6858000"/>
          </a:xfrm>
          <a:prstGeom prst="rect">
            <a:avLst/>
          </a:prstGeom>
          <a:solidFill>
            <a:srgbClr val="D97742"/>
          </a:solidFill>
          <a:ln>
            <a:noFill/>
          </a:ln>
        </p:spPr>
        <p:txBody>
          <a:bodyPr/>
          <a:lstStyle/>
          <a:p>
            <a:endParaRPr/>
          </a:p>
        </p:txBody>
      </p:sp>
      <p:sp>
        <p:nvSpPr>
          <p:cNvPr id="4" name="Eyebrow"/>
          <p:cNvSpPr txBox="1"/>
          <p:nvPr/>
        </p:nvSpPr>
        <p:spPr>
          <a:xfrm>
            <a:off x="548640" y="274320"/>
            <a:ext cx="11000000" cy="320040"/>
          </a:xfrm>
          <a:prstGeom prst="rect">
            <a:avLst/>
          </a:prstGeom>
          <a:noFill/>
        </p:spPr>
        <p:txBody>
          <a:bodyPr wrap="square" anchor="t">
            <a:spAutoFit/>
          </a:bodyPr>
          <a:lstStyle/>
          <a:p>
            <a:pPr algn="l"/>
            <a:r>
              <a:rPr sz="1500" b="1">
                <a:solidFill>
                  <a:srgbClr val="D97742"/>
                </a:solidFill>
                <a:latin typeface="Calibri"/>
              </a:rPr>
              <a:t>THE WHATSAPP JOURNEY</a:t>
            </a:r>
          </a:p>
        </p:txBody>
      </p:sp>
      <p:sp>
        <p:nvSpPr>
          <p:cNvPr id="5" name="Title"/>
          <p:cNvSpPr txBox="1"/>
          <p:nvPr/>
        </p:nvSpPr>
        <p:spPr>
          <a:xfrm>
            <a:off x="548640" y="594360"/>
            <a:ext cx="11000000" cy="548640"/>
          </a:xfrm>
          <a:prstGeom prst="rect">
            <a:avLst/>
          </a:prstGeom>
          <a:noFill/>
        </p:spPr>
        <p:txBody>
          <a:bodyPr wrap="square" anchor="t">
            <a:spAutoFit/>
          </a:bodyPr>
          <a:lstStyle/>
          <a:p>
            <a:pPr algn="l"/>
            <a:r>
              <a:rPr sz="2400" b="1">
                <a:solidFill>
                  <a:srgbClr val="FAF4EC"/>
                </a:solidFill>
                <a:latin typeface="Calibri"/>
              </a:rPr>
              <a:t>From HI to hired — the complete flow, tested live.</a:t>
            </a:r>
          </a:p>
        </p:txBody>
      </p:sp>
      <p:pic>
        <p:nvPicPr>
          <p:cNvPr id="10" name="Screenshot 1" descr="WhatsApp onboarding: Hi, full name, area, categories"/>
          <p:cNvPicPr>
            <a:picLocks noChangeAspect="1"/>
          </p:cNvPicPr>
          <p:nvPr/>
        </p:nvPicPr>
        <p:blipFill>
          <a:blip r:embed="rId3"/>
          <a:stretch>
            <a:fillRect/>
          </a:stretch>
        </p:blipFill>
        <p:spPr>
          <a:xfrm>
            <a:off x="457200" y="1554480"/>
            <a:ext cx="1783080" cy="3886200"/>
          </a:xfrm>
          <a:prstGeom prst="roundRect">
            <a:avLst>
              <a:gd name="adj" fmla="val 5000"/>
            </a:avLst>
          </a:prstGeom>
          <a:ln w="12700">
            <a:solidFill>
              <a:srgbClr val="C9BCAF"/>
            </a:solidFill>
          </a:ln>
        </p:spPr>
      </p:pic>
      <p:sp>
        <p:nvSpPr>
          <p:cNvPr id="20" name="Label 1"/>
          <p:cNvSpPr txBox="1"/>
          <p:nvPr/>
        </p:nvSpPr>
        <p:spPr>
          <a:xfrm>
            <a:off x="457200" y="1234440"/>
            <a:ext cx="1783080" cy="320040"/>
          </a:xfrm>
          <a:prstGeom prst="rect">
            <a:avLst/>
          </a:prstGeom>
          <a:noFill/>
        </p:spPr>
        <p:txBody>
          <a:bodyPr wrap="square">
            <a:spAutoFit/>
          </a:bodyPr>
          <a:lstStyle/>
          <a:p>
            <a:pPr algn="ctr"/>
            <a:r>
              <a:rPr sz="1050" b="1">
                <a:solidFill>
                  <a:srgbClr val="D97742"/>
                </a:solidFill>
                <a:latin typeface="Calibri"/>
              </a:rPr>
              <a:t>1</a:t>
            </a:r>
            <a:r>
              <a:rPr sz="1050" b="0">
                <a:solidFill>
                  <a:srgbClr val="D8CFC4"/>
                </a:solidFill>
                <a:latin typeface="Calibri"/>
              </a:rPr>
              <a:t>  Sign up</a:t>
            </a:r>
          </a:p>
        </p:txBody>
      </p:sp>
      <p:pic>
        <p:nvPicPr>
          <p:cNvPr id="11" name="Screenshot 2" descr="WhatsApp categories, consent, registration"/>
          <p:cNvPicPr>
            <a:picLocks noChangeAspect="1"/>
          </p:cNvPicPr>
          <p:nvPr/>
        </p:nvPicPr>
        <p:blipFill>
          <a:blip r:embed="rId4"/>
          <a:stretch>
            <a:fillRect/>
          </a:stretch>
        </p:blipFill>
        <p:spPr>
          <a:xfrm>
            <a:off x="2560320" y="1554480"/>
            <a:ext cx="1783080" cy="3886200"/>
          </a:xfrm>
          <a:prstGeom prst="roundRect">
            <a:avLst>
              <a:gd name="adj" fmla="val 5000"/>
            </a:avLst>
          </a:prstGeom>
          <a:ln w="12700">
            <a:solidFill>
              <a:srgbClr val="C9BCAF"/>
            </a:solidFill>
          </a:ln>
        </p:spPr>
      </p:pic>
      <p:sp>
        <p:nvSpPr>
          <p:cNvPr id="21" name="Label 2"/>
          <p:cNvSpPr txBox="1"/>
          <p:nvPr/>
        </p:nvSpPr>
        <p:spPr>
          <a:xfrm>
            <a:off x="2560320" y="1234440"/>
            <a:ext cx="1783080" cy="320040"/>
          </a:xfrm>
          <a:prstGeom prst="rect">
            <a:avLst/>
          </a:prstGeom>
          <a:noFill/>
        </p:spPr>
        <p:txBody>
          <a:bodyPr wrap="square">
            <a:spAutoFit/>
          </a:bodyPr>
          <a:lstStyle/>
          <a:p>
            <a:pPr algn="ctr"/>
            <a:r>
              <a:rPr sz="1050" b="1">
                <a:solidFill>
                  <a:srgbClr val="D97742"/>
                </a:solidFill>
                <a:latin typeface="Calibri"/>
              </a:rPr>
              <a:t>2</a:t>
            </a:r>
            <a:r>
              <a:rPr sz="1050" b="0">
                <a:solidFill>
                  <a:srgbClr val="D8CFC4"/>
                </a:solidFill>
                <a:latin typeface="Calibri"/>
              </a:rPr>
              <a:t>  Choose skills</a:t>
            </a:r>
          </a:p>
        </p:txBody>
      </p:sp>
      <p:pic>
        <p:nvPicPr>
          <p:cNvPr id="12" name="Screenshot 3" descr="WhatsApp registration confirmation, magic link, approval"/>
          <p:cNvPicPr>
            <a:picLocks noChangeAspect="1"/>
          </p:cNvPicPr>
          <p:nvPr/>
        </p:nvPicPr>
        <p:blipFill>
          <a:blip r:embed="rId5"/>
          <a:stretch>
            <a:fillRect/>
          </a:stretch>
        </p:blipFill>
        <p:spPr>
          <a:xfrm>
            <a:off x="4663440" y="1554480"/>
            <a:ext cx="1783080" cy="3886200"/>
          </a:xfrm>
          <a:prstGeom prst="roundRect">
            <a:avLst>
              <a:gd name="adj" fmla="val 5000"/>
            </a:avLst>
          </a:prstGeom>
          <a:ln w="12700">
            <a:solidFill>
              <a:srgbClr val="C9BCAF"/>
            </a:solidFill>
          </a:ln>
        </p:spPr>
      </p:pic>
      <p:sp>
        <p:nvSpPr>
          <p:cNvPr id="22" name="Label 3"/>
          <p:cNvSpPr txBox="1"/>
          <p:nvPr/>
        </p:nvSpPr>
        <p:spPr>
          <a:xfrm>
            <a:off x="4663440" y="1234440"/>
            <a:ext cx="1783080" cy="320040"/>
          </a:xfrm>
          <a:prstGeom prst="rect">
            <a:avLst/>
          </a:prstGeom>
          <a:noFill/>
        </p:spPr>
        <p:txBody>
          <a:bodyPr wrap="square">
            <a:spAutoFit/>
          </a:bodyPr>
          <a:lstStyle/>
          <a:p>
            <a:pPr algn="ctr"/>
            <a:r>
              <a:rPr sz="1050" b="1">
                <a:solidFill>
                  <a:srgbClr val="D97742"/>
                </a:solidFill>
                <a:latin typeface="Calibri"/>
              </a:rPr>
              <a:t>3</a:t>
            </a:r>
            <a:r>
              <a:rPr sz="1050" b="0">
                <a:solidFill>
                  <a:srgbClr val="D8CFC4"/>
                </a:solidFill>
                <a:latin typeface="Calibri"/>
              </a:rPr>
              <a:t>  Verify &amp; approve</a:t>
            </a:r>
          </a:p>
        </p:txBody>
      </p:sp>
      <p:pic>
        <p:nvPicPr>
          <p:cNvPr id="13" name="Screenshot 4" descr="WhatsApp approval notification, instruction manual, AVAILABLE, JOBS"/>
          <p:cNvPicPr>
            <a:picLocks noChangeAspect="1"/>
          </p:cNvPicPr>
          <p:nvPr/>
        </p:nvPicPr>
        <p:blipFill>
          <a:blip r:embed="rId6"/>
          <a:stretch>
            <a:fillRect/>
          </a:stretch>
        </p:blipFill>
        <p:spPr>
          <a:xfrm>
            <a:off x="6766560" y="1554480"/>
            <a:ext cx="1783080" cy="3886200"/>
          </a:xfrm>
          <a:prstGeom prst="roundRect">
            <a:avLst>
              <a:gd name="adj" fmla="val 5000"/>
            </a:avLst>
          </a:prstGeom>
          <a:ln w="12700">
            <a:solidFill>
              <a:srgbClr val="C9BCAF"/>
            </a:solidFill>
          </a:ln>
        </p:spPr>
      </p:pic>
      <p:sp>
        <p:nvSpPr>
          <p:cNvPr id="23" name="Label 4"/>
          <p:cNvSpPr txBox="1"/>
          <p:nvPr/>
        </p:nvSpPr>
        <p:spPr>
          <a:xfrm>
            <a:off x="6766560" y="1234440"/>
            <a:ext cx="1783080" cy="320040"/>
          </a:xfrm>
          <a:prstGeom prst="rect">
            <a:avLst/>
          </a:prstGeom>
          <a:noFill/>
        </p:spPr>
        <p:txBody>
          <a:bodyPr wrap="square">
            <a:spAutoFit/>
          </a:bodyPr>
          <a:lstStyle/>
          <a:p>
            <a:pPr algn="ctr"/>
            <a:r>
              <a:rPr sz="1050" b="1">
                <a:solidFill>
                  <a:srgbClr val="D97742"/>
                </a:solidFill>
                <a:latin typeface="Calibri"/>
              </a:rPr>
              <a:t>4</a:t>
            </a:r>
            <a:r>
              <a:rPr sz="1050" b="0">
                <a:solidFill>
                  <a:srgbClr val="D8CFC4"/>
                </a:solidFill>
                <a:latin typeface="Calibri"/>
              </a:rPr>
              <a:t>  Browse jobs</a:t>
            </a:r>
          </a:p>
        </p:txBody>
      </p:sp>
      <p:pic>
        <p:nvPicPr>
          <p:cNvPr id="14" name="Screenshot 5" descr="WhatsApp JOBS list, counter-offer R1300, offer sent"/>
          <p:cNvPicPr>
            <a:picLocks noChangeAspect="1"/>
          </p:cNvPicPr>
          <p:nvPr/>
        </p:nvPicPr>
        <p:blipFill>
          <a:blip r:embed="rId7"/>
          <a:stretch>
            <a:fillRect/>
          </a:stretch>
        </p:blipFill>
        <p:spPr>
          <a:xfrm>
            <a:off x="8869680" y="1554480"/>
            <a:ext cx="1783080" cy="3886200"/>
          </a:xfrm>
          <a:prstGeom prst="roundRect">
            <a:avLst>
              <a:gd name="adj" fmla="val 5000"/>
            </a:avLst>
          </a:prstGeom>
          <a:ln w="12700">
            <a:solidFill>
              <a:srgbClr val="C9BCAF"/>
            </a:solidFill>
          </a:ln>
        </p:spPr>
      </p:pic>
      <p:sp>
        <p:nvSpPr>
          <p:cNvPr id="24" name="Label 5"/>
          <p:cNvSpPr txBox="1"/>
          <p:nvPr/>
        </p:nvSpPr>
        <p:spPr>
          <a:xfrm>
            <a:off x="8869680" y="1234440"/>
            <a:ext cx="1783080" cy="320040"/>
          </a:xfrm>
          <a:prstGeom prst="rect">
            <a:avLst/>
          </a:prstGeom>
          <a:noFill/>
        </p:spPr>
        <p:txBody>
          <a:bodyPr wrap="square">
            <a:spAutoFit/>
          </a:bodyPr>
          <a:lstStyle/>
          <a:p>
            <a:pPr algn="ctr"/>
            <a:r>
              <a:rPr sz="1050" b="1">
                <a:solidFill>
                  <a:srgbClr val="D97742"/>
                </a:solidFill>
                <a:latin typeface="Calibri"/>
              </a:rPr>
              <a:t>5</a:t>
            </a:r>
            <a:r>
              <a:rPr sz="1050" b="0">
                <a:solidFill>
                  <a:srgbClr val="D8CFC4"/>
                </a:solidFill>
                <a:latin typeface="Calibri"/>
              </a:rPr>
              <a:t>  Apply &amp; offer</a:t>
            </a:r>
          </a:p>
        </p:txBody>
      </p:sp>
      <p:sp>
        <p:nvSpPr>
          <p:cNvPr id="30" name="Footer"/>
          <p:cNvSpPr txBox="1"/>
          <p:nvPr/>
        </p:nvSpPr>
        <p:spPr>
          <a:xfrm>
            <a:off x="548640" y="5669280"/>
            <a:ext cx="11000000" cy="914400"/>
          </a:xfrm>
          <a:prstGeom prst="rect">
            <a:avLst/>
          </a:prstGeom>
          <a:noFill/>
        </p:spPr>
        <p:txBody>
          <a:bodyPr wrap="square" anchor="t">
            <a:spAutoFit/>
          </a:bodyPr>
          <a:lstStyle/>
          <a:p>
            <a:pPr algn="l"/>
            <a:r>
              <a:rPr sz="1200" b="0">
                <a:solidFill>
                  <a:srgbClr val="D8CFC4"/>
                </a:solidFill>
                <a:latin typeface="Calibri"/>
              </a:rPr>
              <a:t>Real screenshots from a live test — Simphiwe registered, got approved, browsed jobs, and counter-offered R1 300 on a waitering gig — all inside WhatsApp, no app installed.</a:t>
            </a:r>
          </a:p>
          <a:p>
            <a:pPr algn="l"/>
            <a:r>
              <a:rPr sz="1200" b="1">
                <a:solidFill>
                  <a:srgbClr val="D97742"/>
                </a:solidFill>
                <a:latin typeface="Calibri"/>
              </a:rPr>
              <a:t>Try it yourself:  text HI to +27 74 320 7131 on WhatsApp</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1F1612"/>
          </a:solidFill>
          <a:ln>
            <a:noFill/>
          </a:ln>
        </p:spPr>
        <p:txBody>
          <a:bodyPr/>
          <a:lstStyle/>
          <a:p>
            <a:endParaRPr/>
          </a:p>
        </p:txBody>
      </p:sp>
      <p:sp>
        <p:nvSpPr>
          <p:cNvPr id="3" name="Accent"/>
          <p:cNvSpPr/>
          <p:nvPr/>
        </p:nvSpPr>
        <p:spPr>
          <a:xfrm>
            <a:off x="0" y="0"/>
            <a:ext cx="320040" cy="6858000"/>
          </a:xfrm>
          <a:prstGeom prst="rect">
            <a:avLst/>
          </a:prstGeom>
          <a:solidFill>
            <a:srgbClr val="D97742"/>
          </a:solidFill>
          <a:ln>
            <a:noFill/>
          </a:ln>
        </p:spPr>
        <p:txBody>
          <a:bodyPr/>
          <a:lstStyle/>
          <a:p>
            <a:endParaRPr/>
          </a:p>
        </p:txBody>
      </p:sp>
      <p:sp>
        <p:nvSpPr>
          <p:cNvPr id="4" name="Eyebrow"/>
          <p:cNvSpPr txBox="1"/>
          <p:nvPr/>
        </p:nvSpPr>
        <p:spPr>
          <a:xfrm>
            <a:off x="548640" y="274320"/>
            <a:ext cx="11000000" cy="320040"/>
          </a:xfrm>
          <a:prstGeom prst="rect">
            <a:avLst/>
          </a:prstGeom>
          <a:noFill/>
        </p:spPr>
        <p:txBody>
          <a:bodyPr wrap="square" anchor="t">
            <a:spAutoFit/>
          </a:bodyPr>
          <a:lstStyle/>
          <a:p>
            <a:pPr algn="l"/>
            <a:r>
              <a:rPr sz="1500" b="1">
                <a:solidFill>
                  <a:srgbClr val="D97742"/>
                </a:solidFill>
                <a:latin typeface="Calibri"/>
              </a:rPr>
              <a:t>PROTECTING PEOPLE &amp; DATA</a:t>
            </a:r>
          </a:p>
        </p:txBody>
      </p:sp>
      <p:sp>
        <p:nvSpPr>
          <p:cNvPr id="5" name="Title"/>
          <p:cNvSpPr txBox="1"/>
          <p:nvPr/>
        </p:nvSpPr>
        <p:spPr>
          <a:xfrm>
            <a:off x="548640" y="594360"/>
            <a:ext cx="11000000" cy="548640"/>
          </a:xfrm>
          <a:prstGeom prst="rect">
            <a:avLst/>
          </a:prstGeom>
          <a:noFill/>
        </p:spPr>
        <p:txBody>
          <a:bodyPr wrap="square" anchor="t">
            <a:spAutoFit/>
          </a:bodyPr>
          <a:lstStyle/>
          <a:p>
            <a:pPr algn="l"/>
            <a:r>
              <a:rPr sz="2600" b="1">
                <a:solidFill>
                  <a:srgbClr val="FAF4EC"/>
                </a:solidFill>
                <a:latin typeface="Calibri"/>
              </a:rPr>
              <a:t>Verification, safety, disputes &amp; data privacy.</a:t>
            </a:r>
          </a:p>
        </p:txBody>
      </p:sp>
      <p:sp>
        <p:nvSpPr>
          <p:cNvPr id="6" name="Col1"/>
          <p:cNvSpPr txBox="1"/>
          <p:nvPr/>
        </p:nvSpPr>
        <p:spPr>
          <a:xfrm>
            <a:off x="548640" y="1371600"/>
            <a:ext cx="5486400" cy="5120640"/>
          </a:xfrm>
          <a:prstGeom prst="rect">
            <a:avLst/>
          </a:prstGeom>
          <a:noFill/>
        </p:spPr>
        <p:txBody>
          <a:bodyPr wrap="square" anchor="t">
            <a:spAutoFit/>
          </a:bodyPr>
          <a:lstStyle/>
          <a:p>
            <a:pPr algn="l">
              <a:spcAft>
                <a:spcPts val="400"/>
              </a:spcAft>
            </a:pPr>
            <a:r>
              <a:rPr sz="1400" b="1">
                <a:solidFill>
                  <a:srgbClr val="D97742"/>
                </a:solidFill>
                <a:latin typeface="Calibri"/>
              </a:rPr>
              <a:t>Identity &amp; skills verification</a:t>
            </a:r>
          </a:p>
          <a:p>
            <a:pPr algn="l">
              <a:spcAft>
                <a:spcPts val="200"/>
              </a:spcAft>
            </a:pPr>
            <a:r>
              <a:rPr sz="1200" b="0">
                <a:solidFill>
                  <a:srgbClr val="D8CFC4"/>
                </a:solidFill>
                <a:latin typeface="Calibri"/>
              </a:rPr>
              <a:t>● SA ID number validated (Luhn + DOB cross-check)</a:t>
            </a:r>
          </a:p>
          <a:p>
            <a:pPr algn="l">
              <a:spcAft>
                <a:spcPts val="200"/>
              </a:spcAft>
            </a:pPr>
            <a:r>
              <a:rPr sz="1200" b="0">
                <a:solidFill>
                  <a:srgbClr val="D8CFC4"/>
                </a:solidFill>
                <a:latin typeface="Calibri"/>
              </a:rPr>
              <a:t>● ID photo + selfie video uploaded</a:t>
            </a:r>
          </a:p>
          <a:p>
            <a:pPr algn="l">
              <a:spcAft>
                <a:spcPts val="200"/>
              </a:spcAft>
            </a:pPr>
            <a:r>
              <a:rPr sz="1200" b="0">
                <a:solidFill>
                  <a:srgbClr val="D8CFC4"/>
                </a:solidFill>
                <a:latin typeface="Calibri"/>
              </a:rPr>
              <a:t>● Proof of address required</a:t>
            </a:r>
          </a:p>
          <a:p>
            <a:pPr algn="l">
              <a:spcAft>
                <a:spcPts val="200"/>
              </a:spcAft>
            </a:pPr>
            <a:r>
              <a:rPr sz="1200" b="0">
                <a:solidFill>
                  <a:srgbClr val="D8CFC4"/>
                </a:solidFill>
                <a:latin typeface="Calibri"/>
              </a:rPr>
              <a:t>● Police clearance earns a Gold verified badge</a:t>
            </a:r>
          </a:p>
          <a:p>
            <a:pPr algn="l">
              <a:spcAft>
                <a:spcPts val="200"/>
              </a:spcAft>
            </a:pPr>
            <a:r>
              <a:rPr sz="1200" b="0">
                <a:solidFill>
                  <a:srgbClr val="D8CFC4"/>
                </a:solidFill>
                <a:latin typeface="Calibri"/>
              </a:rPr>
              <a:t>● Admin reviews every submission manually</a:t>
            </a:r>
          </a:p>
          <a:p>
            <a:pPr algn="l">
              <a:spcAft>
                <a:spcPts val="200"/>
              </a:spcAft>
            </a:pPr>
            <a:r>
              <a:rPr sz="1200" b="0">
                <a:solidFill>
                  <a:srgbClr val="D8CFC4"/>
                </a:solidFill>
                <a:latin typeface="Calibri"/>
              </a:rPr>
              <a:t>● Duplicate-document &amp; ban-registry fraud checks</a:t>
            </a:r>
          </a:p>
          <a:p>
            <a:pPr algn="l">
              <a:spcAft>
                <a:spcPts val="200"/>
              </a:spcAft>
            </a:pPr>
            <a:r>
              <a:rPr sz="1200" b="0">
                <a:solidFill>
                  <a:srgbClr val="D8CFC4"/>
                </a:solidFill>
                <a:latin typeface="Calibri"/>
              </a:rPr>
              <a:t>● Both employers AND workers must verify</a:t>
            </a:r>
          </a:p>
          <a:p>
            <a:pPr algn="l">
              <a:spcAft>
                <a:spcPts val="800"/>
              </a:spcAft>
            </a:pPr>
            <a:endParaRPr sz="600">
              <a:solidFill>
                <a:srgbClr val="D8CFC4"/>
              </a:solidFill>
            </a:endParaRPr>
          </a:p>
          <a:p>
            <a:pPr algn="l">
              <a:spcAft>
                <a:spcPts val="400"/>
              </a:spcAft>
            </a:pPr>
            <a:r>
              <a:rPr sz="1400" b="1">
                <a:solidFill>
                  <a:srgbClr val="D97742"/>
                </a:solidFill>
                <a:latin typeface="Calibri"/>
              </a:rPr>
              <a:t>Customer &amp; worker safety</a:t>
            </a:r>
          </a:p>
          <a:p>
            <a:pPr algn="l">
              <a:spcAft>
                <a:spcPts val="200"/>
              </a:spcAft>
            </a:pPr>
            <a:r>
              <a:rPr sz="1200" b="0">
                <a:solidFill>
                  <a:srgbClr val="D8CFC4"/>
                </a:solidFill>
                <a:latin typeface="Calibri"/>
              </a:rPr>
              <a:t>● Doorstep start-code confirms the right worker</a:t>
            </a:r>
          </a:p>
          <a:p>
            <a:pPr algn="l">
              <a:spcAft>
                <a:spcPts val="200"/>
              </a:spcAft>
            </a:pPr>
            <a:r>
              <a:rPr sz="1200" b="0">
                <a:solidFill>
                  <a:srgbClr val="D8CFC4"/>
                </a:solidFill>
                <a:latin typeface="Calibri"/>
              </a:rPr>
              <a:t>● SOS button — one tap alerts our safety team with location</a:t>
            </a:r>
          </a:p>
          <a:p>
            <a:pPr algn="l">
              <a:spcAft>
                <a:spcPts val="200"/>
              </a:spcAft>
            </a:pPr>
            <a:r>
              <a:rPr sz="1200" b="0">
                <a:solidFill>
                  <a:srgbClr val="D8CFC4"/>
                </a:solidFill>
                <a:latin typeface="Calibri"/>
              </a:rPr>
              <a:t>● Two-way ratings after every job</a:t>
            </a:r>
          </a:p>
          <a:p>
            <a:pPr algn="l">
              <a:spcAft>
                <a:spcPts val="200"/>
              </a:spcAft>
            </a:pPr>
            <a:r>
              <a:rPr sz="1200" b="0">
                <a:solidFill>
                  <a:srgbClr val="D8CFC4"/>
                </a:solidFill>
                <a:latin typeface="Calibri"/>
              </a:rPr>
              <a:t>● Jarvis flags anomalies + disputes in real time</a:t>
            </a:r>
          </a:p>
        </p:txBody>
      </p:sp>
      <p:sp>
        <p:nvSpPr>
          <p:cNvPr id="7" name="Col2"/>
          <p:cNvSpPr txBox="1"/>
          <p:nvPr/>
        </p:nvSpPr>
        <p:spPr>
          <a:xfrm>
            <a:off x="6400800" y="1371600"/>
            <a:ext cx="5486400" cy="5120640"/>
          </a:xfrm>
          <a:prstGeom prst="rect">
            <a:avLst/>
          </a:prstGeom>
          <a:noFill/>
        </p:spPr>
        <p:txBody>
          <a:bodyPr wrap="square" anchor="t">
            <a:spAutoFit/>
          </a:bodyPr>
          <a:lstStyle/>
          <a:p>
            <a:pPr algn="l">
              <a:spcAft>
                <a:spcPts val="400"/>
              </a:spcAft>
            </a:pPr>
            <a:r>
              <a:rPr sz="1400" b="1">
                <a:solidFill>
                  <a:srgbClr val="D97742"/>
                </a:solidFill>
                <a:latin typeface="Calibri"/>
              </a:rPr>
              <a:t>Disputes, non-payment &amp; fraud</a:t>
            </a:r>
          </a:p>
          <a:p>
            <a:pPr algn="l">
              <a:spcAft>
                <a:spcPts val="200"/>
              </a:spcAft>
            </a:pPr>
            <a:r>
              <a:rPr sz="1200" b="0">
                <a:solidFill>
                  <a:srgbClr val="D8CFC4"/>
                </a:solidFill>
                <a:latin typeface="Calibri"/>
              </a:rPr>
              <a:t>● In-app dispute flow with admin mediation</a:t>
            </a:r>
          </a:p>
          <a:p>
            <a:pPr algn="l">
              <a:spcAft>
                <a:spcPts val="200"/>
              </a:spcAft>
            </a:pPr>
            <a:r>
              <a:rPr sz="1200" b="0">
                <a:solidFill>
                  <a:srgbClr val="D8CFC4"/>
                </a:solidFill>
                <a:latin typeface="Calibri"/>
              </a:rPr>
              <a:t>● Time-stamped proof-of-work photos for evidence</a:t>
            </a:r>
          </a:p>
          <a:p>
            <a:pPr algn="l">
              <a:spcAft>
                <a:spcPts val="200"/>
              </a:spcAft>
            </a:pPr>
            <a:r>
              <a:rPr sz="1200" b="0">
                <a:solidFill>
                  <a:srgbClr val="D8CFC4"/>
                </a:solidFill>
                <a:latin typeface="Calibri"/>
              </a:rPr>
              <a:t>● Job text auto-screened for scam patterns</a:t>
            </a:r>
          </a:p>
          <a:p>
            <a:pPr algn="l">
              <a:spcAft>
                <a:spcPts val="200"/>
              </a:spcAft>
            </a:pPr>
            <a:r>
              <a:rPr sz="1200" b="0">
                <a:solidFill>
                  <a:srgbClr val="D8CFC4"/>
                </a:solidFill>
                <a:latin typeface="Calibri"/>
              </a:rPr>
              <a:t>● Uploaded images moderated by Vision API</a:t>
            </a:r>
          </a:p>
          <a:p>
            <a:pPr algn="l">
              <a:spcAft>
                <a:spcPts val="200"/>
              </a:spcAft>
            </a:pPr>
            <a:r>
              <a:rPr sz="1200" b="0">
                <a:solidFill>
                  <a:srgbClr val="D8CFC4"/>
                </a:solidFill>
                <a:latin typeface="Calibri"/>
              </a:rPr>
              <a:t>● Rate limiting on job posts (anti-spam)</a:t>
            </a:r>
          </a:p>
          <a:p>
            <a:pPr algn="l">
              <a:spcAft>
                <a:spcPts val="200"/>
              </a:spcAft>
            </a:pPr>
            <a:r>
              <a:rPr sz="1200" b="0">
                <a:solidFill>
                  <a:srgbClr val="D8CFC4"/>
                </a:solidFill>
                <a:latin typeface="Calibri"/>
              </a:rPr>
              <a:t>● Accounts suspended instantly on report</a:t>
            </a:r>
          </a:p>
          <a:p>
            <a:pPr algn="l">
              <a:spcAft>
                <a:spcPts val="800"/>
              </a:spcAft>
            </a:pPr>
            <a:endParaRPr sz="600">
              <a:solidFill>
                <a:srgbClr val="D8CFC4"/>
              </a:solidFill>
            </a:endParaRPr>
          </a:p>
          <a:p>
            <a:pPr algn="l">
              <a:spcAft>
                <a:spcPts val="400"/>
              </a:spcAft>
            </a:pPr>
            <a:r>
              <a:rPr sz="1400" b="1">
                <a:solidFill>
                  <a:srgbClr val="D97742"/>
                </a:solidFill>
                <a:latin typeface="Calibri"/>
              </a:rPr>
              <a:t>Personal info &amp; location data</a:t>
            </a:r>
          </a:p>
          <a:p>
            <a:pPr algn="l">
              <a:spcAft>
                <a:spcPts val="200"/>
              </a:spcAft>
            </a:pPr>
            <a:r>
              <a:rPr sz="1200" b="0">
                <a:solidFill>
                  <a:srgbClr val="D8CFC4"/>
                </a:solidFill>
                <a:latin typeface="Calibri"/>
              </a:rPr>
              <a:t>● POPIA consent captured at signup + WhatsApp onboarding</a:t>
            </a:r>
          </a:p>
          <a:p>
            <a:pPr algn="l">
              <a:spcAft>
                <a:spcPts val="200"/>
              </a:spcAft>
            </a:pPr>
            <a:r>
              <a:rPr sz="1200" b="0">
                <a:solidFill>
                  <a:srgbClr val="D8CFC4"/>
                </a:solidFill>
                <a:latin typeface="Calibri"/>
              </a:rPr>
              <a:t>● ID docs in private subcollection (owner + admin only)</a:t>
            </a:r>
          </a:p>
          <a:p>
            <a:pPr algn="l">
              <a:spcAft>
                <a:spcPts val="200"/>
              </a:spcAft>
            </a:pPr>
            <a:r>
              <a:rPr sz="1200" b="0">
                <a:solidFill>
                  <a:srgbClr val="D8CFC4"/>
                </a:solidFill>
                <a:latin typeface="Calibri"/>
              </a:rPr>
              <a:t>● Worker location rounded to ~1 km (never exact)</a:t>
            </a:r>
          </a:p>
          <a:p>
            <a:pPr algn="l">
              <a:spcAft>
                <a:spcPts val="200"/>
              </a:spcAft>
            </a:pPr>
            <a:r>
              <a:rPr sz="1200" b="0">
                <a:solidFill>
                  <a:srgbClr val="D8CFC4"/>
                </a:solidFill>
                <a:latin typeface="Calibri"/>
              </a:rPr>
              <a:t>● Documented POPIA erasure runbook</a:t>
            </a:r>
          </a:p>
          <a:p>
            <a:pPr algn="l">
              <a:spcAft>
                <a:spcPts val="200"/>
              </a:spcAft>
            </a:pPr>
            <a:r>
              <a:rPr sz="1200" b="0">
                <a:solidFill>
                  <a:srgbClr val="D8CFC4"/>
                </a:solidFill>
                <a:latin typeface="Calibri"/>
              </a:rPr>
              <a:t>● All data resident in africa-south1</a:t>
            </a:r>
          </a:p>
          <a:p>
            <a:pPr algn="l">
              <a:spcAft>
                <a:spcPts val="200"/>
              </a:spcAft>
            </a:pPr>
            <a:r>
              <a:rPr sz="1200" b="0">
                <a:solidFill>
                  <a:srgbClr val="D8CFC4"/>
                </a:solidFill>
                <a:latin typeface="Calibri"/>
              </a:rPr>
              <a:t>● HMAC-signed WhatsApp webhook (rejects forged calls)</a:t>
            </a:r>
          </a:p>
        </p:txBody>
      </p:sp>
    </p:spTree>
  </p:cSld>
  <p:clrMapOvr>
    <a:masterClrMapping/>
  </p:clrMapOvr>
</p:sld>
</file>

<file path=ppt\tableStyles.xml><?xml version="1.0" encoding="utf-8"?>
<a:tblStyleLst xmlns:a="http://schemas.openxmlformats.org/drawingml/2006/main" def="{5C22544A-7EE6-4342-B048-85BDC9FD1C3A}"/>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